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svg" ContentType="image/svg+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tags/tag1.xml" ContentType="application/vnd.openxmlformats-officedocument.presentationml.tags+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notesMasterIdLst>
    <p:notesMasterId r:id="rId18"/>
  </p:notesMasterIdLst>
  <p:sldIdLst>
    <p:sldId id="256" r:id="rId2"/>
    <p:sldId id="282" r:id="rId3"/>
    <p:sldId id="279" r:id="rId4"/>
    <p:sldId id="287" r:id="rId5"/>
    <p:sldId id="293" r:id="rId6"/>
    <p:sldId id="283" r:id="rId7"/>
    <p:sldId id="291" r:id="rId8"/>
    <p:sldId id="292" r:id="rId9"/>
    <p:sldId id="290" r:id="rId10"/>
    <p:sldId id="288" r:id="rId11"/>
    <p:sldId id="280" r:id="rId12"/>
    <p:sldId id="284" r:id="rId13"/>
    <p:sldId id="285" r:id="rId14"/>
    <p:sldId id="277" r:id="rId15"/>
    <p:sldId id="278" r:id="rId16"/>
    <p:sldId id="257" r:id="rId17"/>
  </p:sldIdLst>
  <p:sldSz cx="18288000" cy="10287000"/>
  <p:notesSz cx="6858000" cy="9144000"/>
  <p:embeddedFontLst>
    <p:embeddedFont>
      <p:font typeface="Cambria Math" panose="02040503050406030204" pitchFamily="18" charset="0"/>
      <p:regular r:id="rId19"/>
    </p:embeddedFont>
    <p:embeddedFont>
      <p:font typeface="Comic Sans MS" panose="030F0702030302020204" pitchFamily="66" charset="0"/>
      <p:regular r:id="rId20"/>
      <p:bold r:id="rId21"/>
      <p:italic r:id="rId22"/>
      <p:boldItalic r:id="rId23"/>
    </p:embeddedFont>
    <p:embeddedFont>
      <p:font typeface="Inter"/>
      <p:regular r:id="rId24"/>
      <p:bold r:id="rId25"/>
      <p:italic r:id="rId26"/>
      <p:boldItalic r:id="rId27"/>
    </p:embeddedFont>
    <p:embeddedFont>
      <p:font typeface="Lato" panose="020F0502020204030203" pitchFamily="34" charset="0"/>
      <p:regular r:id="rId28"/>
      <p:bold r:id="rId29"/>
      <p:italic r:id="rId30"/>
      <p:boldItalic r:id="rId31"/>
    </p:embeddedFont>
    <p:embeddedFont>
      <p:font typeface="Segoe UI" panose="020B0502040204020203" pitchFamily="34" charset="0"/>
      <p:regular r:id="rId32"/>
      <p:bold r:id="rId33"/>
      <p:italic r:id="rId34"/>
      <p:boldItalic r:id="rId35"/>
    </p:embeddedFont>
    <p:embeddedFont>
      <p:font typeface="Segoe UI Semibold" panose="020B0702040204020203" pitchFamily="34" charset="0"/>
      <p:bold r:id="rId36"/>
      <p:boldItalic r:id="rId37"/>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64A87B"/>
    <a:srgbClr val="A7C6ED"/>
    <a:srgbClr val="1E3A8A"/>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D7AC3CCA-C797-4891-BE02-D94E43425B78}" styleName="Medium Style 4">
    <a:wholeTbl>
      <a:tcTxStyle>
        <a:fontRef idx="minor">
          <a:scrgbClr r="0" g="0" b="0"/>
        </a:fontRef>
        <a:schemeClr val="dk1"/>
      </a:tcTxStyle>
      <a:tcStyle>
        <a:tcBdr>
          <a:left>
            <a:ln w="12700" cmpd="sng">
              <a:solidFill>
                <a:schemeClr val="dk1"/>
              </a:solidFill>
            </a:ln>
          </a:left>
          <a:right>
            <a:ln w="12700" cmpd="sng">
              <a:solidFill>
                <a:schemeClr val="dk1"/>
              </a:solidFill>
            </a:ln>
          </a:right>
          <a:top>
            <a:ln w="12700" cmpd="sng">
              <a:solidFill>
                <a:schemeClr val="dk1"/>
              </a:solidFill>
            </a:ln>
          </a:top>
          <a:bottom>
            <a:ln w="12700" cmpd="sng">
              <a:solidFill>
                <a:schemeClr val="dk1"/>
              </a:solidFill>
            </a:ln>
          </a:bottom>
          <a:insideH>
            <a:ln w="12700" cmpd="sng">
              <a:solidFill>
                <a:schemeClr val="dk1"/>
              </a:solidFill>
            </a:ln>
          </a:insideH>
          <a:insideV>
            <a:ln w="12700" cmpd="sng">
              <a:solidFill>
                <a:schemeClr val="dk1"/>
              </a:solidFill>
            </a:ln>
          </a:insideV>
        </a:tcBdr>
        <a:fill>
          <a:solidFill>
            <a:schemeClr val="dk1">
              <a:tint val="20000"/>
            </a:schemeClr>
          </a:solidFill>
        </a:fill>
      </a:tcStyle>
    </a:wholeTbl>
    <a:band1H>
      <a:tcStyle>
        <a:tcBdr/>
        <a:fill>
          <a:solidFill>
            <a:schemeClr val="dk1">
              <a:tint val="40000"/>
            </a:schemeClr>
          </a:solidFill>
        </a:fill>
      </a:tcStyle>
    </a:band1H>
    <a:band1V>
      <a:tcStyle>
        <a:tcBdr/>
        <a:fill>
          <a:solidFill>
            <a:schemeClr val="dk1">
              <a:tint val="40000"/>
            </a:schemeClr>
          </a:solidFill>
        </a:fill>
      </a:tcStyle>
    </a:band1V>
    <a:lastCol>
      <a:tcTxStyle b="on"/>
      <a:tcStyle>
        <a:tcBdr/>
      </a:tcStyle>
    </a:lastCol>
    <a:firstCol>
      <a:tcTxStyle b="on"/>
      <a:tcStyle>
        <a:tcBdr/>
      </a:tcStyle>
    </a:firstCol>
    <a:lastRow>
      <a:tcTxStyle b="on"/>
      <a:tcStyle>
        <a:tcBdr>
          <a:top>
            <a:ln w="25400" cmpd="sng">
              <a:solidFill>
                <a:schemeClr val="dk1"/>
              </a:solidFill>
            </a:ln>
          </a:top>
        </a:tcBdr>
        <a:fill>
          <a:solidFill>
            <a:schemeClr val="dk1">
              <a:tint val="20000"/>
            </a:schemeClr>
          </a:solidFill>
        </a:fill>
      </a:tcStyle>
    </a:lastRow>
    <a:firstRow>
      <a:tcTxStyle b="on"/>
      <a:tcStyle>
        <a:tcBdr/>
        <a:fill>
          <a:solidFill>
            <a:schemeClr val="dk1">
              <a:tint val="20000"/>
            </a:schemeClr>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025" autoAdjust="0"/>
    <p:restoredTop sz="89104" autoAdjust="0"/>
  </p:normalViewPr>
  <p:slideViewPr>
    <p:cSldViewPr>
      <p:cViewPr>
        <p:scale>
          <a:sx n="69" d="100"/>
          <a:sy n="69" d="100"/>
        </p:scale>
        <p:origin x="870" y="324"/>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notesMaster" Target="notesMasters/notesMaster1.xml"/><Relationship Id="rId26" Type="http://schemas.openxmlformats.org/officeDocument/2006/relationships/font" Target="fonts/font8.fntdata"/><Relationship Id="rId39" Type="http://schemas.openxmlformats.org/officeDocument/2006/relationships/viewProps" Target="viewProps.xml"/><Relationship Id="rId21" Type="http://schemas.openxmlformats.org/officeDocument/2006/relationships/font" Target="fonts/font3.fntdata"/><Relationship Id="rId34" Type="http://schemas.openxmlformats.org/officeDocument/2006/relationships/font" Target="fonts/font16.fntdata"/><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font" Target="fonts/font2.fntdata"/><Relationship Id="rId29" Type="http://schemas.openxmlformats.org/officeDocument/2006/relationships/font" Target="fonts/font11.fntdata"/><Relationship Id="rId41"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font" Target="fonts/font6.fntdata"/><Relationship Id="rId32" Type="http://schemas.openxmlformats.org/officeDocument/2006/relationships/font" Target="fonts/font14.fntdata"/><Relationship Id="rId37" Type="http://schemas.openxmlformats.org/officeDocument/2006/relationships/font" Target="fonts/font19.fntdata"/><Relationship Id="rId40"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font" Target="fonts/font5.fntdata"/><Relationship Id="rId28" Type="http://schemas.openxmlformats.org/officeDocument/2006/relationships/font" Target="fonts/font10.fntdata"/><Relationship Id="rId36" Type="http://schemas.openxmlformats.org/officeDocument/2006/relationships/font" Target="fonts/font18.fntdata"/><Relationship Id="rId10" Type="http://schemas.openxmlformats.org/officeDocument/2006/relationships/slide" Target="slides/slide9.xml"/><Relationship Id="rId19" Type="http://schemas.openxmlformats.org/officeDocument/2006/relationships/font" Target="fonts/font1.fntdata"/><Relationship Id="rId31" Type="http://schemas.openxmlformats.org/officeDocument/2006/relationships/font" Target="fonts/font13.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font" Target="fonts/font4.fntdata"/><Relationship Id="rId27" Type="http://schemas.openxmlformats.org/officeDocument/2006/relationships/font" Target="fonts/font9.fntdata"/><Relationship Id="rId30" Type="http://schemas.openxmlformats.org/officeDocument/2006/relationships/font" Target="fonts/font12.fntdata"/><Relationship Id="rId35" Type="http://schemas.openxmlformats.org/officeDocument/2006/relationships/font" Target="fonts/font17.fntdata"/><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font" Target="fonts/font7.fntdata"/><Relationship Id="rId33" Type="http://schemas.openxmlformats.org/officeDocument/2006/relationships/font" Target="fonts/font15.fntdata"/><Relationship Id="rId38" Type="http://schemas.openxmlformats.org/officeDocument/2006/relationships/presProps" Target="presProps.xml"/></Relationships>
</file>

<file path=ppt/diagrams/colors1.xml><?xml version="1.0" encoding="utf-8"?>
<dgm:colorsDef xmlns:dgm="http://schemas.openxmlformats.org/drawingml/2006/diagram" xmlns:a="http://schemas.openxmlformats.org/drawingml/2006/main" uniqueId="urn:microsoft.com/office/officeart/2005/8/colors/accent1_5">
  <dgm:title val=""/>
  <dgm:desc val=""/>
  <dgm:catLst>
    <dgm:cat type="accent1" pri="11500"/>
  </dgm:catLst>
  <dgm:styleLbl name="node0">
    <dgm:fillClrLst meth="cycle">
      <a:schemeClr val="accent1">
        <a:alpha val="80000"/>
      </a:schemeClr>
    </dgm:fillClrLst>
    <dgm:linClrLst meth="repeat">
      <a:schemeClr val="lt1"/>
    </dgm:linClrLst>
    <dgm:effectClrLst/>
    <dgm:txLinClrLst/>
    <dgm:txFillClrLst/>
    <dgm:txEffectClrLst/>
  </dgm:styleLbl>
  <dgm:styleLbl name="node1">
    <dgm:fillClrLst>
      <a:schemeClr val="accent1">
        <a:alpha val="90000"/>
      </a:schemeClr>
      <a:schemeClr val="accent1">
        <a:alpha val="50000"/>
      </a:schemeClr>
    </dgm:fillClrLst>
    <dgm:linClrLst meth="repeat">
      <a:schemeClr val="lt1"/>
    </dgm:linClrLst>
    <dgm:effectClrLst/>
    <dgm:txLinClrLst/>
    <dgm:txFillClrLst/>
    <dgm:txEffectClrLst/>
  </dgm:styleLbl>
  <dgm:styleLbl name="alignNode1">
    <dgm:fillClrLst>
      <a:schemeClr val="accent1">
        <a:alpha val="90000"/>
      </a:schemeClr>
      <a:schemeClr val="accent1">
        <a:alpha val="50000"/>
      </a:schemeClr>
    </dgm:fillClrLst>
    <dgm:linClrLst>
      <a:schemeClr val="accent1">
        <a:alpha val="90000"/>
      </a:schemeClr>
      <a:schemeClr val="accent1">
        <a:alpha val="50000"/>
      </a:schemeClr>
    </dgm:linClrLst>
    <dgm:effectClrLst/>
    <dgm:txLinClrLst/>
    <dgm:txFillClrLst/>
    <dgm:txEffectClrLst/>
  </dgm:styleLbl>
  <dgm:styleLbl name="lnNode1">
    <dgm:fillClrLst>
      <a:schemeClr val="accent1">
        <a:shade val="90000"/>
      </a:schemeClr>
      <a:schemeClr val="accent1">
        <a:alpha val="50000"/>
        <a:tint val="50000"/>
      </a:schemeClr>
    </dgm:fillClrLst>
    <dgm:linClrLst meth="repeat">
      <a:schemeClr val="lt1"/>
    </dgm:linClrLst>
    <dgm:effectClrLst/>
    <dgm:txLinClrLst/>
    <dgm:txFillClrLst/>
    <dgm:txEffectClrLst/>
  </dgm:styleLbl>
  <dgm:styleLbl name="vennNode1">
    <dgm:fillClrLst>
      <a:schemeClr val="accent1">
        <a:shade val="80000"/>
        <a:alpha val="50000"/>
      </a:schemeClr>
      <a:schemeClr val="accent1">
        <a:alpha val="80000"/>
      </a:schemeClr>
    </dgm:fillClrLst>
    <dgm:linClrLst meth="repeat">
      <a:schemeClr val="lt1"/>
    </dgm:linClrLst>
    <dgm:effectClrLst/>
    <dgm:txLinClrLst/>
    <dgm:txFillClrLst/>
    <dgm:txEffectClrLst/>
  </dgm:styleLbl>
  <dgm:styleLbl name="node2">
    <dgm:fillClrLst>
      <a:schemeClr val="accent1">
        <a:alpha val="70000"/>
      </a:schemeClr>
    </dgm:fillClrLst>
    <dgm:linClrLst meth="repeat">
      <a:schemeClr val="lt1"/>
    </dgm:linClrLst>
    <dgm:effectClrLst/>
    <dgm:txLinClrLst/>
    <dgm:txFillClrLst/>
    <dgm:txEffectClrLst/>
  </dgm:styleLbl>
  <dgm:styleLbl name="node3">
    <dgm:fillClrLst>
      <a:schemeClr val="accent1">
        <a:alpha val="50000"/>
      </a:schemeClr>
    </dgm:fillClrLst>
    <dgm:linClrLst meth="repeat">
      <a:schemeClr val="lt1"/>
    </dgm:linClrLst>
    <dgm:effectClrLst/>
    <dgm:txLinClrLst/>
    <dgm:txFillClrLst/>
    <dgm:txEffectClrLst/>
  </dgm:styleLbl>
  <dgm:styleLbl name="node4">
    <dgm:fillClrLst>
      <a:schemeClr val="accent1">
        <a:alpha val="30000"/>
      </a:schemeClr>
    </dgm:fillClrLst>
    <dgm:linClrLst meth="repeat">
      <a:schemeClr val="lt1"/>
    </dgm:linClrLst>
    <dgm:effectClrLst/>
    <dgm:txLinClrLst/>
    <dgm:txFillClrLst/>
    <dgm:txEffectClrLst/>
  </dgm:styleLbl>
  <dgm:styleLbl name="fgImgPlace1">
    <dgm:fillClrLst>
      <a:schemeClr val="accent1">
        <a:tint val="50000"/>
        <a:alpha val="90000"/>
      </a:schemeClr>
      <a:schemeClr val="accent1">
        <a:tint val="20000"/>
        <a:alpha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1">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1">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1">
        <a:shade val="90000"/>
      </a:schemeClr>
      <a:schemeClr val="accent1">
        <a:tint val="50000"/>
      </a:schemeClr>
    </dgm:fillClrLst>
    <dgm:linClrLst>
      <a:schemeClr val="accent1">
        <a:shade val="90000"/>
      </a:schemeClr>
      <a:schemeClr val="accent1">
        <a:tint val="50000"/>
      </a:schemeClr>
    </dgm:linClrLst>
    <dgm:effectClrLst/>
    <dgm:txLinClrLst/>
    <dgm:txFillClrLst/>
    <dgm:txEffectClrLst/>
  </dgm:styleLbl>
  <dgm:styleLbl name="fgSibTrans2D1">
    <dgm:fillClrLst>
      <a:schemeClr val="accent1">
        <a:shade val="90000"/>
      </a:schemeClr>
      <a:schemeClr val="accent1">
        <a:tint val="50000"/>
      </a:schemeClr>
    </dgm:fillClrLst>
    <dgm:linClrLst>
      <a:schemeClr val="accent1">
        <a:shade val="90000"/>
      </a:schemeClr>
      <a:schemeClr val="accent1">
        <a:tint val="50000"/>
      </a:schemeClr>
    </dgm:linClrLst>
    <dgm:effectClrLst/>
    <dgm:txLinClrLst/>
    <dgm:txFillClrLst/>
    <dgm:txEffectClrLst/>
  </dgm:styleLbl>
  <dgm:styleLbl name="bgSibTrans2D1">
    <dgm:fillClrLst>
      <a:schemeClr val="accent1">
        <a:shade val="90000"/>
      </a:schemeClr>
      <a:schemeClr val="accent1">
        <a:tint val="50000"/>
      </a:schemeClr>
    </dgm:fillClrLst>
    <dgm:linClrLst>
      <a:schemeClr val="accent1">
        <a:shade val="90000"/>
      </a:schemeClr>
      <a:schemeClr val="accent1">
        <a:tint val="50000"/>
      </a:schemeClr>
    </dgm:linClrLst>
    <dgm:effectClrLst/>
    <dgm:txLinClrLst/>
    <dgm:txFillClrLst/>
    <dgm:txEffectClrLst/>
  </dgm:styleLbl>
  <dgm:styleLbl name="sibTrans1D1">
    <dgm:fillClrLst>
      <a:schemeClr val="accent1">
        <a:shade val="90000"/>
      </a:schemeClr>
      <a:schemeClr val="accent1">
        <a:tint val="50000"/>
      </a:schemeClr>
    </dgm:fillClrLst>
    <dgm:linClrLst>
      <a:schemeClr val="accent1">
        <a:shade val="90000"/>
      </a:schemeClr>
      <a:schemeClr val="accent1">
        <a:tint val="50000"/>
      </a:schemeClr>
    </dgm:linClrLst>
    <dgm:effectClrLst/>
    <dgm:txLinClrLst/>
    <dgm:txFillClrLst meth="repeat">
      <a:schemeClr val="tx1"/>
    </dgm:txFillClrLst>
    <dgm:txEffectClrLst/>
  </dgm:styleLbl>
  <dgm:styleLbl name="callout">
    <dgm:fillClrLst meth="repeat">
      <a:schemeClr val="accent1"/>
    </dgm:fillClrLst>
    <dgm:linClrLst meth="repeat">
      <a:schemeClr val="accent1"/>
    </dgm:linClrLst>
    <dgm:effectClrLst/>
    <dgm:txLinClrLst/>
    <dgm:txFillClrLst meth="repeat">
      <a:schemeClr val="tx1"/>
    </dgm:txFillClrLst>
    <dgm:txEffectClrLst/>
  </dgm:styleLbl>
  <dgm:styleLbl name="asst0">
    <dgm:fillClrLst meth="repeat">
      <a:schemeClr val="accent1">
        <a:alpha val="90000"/>
      </a:schemeClr>
    </dgm:fillClrLst>
    <dgm:linClrLst meth="repeat">
      <a:schemeClr val="lt1"/>
    </dgm:linClrLst>
    <dgm:effectClrLst/>
    <dgm:txLinClrLst/>
    <dgm:txFillClrLst/>
    <dgm:txEffectClrLst/>
  </dgm:styleLbl>
  <dgm:styleLbl name="asst1">
    <dgm:fillClrLst meth="repeat">
      <a:schemeClr val="accent1">
        <a:alpha val="90000"/>
      </a:schemeClr>
    </dgm:fillClrLst>
    <dgm:linClrLst meth="repeat">
      <a:schemeClr val="lt1"/>
    </dgm:linClrLst>
    <dgm:effectClrLst/>
    <dgm:txLinClrLst/>
    <dgm:txFillClrLst/>
    <dgm:txEffectClrLst/>
  </dgm:styleLbl>
  <dgm:styleLbl name="asst2">
    <dgm:fillClrLst>
      <a:schemeClr val="accent1">
        <a:alpha val="90000"/>
      </a:schemeClr>
    </dgm:fillClrLst>
    <dgm:linClrLst meth="repeat">
      <a:schemeClr val="lt1"/>
    </dgm:linClrLst>
    <dgm:effectClrLst/>
    <dgm:txLinClrLst/>
    <dgm:txFillClrLst/>
    <dgm:txEffectClrLst/>
  </dgm:styleLbl>
  <dgm:styleLbl name="asst3">
    <dgm:fillClrLst>
      <a:schemeClr val="accent1">
        <a:alpha val="70000"/>
      </a:schemeClr>
    </dgm:fillClrLst>
    <dgm:linClrLst meth="repeat">
      <a:schemeClr val="lt1"/>
    </dgm:linClrLst>
    <dgm:effectClrLst/>
    <dgm:txLinClrLst/>
    <dgm:txFillClrLst/>
    <dgm:txEffectClrLst/>
  </dgm:styleLbl>
  <dgm:styleLbl name="asst4">
    <dgm:fillClrLst>
      <a:schemeClr val="accent1">
        <a:alpha val="50000"/>
      </a:schemeClr>
    </dgm:fillClrLst>
    <dgm:linClrLst meth="repeat">
      <a:schemeClr val="lt1"/>
    </dgm:linClrLst>
    <dgm:effectClrLst/>
    <dgm:txLinClrLst/>
    <dgm:txFillClrLst/>
    <dgm:txEffectClrLst/>
  </dgm:styleLbl>
  <dgm:styleLbl name="parChTrans2D1">
    <dgm:fillClrLst meth="repeat">
      <a:schemeClr val="accent1">
        <a:shade val="80000"/>
      </a:schemeClr>
    </dgm:fillClrLst>
    <dgm:linClrLst meth="repeat">
      <a:schemeClr val="accent1">
        <a:shade val="80000"/>
      </a:schemeClr>
    </dgm:linClrLst>
    <dgm:effectClrLst/>
    <dgm:txLinClrLst/>
    <dgm:txFillClrLst/>
    <dgm:txEffectClrLst/>
  </dgm:styleLbl>
  <dgm:styleLbl name="parChTrans2D2">
    <dgm:fillClrLst meth="repeat">
      <a:schemeClr val="accent1">
        <a:tint val="90000"/>
      </a:schemeClr>
    </dgm:fillClrLst>
    <dgm:linClrLst meth="repeat">
      <a:schemeClr val="accent1">
        <a:tint val="90000"/>
      </a:schemeClr>
    </dgm:linClrLst>
    <dgm:effectClrLst/>
    <dgm:txLinClrLst/>
    <dgm:txFillClrLst/>
    <dgm:txEffectClrLst/>
  </dgm:styleLbl>
  <dgm:styleLbl name="parChTrans2D3">
    <dgm:fillClrLst meth="repeat">
      <a:schemeClr val="accent1">
        <a:tint val="70000"/>
      </a:schemeClr>
    </dgm:fillClrLst>
    <dgm:linClrLst meth="repeat">
      <a:schemeClr val="accent1">
        <a:tint val="70000"/>
      </a:schemeClr>
    </dgm:linClrLst>
    <dgm:effectClrLst/>
    <dgm:txLinClrLst/>
    <dgm:txFillClrLst/>
    <dgm:txEffectClrLst/>
  </dgm:styleLbl>
  <dgm:styleLbl name="parChTrans2D4">
    <dgm:fillClrLst meth="repeat">
      <a:schemeClr val="accent1">
        <a:tint val="50000"/>
      </a:schemeClr>
    </dgm:fillClrLst>
    <dgm:linClrLst meth="repeat">
      <a:schemeClr val="accent1">
        <a:tint val="50000"/>
      </a:schemeClr>
    </dgm:linClrLst>
    <dgm:effectClrLst/>
    <dgm:txLinClrLst/>
    <dgm:txFillClrLst meth="repeat">
      <a:schemeClr val="dk1"/>
    </dgm:txFillClrLst>
    <dgm:txEffectClrLst/>
  </dgm:styleLbl>
  <dgm:styleLbl name="parChTrans1D1">
    <dgm:fillClrLst meth="repeat">
      <a:schemeClr val="accent1">
        <a:shade val="80000"/>
      </a:schemeClr>
    </dgm:fillClrLst>
    <dgm:linClrLst meth="repeat">
      <a:schemeClr val="accent1">
        <a:shade val="80000"/>
      </a:schemeClr>
    </dgm:linClrLst>
    <dgm:effectClrLst/>
    <dgm:txLinClrLst/>
    <dgm:txFillClrLst meth="repeat">
      <a:schemeClr val="tx1"/>
    </dgm:txFillClrLst>
    <dgm:txEffectClrLst/>
  </dgm:styleLbl>
  <dgm:styleLbl name="parChTrans1D2">
    <dgm:fillClrLst meth="repeat">
      <a:schemeClr val="accent1">
        <a:tint val="90000"/>
      </a:schemeClr>
    </dgm:fillClrLst>
    <dgm:linClrLst meth="repeat">
      <a:schemeClr val="accent1">
        <a:tint val="90000"/>
      </a:schemeClr>
    </dgm:linClrLst>
    <dgm:effectClrLst/>
    <dgm:txLinClrLst/>
    <dgm:txFillClrLst meth="repeat">
      <a:schemeClr val="tx1"/>
    </dgm:txFillClrLst>
    <dgm:txEffectClrLst/>
  </dgm:styleLbl>
  <dgm:styleLbl name="parChTrans1D3">
    <dgm:fillClrLst meth="repeat">
      <a:schemeClr val="accent1">
        <a:tint val="70000"/>
      </a:schemeClr>
    </dgm:fillClrLst>
    <dgm:linClrLst meth="repeat">
      <a:schemeClr val="accent1">
        <a:tint val="70000"/>
      </a:schemeClr>
    </dgm:linClrLst>
    <dgm:effectClrLst/>
    <dgm:txLinClrLst/>
    <dgm:txFillClrLst meth="repeat">
      <a:schemeClr val="tx1"/>
    </dgm:txFillClrLst>
    <dgm:txEffectClrLst/>
  </dgm:styleLbl>
  <dgm:styleLbl name="parChTrans1D4">
    <dgm:fillClrLst meth="repeat">
      <a:schemeClr val="accent1">
        <a:tint val="50000"/>
      </a:schemeClr>
    </dgm:fillClrLst>
    <dgm:linClrLst meth="repeat">
      <a:schemeClr val="accent1">
        <a:tint val="50000"/>
      </a:schemeClr>
    </dgm:linClrLst>
    <dgm:effectClrLst/>
    <dgm:txLinClrLst/>
    <dgm:txFillClrLst meth="repeat">
      <a:schemeClr val="tx1"/>
    </dgm:txFillClrLst>
    <dgm:txEffectClrLst/>
  </dgm:styleLbl>
  <dgm:styleLbl name="fgAcc1">
    <dgm:fillClrLst meth="repeat">
      <a:schemeClr val="lt1">
        <a:alpha val="90000"/>
      </a:schemeClr>
    </dgm:fillClrLst>
    <dgm:linClrLst>
      <a:schemeClr val="accent1">
        <a:alpha val="90000"/>
      </a:schemeClr>
      <a:schemeClr val="accent1">
        <a:alpha val="50000"/>
      </a:schemeClr>
    </dgm:linClrLst>
    <dgm:effectClrLst/>
    <dgm:txLinClrLst/>
    <dgm:txFillClrLst meth="repeat">
      <a:schemeClr val="dk1"/>
    </dgm:txFillClrLst>
    <dgm:txEffectClrLst/>
  </dgm:styleLbl>
  <dgm:styleLbl name="conFgAcc1">
    <dgm:fillClrLst meth="repeat">
      <a:schemeClr val="lt1">
        <a:alpha val="90000"/>
      </a:schemeClr>
    </dgm:fillClrLst>
    <dgm:linClrLst>
      <a:schemeClr val="accent1">
        <a:alpha val="90000"/>
      </a:schemeClr>
      <a:schemeClr val="accent1">
        <a:alpha val="50000"/>
      </a:schemeClr>
    </dgm:linClrLst>
    <dgm:effectClrLst/>
    <dgm:txLinClrLst/>
    <dgm:txFillClrLst meth="repeat">
      <a:schemeClr val="dk1"/>
    </dgm:txFillClrLst>
    <dgm:txEffectClrLst/>
  </dgm:styleLbl>
  <dgm:styleLbl name="alignAcc1">
    <dgm:fillClrLst meth="repeat">
      <a:schemeClr val="lt1">
        <a:alpha val="90000"/>
      </a:schemeClr>
    </dgm:fillClrLst>
    <dgm:linClrLst>
      <a:schemeClr val="accent1">
        <a:alpha val="90000"/>
      </a:schemeClr>
      <a:schemeClr val="accent1">
        <a:alpha val="50000"/>
      </a:schemeClr>
    </dgm:linClrLst>
    <dgm:effectClrLst/>
    <dgm:txLinClrLst/>
    <dgm:txFillClrLst meth="repeat">
      <a:schemeClr val="dk1"/>
    </dgm:txFillClrLst>
    <dgm:txEffectClrLst/>
  </dgm:styleLbl>
  <dgm:styleLbl name="trAlignAcc1">
    <dgm:fillClrLst meth="repeat">
      <a:schemeClr val="lt1">
        <a:alpha val="40000"/>
      </a:schemeClr>
    </dgm:fillClrLst>
    <dgm:linClrLst>
      <a:schemeClr val="accent1">
        <a:alpha val="90000"/>
      </a:schemeClr>
      <a:schemeClr val="accent1">
        <a:alpha val="50000"/>
      </a:schemeClr>
    </dgm:linClrLst>
    <dgm:effectClrLst/>
    <dgm:txLinClrLst/>
    <dgm:txFillClrLst meth="repeat">
      <a:schemeClr val="dk1"/>
    </dgm:txFillClrLst>
    <dgm:txEffectClrLst/>
  </dgm:styleLbl>
  <dgm:styleLbl name="bgAcc1">
    <dgm:fillClrLst meth="repeat">
      <a:schemeClr val="lt1">
        <a:alpha val="90000"/>
      </a:schemeClr>
    </dgm:fillClrLst>
    <dgm:linClrLst>
      <a:schemeClr val="accent1">
        <a:alpha val="90000"/>
      </a:schemeClr>
      <a:schemeClr val="accent1">
        <a:alpha val="50000"/>
      </a:schemeClr>
    </dgm:linClrLst>
    <dgm:effectClrLst/>
    <dgm:txLinClrLst/>
    <dgm:txFillClrLst meth="repeat">
      <a:schemeClr val="dk1"/>
    </dgm:txFillClrLst>
    <dgm:txEffectClrLst/>
  </dgm:styleLbl>
  <dgm:styleLbl name="solidFgAcc1">
    <dgm:fillClrLst meth="repeat">
      <a:schemeClr val="lt1"/>
    </dgm:fillClrLst>
    <dgm:linClrLst>
      <a:schemeClr val="accent1">
        <a:alpha val="90000"/>
      </a:schemeClr>
      <a:schemeClr val="accent1">
        <a:alpha val="50000"/>
      </a:schemeClr>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a:schemeClr val="accent1">
        <a:alpha val="90000"/>
        <a:tint val="40000"/>
      </a:schemeClr>
      <a:schemeClr val="accent1">
        <a:alpha val="5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lt1"/>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a:shade val="80000"/>
      </a:schemeClr>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a:tint val="90000"/>
      </a:schemeClr>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a:tint val="70000"/>
      </a:schemeClr>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a:tint val="50000"/>
      </a:schemeClr>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1">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EF7FAE73-B966-42CE-949E-30BE468E50A4}" type="doc">
      <dgm:prSet loTypeId="urn:microsoft.com/office/officeart/2005/8/layout/chevron1" loCatId="process" qsTypeId="urn:microsoft.com/office/officeart/2005/8/quickstyle/simple1" qsCatId="simple" csTypeId="urn:microsoft.com/office/officeart/2005/8/colors/accent1_5" csCatId="accent1" phldr="1"/>
      <dgm:spPr/>
    </dgm:pt>
    <dgm:pt modelId="{A0E5FC45-6A41-4B7A-A04E-27F346B4CC60}">
      <dgm:prSet phldrT="[Text]" custT="1"/>
      <dgm:spPr/>
      <dgm:t>
        <a:bodyPr/>
        <a:lstStyle/>
        <a:p>
          <a:pPr>
            <a:buFont typeface="Wingdings" panose="05000000000000000000" pitchFamily="2" charset="2"/>
            <a:buChar char="Ø"/>
          </a:pPr>
          <a:r>
            <a:rPr lang="en-GB" sz="2800" b="0" dirty="0">
              <a:latin typeface="Segoe UI" panose="020B0502040204020203" pitchFamily="34" charset="0"/>
              <a:cs typeface="Segoe UI" panose="020B0502040204020203" pitchFamily="34" charset="0"/>
            </a:rPr>
            <a:t>Multi-category learning</a:t>
          </a:r>
          <a:endParaRPr lang="en-GB" sz="2800" b="0" dirty="0"/>
        </a:p>
      </dgm:t>
    </dgm:pt>
    <dgm:pt modelId="{2B712F73-FBF7-4246-B474-284D28163482}" type="parTrans" cxnId="{1DD5EB70-2262-488C-9484-8A4BD9D06238}">
      <dgm:prSet/>
      <dgm:spPr/>
      <dgm:t>
        <a:bodyPr/>
        <a:lstStyle/>
        <a:p>
          <a:endParaRPr lang="en-GB"/>
        </a:p>
      </dgm:t>
    </dgm:pt>
    <dgm:pt modelId="{53E433F1-CDA4-4783-8EF4-3D076C486BF9}" type="sibTrans" cxnId="{1DD5EB70-2262-488C-9484-8A4BD9D06238}">
      <dgm:prSet/>
      <dgm:spPr/>
      <dgm:t>
        <a:bodyPr/>
        <a:lstStyle/>
        <a:p>
          <a:endParaRPr lang="en-GB"/>
        </a:p>
      </dgm:t>
    </dgm:pt>
    <dgm:pt modelId="{E3CB35BA-7CB4-4952-9C0A-9481C4BFCA37}">
      <dgm:prSet phldrT="[Text]" custT="1"/>
      <dgm:spPr/>
      <dgm:t>
        <a:bodyPr/>
        <a:lstStyle/>
        <a:p>
          <a:pPr>
            <a:buFont typeface="Wingdings" panose="05000000000000000000" pitchFamily="2" charset="2"/>
            <a:buChar char="Ø"/>
          </a:pPr>
          <a:r>
            <a:rPr lang="en-GB" sz="2800" dirty="0">
              <a:latin typeface="Segoe UI" panose="020B0502040204020203" pitchFamily="34" charset="0"/>
              <a:cs typeface="Segoe UI" panose="020B0502040204020203" pitchFamily="34" charset="0"/>
            </a:rPr>
            <a:t>Few-shot adaptation</a:t>
          </a:r>
          <a:endParaRPr lang="en-GB" sz="2800" dirty="0"/>
        </a:p>
      </dgm:t>
    </dgm:pt>
    <dgm:pt modelId="{4CEC0BAF-9E51-47C1-9D7B-8FC5CF62A29D}" type="parTrans" cxnId="{51964A46-A221-4787-94EC-970BA66411DA}">
      <dgm:prSet/>
      <dgm:spPr/>
      <dgm:t>
        <a:bodyPr/>
        <a:lstStyle/>
        <a:p>
          <a:endParaRPr lang="en-GB"/>
        </a:p>
      </dgm:t>
    </dgm:pt>
    <dgm:pt modelId="{401BD7B1-6568-46BC-94DC-307C9B98BA21}" type="sibTrans" cxnId="{51964A46-A221-4787-94EC-970BA66411DA}">
      <dgm:prSet/>
      <dgm:spPr/>
      <dgm:t>
        <a:bodyPr/>
        <a:lstStyle/>
        <a:p>
          <a:endParaRPr lang="en-GB"/>
        </a:p>
      </dgm:t>
    </dgm:pt>
    <dgm:pt modelId="{FF389E48-90C9-4EC9-9CB2-370916BC57FF}">
      <dgm:prSet phldrT="[Text]" custT="1"/>
      <dgm:spPr/>
      <dgm:t>
        <a:bodyPr/>
        <a:lstStyle/>
        <a:p>
          <a:pPr>
            <a:buFont typeface="Wingdings" panose="05000000000000000000" pitchFamily="2" charset="2"/>
            <a:buChar char="Ø"/>
          </a:pPr>
          <a:r>
            <a:rPr lang="en-GB" sz="2800" dirty="0">
              <a:latin typeface="Segoe UI" panose="020B0502040204020203" pitchFamily="34" charset="0"/>
              <a:cs typeface="Segoe UI" panose="020B0502040204020203" pitchFamily="34" charset="0"/>
            </a:rPr>
            <a:t>Multi-modal fusion</a:t>
          </a:r>
          <a:endParaRPr lang="en-GB" sz="2800" dirty="0"/>
        </a:p>
      </dgm:t>
    </dgm:pt>
    <dgm:pt modelId="{FEA5AFEB-839F-463E-860A-510891D162BA}" type="parTrans" cxnId="{5AB13BCB-76CB-4AE7-9650-C77EC91FC37E}">
      <dgm:prSet/>
      <dgm:spPr/>
      <dgm:t>
        <a:bodyPr/>
        <a:lstStyle/>
        <a:p>
          <a:endParaRPr lang="en-GB"/>
        </a:p>
      </dgm:t>
    </dgm:pt>
    <dgm:pt modelId="{7A9F973F-177E-43E2-AF75-9AA0B3C9EE1B}" type="sibTrans" cxnId="{5AB13BCB-76CB-4AE7-9650-C77EC91FC37E}">
      <dgm:prSet/>
      <dgm:spPr/>
      <dgm:t>
        <a:bodyPr/>
        <a:lstStyle/>
        <a:p>
          <a:endParaRPr lang="en-GB"/>
        </a:p>
      </dgm:t>
    </dgm:pt>
    <dgm:pt modelId="{07E14005-D82B-48C5-8213-C762010EE1D2}" type="pres">
      <dgm:prSet presAssocID="{EF7FAE73-B966-42CE-949E-30BE468E50A4}" presName="Name0" presStyleCnt="0">
        <dgm:presLayoutVars>
          <dgm:dir/>
          <dgm:animLvl val="lvl"/>
          <dgm:resizeHandles val="exact"/>
        </dgm:presLayoutVars>
      </dgm:prSet>
      <dgm:spPr/>
    </dgm:pt>
    <dgm:pt modelId="{BADACE6C-80F8-457F-8933-FFFC04E09EAB}" type="pres">
      <dgm:prSet presAssocID="{A0E5FC45-6A41-4B7A-A04E-27F346B4CC60}" presName="parTxOnly" presStyleLbl="node1" presStyleIdx="0" presStyleCnt="3" custScaleY="81378">
        <dgm:presLayoutVars>
          <dgm:chMax val="0"/>
          <dgm:chPref val="0"/>
          <dgm:bulletEnabled val="1"/>
        </dgm:presLayoutVars>
      </dgm:prSet>
      <dgm:spPr/>
    </dgm:pt>
    <dgm:pt modelId="{2A612DF1-1062-4161-BFA5-13C62C9C2F5C}" type="pres">
      <dgm:prSet presAssocID="{53E433F1-CDA4-4783-8EF4-3D076C486BF9}" presName="parTxOnlySpace" presStyleCnt="0"/>
      <dgm:spPr/>
    </dgm:pt>
    <dgm:pt modelId="{C5A8FC68-35C3-4919-9B27-5DC67797867F}" type="pres">
      <dgm:prSet presAssocID="{E3CB35BA-7CB4-4952-9C0A-9481C4BFCA37}" presName="parTxOnly" presStyleLbl="node1" presStyleIdx="1" presStyleCnt="3" custScaleY="81378">
        <dgm:presLayoutVars>
          <dgm:chMax val="0"/>
          <dgm:chPref val="0"/>
          <dgm:bulletEnabled val="1"/>
        </dgm:presLayoutVars>
      </dgm:prSet>
      <dgm:spPr/>
    </dgm:pt>
    <dgm:pt modelId="{5D704D2C-082D-4E2D-AB13-CF996C610644}" type="pres">
      <dgm:prSet presAssocID="{401BD7B1-6568-46BC-94DC-307C9B98BA21}" presName="parTxOnlySpace" presStyleCnt="0"/>
      <dgm:spPr/>
    </dgm:pt>
    <dgm:pt modelId="{67F94178-91D5-43A2-B565-FF8275AD4C09}" type="pres">
      <dgm:prSet presAssocID="{FF389E48-90C9-4EC9-9CB2-370916BC57FF}" presName="parTxOnly" presStyleLbl="node1" presStyleIdx="2" presStyleCnt="3" custScaleY="81378">
        <dgm:presLayoutVars>
          <dgm:chMax val="0"/>
          <dgm:chPref val="0"/>
          <dgm:bulletEnabled val="1"/>
        </dgm:presLayoutVars>
      </dgm:prSet>
      <dgm:spPr/>
    </dgm:pt>
  </dgm:ptLst>
  <dgm:cxnLst>
    <dgm:cxn modelId="{DE38A31B-90AE-4559-9F26-71B4A0AC3E3B}" type="presOf" srcId="{A0E5FC45-6A41-4B7A-A04E-27F346B4CC60}" destId="{BADACE6C-80F8-457F-8933-FFFC04E09EAB}" srcOrd="0" destOrd="0" presId="urn:microsoft.com/office/officeart/2005/8/layout/chevron1"/>
    <dgm:cxn modelId="{C3BF1A27-D89A-403A-AC15-8A03BE72FB4E}" type="presOf" srcId="{EF7FAE73-B966-42CE-949E-30BE468E50A4}" destId="{07E14005-D82B-48C5-8213-C762010EE1D2}" srcOrd="0" destOrd="0" presId="urn:microsoft.com/office/officeart/2005/8/layout/chevron1"/>
    <dgm:cxn modelId="{51964A46-A221-4787-94EC-970BA66411DA}" srcId="{EF7FAE73-B966-42CE-949E-30BE468E50A4}" destId="{E3CB35BA-7CB4-4952-9C0A-9481C4BFCA37}" srcOrd="1" destOrd="0" parTransId="{4CEC0BAF-9E51-47C1-9D7B-8FC5CF62A29D}" sibTransId="{401BD7B1-6568-46BC-94DC-307C9B98BA21}"/>
    <dgm:cxn modelId="{1DD5EB70-2262-488C-9484-8A4BD9D06238}" srcId="{EF7FAE73-B966-42CE-949E-30BE468E50A4}" destId="{A0E5FC45-6A41-4B7A-A04E-27F346B4CC60}" srcOrd="0" destOrd="0" parTransId="{2B712F73-FBF7-4246-B474-284D28163482}" sibTransId="{53E433F1-CDA4-4783-8EF4-3D076C486BF9}"/>
    <dgm:cxn modelId="{CFAB8F7B-CA4D-4171-8F63-06BEB928AEEC}" type="presOf" srcId="{FF389E48-90C9-4EC9-9CB2-370916BC57FF}" destId="{67F94178-91D5-43A2-B565-FF8275AD4C09}" srcOrd="0" destOrd="0" presId="urn:microsoft.com/office/officeart/2005/8/layout/chevron1"/>
    <dgm:cxn modelId="{A480EDA1-B3AE-4606-82E1-56CC1AE3C300}" type="presOf" srcId="{E3CB35BA-7CB4-4952-9C0A-9481C4BFCA37}" destId="{C5A8FC68-35C3-4919-9B27-5DC67797867F}" srcOrd="0" destOrd="0" presId="urn:microsoft.com/office/officeart/2005/8/layout/chevron1"/>
    <dgm:cxn modelId="{5AB13BCB-76CB-4AE7-9650-C77EC91FC37E}" srcId="{EF7FAE73-B966-42CE-949E-30BE468E50A4}" destId="{FF389E48-90C9-4EC9-9CB2-370916BC57FF}" srcOrd="2" destOrd="0" parTransId="{FEA5AFEB-839F-463E-860A-510891D162BA}" sibTransId="{7A9F973F-177E-43E2-AF75-9AA0B3C9EE1B}"/>
    <dgm:cxn modelId="{F4230819-44D0-4D8B-9293-3C93F53777BC}" type="presParOf" srcId="{07E14005-D82B-48C5-8213-C762010EE1D2}" destId="{BADACE6C-80F8-457F-8933-FFFC04E09EAB}" srcOrd="0" destOrd="0" presId="urn:microsoft.com/office/officeart/2005/8/layout/chevron1"/>
    <dgm:cxn modelId="{839D13CA-8EDB-4E2D-A768-A94CEF806FD5}" type="presParOf" srcId="{07E14005-D82B-48C5-8213-C762010EE1D2}" destId="{2A612DF1-1062-4161-BFA5-13C62C9C2F5C}" srcOrd="1" destOrd="0" presId="urn:microsoft.com/office/officeart/2005/8/layout/chevron1"/>
    <dgm:cxn modelId="{B60ADB40-EB6B-4423-A344-F994BC6B5A47}" type="presParOf" srcId="{07E14005-D82B-48C5-8213-C762010EE1D2}" destId="{C5A8FC68-35C3-4919-9B27-5DC67797867F}" srcOrd="2" destOrd="0" presId="urn:microsoft.com/office/officeart/2005/8/layout/chevron1"/>
    <dgm:cxn modelId="{693DD4B2-742F-441B-AF41-89E24BED4468}" type="presParOf" srcId="{07E14005-D82B-48C5-8213-C762010EE1D2}" destId="{5D704D2C-082D-4E2D-AB13-CF996C610644}" srcOrd="3" destOrd="0" presId="urn:microsoft.com/office/officeart/2005/8/layout/chevron1"/>
    <dgm:cxn modelId="{42CF5DB2-3612-4D0D-935C-942A73C55A43}" type="presParOf" srcId="{07E14005-D82B-48C5-8213-C762010EE1D2}" destId="{67F94178-91D5-43A2-B565-FF8275AD4C09}" srcOrd="4" destOrd="0" presId="urn:microsoft.com/office/officeart/2005/8/layout/chevron1"/>
  </dgm:cxnLst>
  <dgm:bg/>
  <dgm:whole/>
  <dgm:extLst>
    <a:ext uri="http://schemas.microsoft.com/office/drawing/2008/diagram">
      <dsp:dataModelExt xmlns:dsp="http://schemas.microsoft.com/office/drawing/2008/diagram" relId="rId9"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BADACE6C-80F8-457F-8933-FFFC04E09EAB}">
      <dsp:nvSpPr>
        <dsp:cNvPr id="0" name=""/>
        <dsp:cNvSpPr/>
      </dsp:nvSpPr>
      <dsp:spPr>
        <a:xfrm>
          <a:off x="3512" y="1823580"/>
          <a:ext cx="4278919" cy="1392839"/>
        </a:xfrm>
        <a:prstGeom prst="chevron">
          <a:avLst/>
        </a:prstGeom>
        <a:solidFill>
          <a:schemeClr val="accent1">
            <a:alpha val="90000"/>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12014" tIns="37338" rIns="37338" bIns="37338" numCol="1" spcCol="1270" anchor="ctr" anchorCtr="0">
          <a:noAutofit/>
        </a:bodyPr>
        <a:lstStyle/>
        <a:p>
          <a:pPr marL="0" lvl="0" indent="0" algn="ctr" defTabSz="1244600">
            <a:lnSpc>
              <a:spcPct val="90000"/>
            </a:lnSpc>
            <a:spcBef>
              <a:spcPct val="0"/>
            </a:spcBef>
            <a:spcAft>
              <a:spcPct val="35000"/>
            </a:spcAft>
            <a:buFont typeface="Wingdings" panose="05000000000000000000" pitchFamily="2" charset="2"/>
            <a:buNone/>
          </a:pPr>
          <a:r>
            <a:rPr lang="en-GB" sz="2800" b="0" kern="1200" dirty="0">
              <a:latin typeface="Segoe UI" panose="020B0502040204020203" pitchFamily="34" charset="0"/>
              <a:cs typeface="Segoe UI" panose="020B0502040204020203" pitchFamily="34" charset="0"/>
            </a:rPr>
            <a:t>Multi-category learning</a:t>
          </a:r>
          <a:endParaRPr lang="en-GB" sz="2800" b="0" kern="1200" dirty="0"/>
        </a:p>
      </dsp:txBody>
      <dsp:txXfrm>
        <a:off x="699932" y="1823580"/>
        <a:ext cx="2886080" cy="1392839"/>
      </dsp:txXfrm>
    </dsp:sp>
    <dsp:sp modelId="{C5A8FC68-35C3-4919-9B27-5DC67797867F}">
      <dsp:nvSpPr>
        <dsp:cNvPr id="0" name=""/>
        <dsp:cNvSpPr/>
      </dsp:nvSpPr>
      <dsp:spPr>
        <a:xfrm>
          <a:off x="3854540" y="1823580"/>
          <a:ext cx="4278919" cy="1392839"/>
        </a:xfrm>
        <a:prstGeom prst="chevron">
          <a:avLst/>
        </a:prstGeom>
        <a:solidFill>
          <a:schemeClr val="accent1">
            <a:alpha val="90000"/>
            <a:hueOff val="0"/>
            <a:satOff val="0"/>
            <a:lumOff val="0"/>
            <a:alphaOff val="-2000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12014" tIns="37338" rIns="37338" bIns="37338" numCol="1" spcCol="1270" anchor="ctr" anchorCtr="0">
          <a:noAutofit/>
        </a:bodyPr>
        <a:lstStyle/>
        <a:p>
          <a:pPr marL="0" lvl="0" indent="0" algn="ctr" defTabSz="1244600">
            <a:lnSpc>
              <a:spcPct val="90000"/>
            </a:lnSpc>
            <a:spcBef>
              <a:spcPct val="0"/>
            </a:spcBef>
            <a:spcAft>
              <a:spcPct val="35000"/>
            </a:spcAft>
            <a:buFont typeface="Wingdings" panose="05000000000000000000" pitchFamily="2" charset="2"/>
            <a:buNone/>
          </a:pPr>
          <a:r>
            <a:rPr lang="en-GB" sz="2800" kern="1200" dirty="0">
              <a:latin typeface="Segoe UI" panose="020B0502040204020203" pitchFamily="34" charset="0"/>
              <a:cs typeface="Segoe UI" panose="020B0502040204020203" pitchFamily="34" charset="0"/>
            </a:rPr>
            <a:t>Few-shot adaptation</a:t>
          </a:r>
          <a:endParaRPr lang="en-GB" sz="2800" kern="1200" dirty="0"/>
        </a:p>
      </dsp:txBody>
      <dsp:txXfrm>
        <a:off x="4550960" y="1823580"/>
        <a:ext cx="2886080" cy="1392839"/>
      </dsp:txXfrm>
    </dsp:sp>
    <dsp:sp modelId="{67F94178-91D5-43A2-B565-FF8275AD4C09}">
      <dsp:nvSpPr>
        <dsp:cNvPr id="0" name=""/>
        <dsp:cNvSpPr/>
      </dsp:nvSpPr>
      <dsp:spPr>
        <a:xfrm>
          <a:off x="7705567" y="1823580"/>
          <a:ext cx="4278919" cy="1392839"/>
        </a:xfrm>
        <a:prstGeom prst="chevron">
          <a:avLst/>
        </a:prstGeom>
        <a:solidFill>
          <a:schemeClr val="accent1">
            <a:alpha val="90000"/>
            <a:hueOff val="0"/>
            <a:satOff val="0"/>
            <a:lumOff val="0"/>
            <a:alphaOff val="-4000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12014" tIns="37338" rIns="37338" bIns="37338" numCol="1" spcCol="1270" anchor="ctr" anchorCtr="0">
          <a:noAutofit/>
        </a:bodyPr>
        <a:lstStyle/>
        <a:p>
          <a:pPr marL="0" lvl="0" indent="0" algn="ctr" defTabSz="1244600">
            <a:lnSpc>
              <a:spcPct val="90000"/>
            </a:lnSpc>
            <a:spcBef>
              <a:spcPct val="0"/>
            </a:spcBef>
            <a:spcAft>
              <a:spcPct val="35000"/>
            </a:spcAft>
            <a:buFont typeface="Wingdings" panose="05000000000000000000" pitchFamily="2" charset="2"/>
            <a:buNone/>
          </a:pPr>
          <a:r>
            <a:rPr lang="en-GB" sz="2800" kern="1200" dirty="0">
              <a:latin typeface="Segoe UI" panose="020B0502040204020203" pitchFamily="34" charset="0"/>
              <a:cs typeface="Segoe UI" panose="020B0502040204020203" pitchFamily="34" charset="0"/>
            </a:rPr>
            <a:t>Multi-modal fusion</a:t>
          </a:r>
          <a:endParaRPr lang="en-GB" sz="2800" kern="1200" dirty="0"/>
        </a:p>
      </dsp:txBody>
      <dsp:txXfrm>
        <a:off x="8401987" y="1823580"/>
        <a:ext cx="2886080" cy="1392839"/>
      </dsp:txXfrm>
    </dsp:sp>
  </dsp:spTree>
</dsp:drawing>
</file>

<file path=ppt/diagrams/layout1.xml><?xml version="1.0" encoding="utf-8"?>
<dgm:layoutDef xmlns:dgm="http://schemas.openxmlformats.org/drawingml/2006/diagram" xmlns:a="http://schemas.openxmlformats.org/drawingml/2006/main" uniqueId="urn:microsoft.com/office/officeart/2005/8/layout/chevron1">
  <dgm:title val=""/>
  <dgm:desc val=""/>
  <dgm:catLst>
    <dgm:cat type="process" pri="9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animLvl val="lvl"/>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hoose name="Name4">
      <dgm:if name="Name5" axis="des" func="maxDepth" op="gte" val="2">
        <dgm:constrLst>
          <dgm:constr type="h" for="ch" forName="composite" refType="h"/>
          <dgm:constr type="w" for="ch" forName="composite" refType="w"/>
          <dgm:constr type="w" for="des" forName="parTx"/>
          <dgm:constr type="h" for="des" forName="parTx" op="equ"/>
          <dgm:constr type="w" for="des" forName="desTx"/>
          <dgm:constr type="h" for="des" forName="desTx" op="equ"/>
          <dgm:constr type="primFontSz" for="des" forName="parTx" val="65"/>
          <dgm:constr type="secFontSz" for="des" forName="desTx" refType="primFontSz" refFor="des" refForName="parTx" op="equ"/>
          <dgm:constr type="h" for="des" forName="parTx" refType="primFontSz" refFor="des" refForName="parTx" fact="1.5"/>
          <dgm:constr type="h" for="des" forName="desTx" refType="primFontSz" refFor="des" refForName="parTx" fact="0.5"/>
          <dgm:constr type="w" for="ch" forName="space" op="equ" val="-6"/>
        </dgm:constrLst>
        <dgm:ruleLst>
          <dgm:rule type="w" for="ch" forName="composite" val="0" fact="NaN" max="NaN"/>
          <dgm:rule type="primFontSz" for="des" forName="parTx" val="5" fact="NaN" max="NaN"/>
        </dgm:ruleLst>
        <dgm:forEach name="Name6" axis="ch" ptType="node">
          <dgm:layoutNode name="composite">
            <dgm:alg type="composite"/>
            <dgm:shape xmlns:r="http://schemas.openxmlformats.org/officeDocument/2006/relationships" r:blip="">
              <dgm:adjLst/>
            </dgm:shape>
            <dgm:presOf/>
            <dgm:choose name="Name7">
              <dgm:if name="Name8" func="var" arg="dir" op="equ" val="norm">
                <dgm:constrLst>
                  <dgm:constr type="l" for="ch" forName="parTx"/>
                  <dgm:constr type="w" for="ch" forName="parTx" refType="w"/>
                  <dgm:constr type="t" for="ch" forName="parTx"/>
                  <dgm:constr type="l" for="ch" forName="desTx"/>
                  <dgm:constr type="w" for="ch" forName="desTx" refType="w" refFor="ch" refForName="parTx" fact="0.8"/>
                  <dgm:constr type="t" for="ch" forName="desTx" refType="h" refFor="ch" refForName="parTx" fact="1.125"/>
                </dgm:constrLst>
              </dgm:if>
              <dgm:else name="Name9">
                <dgm:constrLst>
                  <dgm:constr type="l" for="ch" forName="parTx"/>
                  <dgm:constr type="w" for="ch" forName="parTx" refType="w"/>
                  <dgm:constr type="t" for="ch" forName="parTx"/>
                  <dgm:constr type="l" for="ch" forName="desTx" refType="w" fact="0.2"/>
                  <dgm:constr type="w" for="ch" forName="desTx" refType="w" refFor="ch" refForName="parTx" fact="0.8"/>
                  <dgm:constr type="t" for="ch" forName="desTx" refType="h" refFor="ch" refForName="parTx" fact="1.125"/>
                </dgm:constrLst>
              </dgm:else>
            </dgm:choose>
            <dgm:ruleLst>
              <dgm:rule type="h" val="INF" fact="NaN" max="NaN"/>
            </dgm:ruleLst>
            <dgm:layoutNode name="parTx">
              <dgm:varLst>
                <dgm:chMax val="0"/>
                <dgm:chPref val="0"/>
                <dgm:bulletEnabled val="1"/>
              </dgm:varLst>
              <dgm:alg type="tx"/>
              <dgm:choose name="Name10">
                <dgm:if name="Name11" func="var" arg="dir" op="equ" val="norm">
                  <dgm:shape xmlns:r="http://schemas.openxmlformats.org/officeDocument/2006/relationships" type="chevron" r:blip="">
                    <dgm:adjLst/>
                  </dgm:shape>
                </dgm:if>
                <dgm:else name="Name12">
                  <dgm:shape xmlns:r="http://schemas.openxmlformats.org/officeDocument/2006/relationships" rot="180" type="chevron" r:blip="">
                    <dgm:adjLst/>
                  </dgm:shape>
                </dgm:else>
              </dgm:choose>
              <dgm:presOf axis="self" ptType="node"/>
              <dgm:choose name="Name13">
                <dgm:if name="Name14" func="var" arg="dir" op="equ" val="norm">
                  <dgm:constrLst>
                    <dgm:constr type="h" refType="w" op="lte" fact="0.4"/>
                    <dgm:constr type="h"/>
                    <dgm:constr type="tMarg" refType="primFontSz" fact="0.105"/>
                    <dgm:constr type="bMarg" refType="primFontSz" fact="0.105"/>
                    <dgm:constr type="lMarg" refType="primFontSz" fact="0.315"/>
                    <dgm:constr type="rMarg" refType="primFontSz" fact="0.105"/>
                  </dgm:constrLst>
                </dgm:if>
                <dgm:else name="Name15">
                  <dgm:constrLst>
                    <dgm:constr type="h" refType="w" op="lte" fact="0.4"/>
                    <dgm:constr type="h"/>
                    <dgm:constr type="tMarg" refType="primFontSz" fact="0.105"/>
                    <dgm:constr type="bMarg" refType="primFontSz" fact="0.105"/>
                    <dgm:constr type="lMarg" refType="primFontSz" fact="0.105"/>
                    <dgm:constr type="rMarg" refType="primFontSz" fact="0.315"/>
                  </dgm:constrLst>
                </dgm:else>
              </dgm:choose>
              <dgm:ruleLst>
                <dgm:rule type="h" val="INF" fact="NaN" max="NaN"/>
              </dgm:ruleLst>
            </dgm:layoutNode>
            <dgm:layoutNode name="desTx" styleLbl="revTx">
              <dgm:varLst>
                <dgm:bulletEnabled val="1"/>
              </dgm:varLst>
              <dgm:alg type="tx">
                <dgm:param type="stBulletLvl" val="1"/>
              </dgm:alg>
              <dgm:choose name="Name16">
                <dgm:if name="Name17" axis="ch" ptType="node" func="cnt" op="gte" val="1">
                  <dgm:shape xmlns:r="http://schemas.openxmlformats.org/officeDocument/2006/relationships" type="rect" r:blip="">
                    <dgm:adjLst/>
                  </dgm:shape>
                </dgm:if>
                <dgm:else name="Name18">
                  <dgm:shape xmlns:r="http://schemas.openxmlformats.org/officeDocument/2006/relationships" type="rect" r:blip="" hideGeom="1">
                    <dgm:adjLst/>
                  </dgm:shape>
                </dgm:else>
              </dgm:choose>
              <dgm:presOf axis="des" ptType="node"/>
              <dgm:constrLst>
                <dgm:constr type="secFontSz" val="65"/>
                <dgm:constr type="primFontSz" refType="secFontSz"/>
                <dgm:constr type="h"/>
                <dgm:constr type="tMarg"/>
                <dgm:constr type="bMarg"/>
                <dgm:constr type="rMarg"/>
                <dgm:constr type="lMarg"/>
              </dgm:constrLst>
              <dgm:ruleLst>
                <dgm:rule type="h" val="INF" fact="NaN" max="NaN"/>
              </dgm:ruleLst>
            </dgm:layoutNode>
          </dgm:layoutNode>
          <dgm:forEach name="Name19" axis="followSib" ptType="sibTrans" cnt="1">
            <dgm:layoutNode name="space">
              <dgm:alg type="sp"/>
              <dgm:shape xmlns:r="http://schemas.openxmlformats.org/officeDocument/2006/relationships" r:blip="">
                <dgm:adjLst/>
              </dgm:shape>
              <dgm:presOf/>
              <dgm:constrLst/>
              <dgm:ruleLst/>
            </dgm:layoutNode>
          </dgm:forEach>
        </dgm:forEach>
      </dgm:if>
      <dgm:else name="Name20">
        <dgm:constrLst>
          <dgm:constr type="w" for="ch" forName="parTxOnly" refType="w"/>
          <dgm:constr type="h" for="des" forName="parTxOnly" op="equ"/>
          <dgm:constr type="primFontSz" for="des" forName="parTxOnly" op="equ" val="65"/>
          <dgm:constr type="w" for="ch" forName="parTxOnlySpace" refType="w" refFor="ch" refForName="parTxOnly" fact="-0.1"/>
        </dgm:constrLst>
        <dgm:ruleLst/>
        <dgm:forEach name="Name21" axis="ch" ptType="node">
          <dgm:layoutNode name="parTxOnly">
            <dgm:varLst>
              <dgm:chMax val="0"/>
              <dgm:chPref val="0"/>
              <dgm:bulletEnabled val="1"/>
            </dgm:varLst>
            <dgm:alg type="tx"/>
            <dgm:choose name="Name22">
              <dgm:if name="Name23" func="var" arg="dir" op="equ" val="norm">
                <dgm:shape xmlns:r="http://schemas.openxmlformats.org/officeDocument/2006/relationships" type="chevron" r:blip="">
                  <dgm:adjLst/>
                </dgm:shape>
              </dgm:if>
              <dgm:else name="Name24">
                <dgm:shape xmlns:r="http://schemas.openxmlformats.org/officeDocument/2006/relationships" rot="180" type="chevron" r:blip="">
                  <dgm:adjLst/>
                </dgm:shape>
              </dgm:else>
            </dgm:choose>
            <dgm:presOf axis="self" ptType="node"/>
            <dgm:choose name="Name25">
              <dgm:if name="Name26" func="var" arg="dir" op="equ" val="norm">
                <dgm:constrLst>
                  <dgm:constr type="h" refType="w" op="equ" fact="0.4"/>
                  <dgm:constr type="tMarg" refType="primFontSz" fact="0.105"/>
                  <dgm:constr type="bMarg" refType="primFontSz" fact="0.105"/>
                  <dgm:constr type="lMarg" refType="primFontSz" fact="0.315"/>
                  <dgm:constr type="rMarg" refType="primFontSz" fact="0.105"/>
                </dgm:constrLst>
              </dgm:if>
              <dgm:else name="Name27">
                <dgm:constrLst>
                  <dgm:constr type="h" refType="w" op="equ" fact="0.4"/>
                  <dgm:constr type="tMarg" refType="primFontSz" fact="0.105"/>
                  <dgm:constr type="bMarg" refType="primFontSz" fact="0.105"/>
                  <dgm:constr type="lMarg" refType="primFontSz" fact="0.105"/>
                  <dgm:constr type="rMarg" refType="primFontSz" fact="0.315"/>
                </dgm:constrLst>
              </dgm:else>
            </dgm:choose>
            <dgm:ruleLst>
              <dgm:rule type="primFontSz" val="5" fact="NaN" max="NaN"/>
            </dgm:ruleLst>
          </dgm:layoutNode>
          <dgm:forEach name="Name28" axis="followSib" ptType="sibTrans" cnt="1">
            <dgm:layoutNode name="parTxOnlySpace">
              <dgm:alg type="sp"/>
              <dgm:shape xmlns:r="http://schemas.openxmlformats.org/officeDocument/2006/relationships" r:blip="">
                <dgm:adjLst/>
              </dgm:shape>
              <dgm:presOf/>
              <dgm:constrLst/>
              <dgm:ruleLst/>
            </dgm:layoutNode>
          </dgm:forEach>
        </dgm:forEach>
      </dgm:else>
    </dgm:choose>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GB"/>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0B7ECE16-B774-43EB-BFC8-005C69AEDA2B}" type="datetimeFigureOut">
              <a:rPr lang="en-GB" smtClean="0"/>
              <a:t>13/01/2026</a:t>
            </a:fld>
            <a:endParaRPr lang="en-GB"/>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GB"/>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GB"/>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629B2A93-174A-4C64-B3E0-1D838418FFAA}" type="slidenum">
              <a:rPr lang="en-GB" smtClean="0"/>
              <a:t>‹#›</a:t>
            </a:fld>
            <a:endParaRPr lang="en-GB"/>
          </a:p>
        </p:txBody>
      </p:sp>
    </p:spTree>
    <p:extLst>
      <p:ext uri="{BB962C8B-B14F-4D97-AF65-F5344CB8AC3E}">
        <p14:creationId xmlns:p14="http://schemas.microsoft.com/office/powerpoint/2010/main" val="159155810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GB"/>
          </a:p>
        </p:txBody>
      </p:sp>
      <p:sp>
        <p:nvSpPr>
          <p:cNvPr id="3" name="Notes Placeholder 2"/>
          <p:cNvSpPr>
            <a:spLocks noGrp="1"/>
          </p:cNvSpPr>
          <p:nvPr>
            <p:ph type="body" idx="1"/>
          </p:nvPr>
        </p:nvSpPr>
        <p:spPr/>
        <p:txBody>
          <a:bodyPr/>
          <a:lstStyle/>
          <a:p>
            <a:r>
              <a:rPr lang="en-GB" dirty="0"/>
              <a:t>Imagine you’re standing on a factory floor.</a:t>
            </a:r>
            <a:br>
              <a:rPr lang="en-GB" dirty="0"/>
            </a:br>
            <a:r>
              <a:rPr lang="en-GB" dirty="0"/>
              <a:t>Every minute, thousands of products — like metal nuts, pills, or bottle caps — move quickly under cameras</a:t>
            </a:r>
          </a:p>
          <a:p>
            <a:r>
              <a:rPr lang="en-GB" dirty="0"/>
              <a:t>Most of them look perfect, but hidden among them might be tiny defects that are almost impossible for humans to spot. Detecting these automatically, in real time, is the challenge called image anomaly detection.</a:t>
            </a:r>
          </a:p>
          <a:p>
            <a:endParaRPr lang="en-GB" dirty="0"/>
          </a:p>
          <a:p>
            <a:r>
              <a:rPr lang="en-GB" dirty="0"/>
              <a:t>Hello everyone! I’m [Your Name], and today I’ll be talking about a research paper called </a:t>
            </a:r>
            <a:r>
              <a:rPr lang="en-GB" b="1" dirty="0"/>
              <a:t>“</a:t>
            </a:r>
            <a:r>
              <a:rPr lang="en-GB" b="1" dirty="0" err="1"/>
              <a:t>SimpleNet</a:t>
            </a:r>
            <a:r>
              <a:rPr lang="en-GB" b="1" dirty="0"/>
              <a:t>: A Simple Network for Image Anomaly Detection and Localization”</a:t>
            </a:r>
            <a:r>
              <a:rPr lang="en-GB" dirty="0"/>
              <a:t> by </a:t>
            </a:r>
            <a:r>
              <a:rPr lang="en-GB" dirty="0" err="1"/>
              <a:t>Zhikang</a:t>
            </a:r>
            <a:r>
              <a:rPr lang="en-GB" dirty="0"/>
              <a:t> Liu and his team, presented at CVPR 2023.</a:t>
            </a:r>
            <a:r>
              <a:rPr lang="en-GB" b="1" dirty="0"/>
              <a:t> </a:t>
            </a:r>
          </a:p>
          <a:p>
            <a:endParaRPr lang="en-GB" dirty="0"/>
          </a:p>
          <a:p>
            <a:r>
              <a:rPr lang="en-GB" dirty="0"/>
              <a:t>What’s special is that it learns </a:t>
            </a:r>
            <a:r>
              <a:rPr lang="en-GB" b="1" dirty="0"/>
              <a:t>only from normal images</a:t>
            </a:r>
            <a:r>
              <a:rPr lang="en-GB" dirty="0"/>
              <a:t> — it doesn’t need examples of defects — yet it can still </a:t>
            </a:r>
            <a:r>
              <a:rPr lang="en-GB" b="1" dirty="0"/>
              <a:t>detect new, unseen anomalies</a:t>
            </a:r>
            <a:r>
              <a:rPr lang="en-GB" dirty="0"/>
              <a:t> with high accuracy.</a:t>
            </a:r>
          </a:p>
          <a:p>
            <a:endParaRPr lang="en-GB" dirty="0"/>
          </a:p>
        </p:txBody>
      </p:sp>
      <p:sp>
        <p:nvSpPr>
          <p:cNvPr id="4" name="Slide Number Placeholder 3"/>
          <p:cNvSpPr>
            <a:spLocks noGrp="1"/>
          </p:cNvSpPr>
          <p:nvPr>
            <p:ph type="sldNum" sz="quarter" idx="5"/>
          </p:nvPr>
        </p:nvSpPr>
        <p:spPr/>
        <p:txBody>
          <a:bodyPr/>
          <a:lstStyle/>
          <a:p>
            <a:fld id="{629B2A93-174A-4C64-B3E0-1D838418FFAA}" type="slidenum">
              <a:rPr lang="en-GB" smtClean="0"/>
              <a:t>1</a:t>
            </a:fld>
            <a:endParaRPr lang="en-GB"/>
          </a:p>
        </p:txBody>
      </p:sp>
    </p:spTree>
    <p:extLst>
      <p:ext uri="{BB962C8B-B14F-4D97-AF65-F5344CB8AC3E}">
        <p14:creationId xmlns:p14="http://schemas.microsoft.com/office/powerpoint/2010/main" val="177476662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F2A9657-1BEB-6D5E-0976-8917FC6F294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FC0086F-B641-0E35-632D-C028EFF86E1C}"/>
              </a:ext>
            </a:extLst>
          </p:cNvPr>
          <p:cNvSpPr>
            <a:spLocks noGrp="1" noRot="1" noChangeAspect="1"/>
          </p:cNvSpPr>
          <p:nvPr>
            <p:ph type="sldImg"/>
          </p:nvPr>
        </p:nvSpPr>
        <p:spPr/>
        <p:txBody>
          <a:bodyPr/>
          <a:lstStyle/>
          <a:p>
            <a:endParaRPr lang="en-GB"/>
          </a:p>
        </p:txBody>
      </p:sp>
      <p:sp>
        <p:nvSpPr>
          <p:cNvPr id="3" name="Notes Placeholder 2">
            <a:extLst>
              <a:ext uri="{FF2B5EF4-FFF2-40B4-BE49-F238E27FC236}">
                <a16:creationId xmlns:a16="http://schemas.microsoft.com/office/drawing/2014/main" id="{F6E6FC2E-04A5-7FA6-CA86-19978D5766FD}"/>
              </a:ext>
            </a:extLst>
          </p:cNvPr>
          <p:cNvSpPr>
            <a:spLocks noGrp="1"/>
          </p:cNvSpPr>
          <p:nvPr>
            <p:ph type="body" idx="1"/>
          </p:nvPr>
        </p:nvSpPr>
        <p:spPr/>
        <p:txBody>
          <a:bodyPr/>
          <a:lstStyle/>
          <a:p>
            <a:r>
              <a:rPr lang="en-GB" dirty="0"/>
              <a:t>But anomaly detection is not that simple. Many models try to reconstruct images, but they can accidentally recreate defective parts too, missing the anomalies. Others generate synthetic defects, which often confuse the system. And pre-trained </a:t>
            </a:r>
            <a:r>
              <a:rPr lang="en-GB" dirty="0" err="1"/>
              <a:t>models,they</a:t>
            </a:r>
            <a:r>
              <a:rPr lang="en-GB" dirty="0"/>
              <a:t> are  trained on general photos, don’t always match industrial images. Some embedding based approaches are also too heavy, making real-time detection difficult.</a:t>
            </a:r>
          </a:p>
          <a:p>
            <a:endParaRPr lang="en-GB" dirty="0"/>
          </a:p>
          <a:p>
            <a:r>
              <a:rPr lang="en-GB" dirty="0"/>
              <a:t>These challenges motivated the </a:t>
            </a:r>
            <a:r>
              <a:rPr lang="en-GB" dirty="0" err="1"/>
              <a:t>SimpleNet</a:t>
            </a:r>
            <a:r>
              <a:rPr lang="en-GB" dirty="0"/>
              <a:t> team to design a method that is both accurate and efficient for industrial and other domains</a:t>
            </a:r>
          </a:p>
          <a:p>
            <a:endParaRPr lang="en-GB" dirty="0"/>
          </a:p>
          <a:p>
            <a:endParaRPr lang="en-GB" dirty="0"/>
          </a:p>
        </p:txBody>
      </p:sp>
      <p:sp>
        <p:nvSpPr>
          <p:cNvPr id="4" name="Slide Number Placeholder 3">
            <a:extLst>
              <a:ext uri="{FF2B5EF4-FFF2-40B4-BE49-F238E27FC236}">
                <a16:creationId xmlns:a16="http://schemas.microsoft.com/office/drawing/2014/main" id="{9F41F3AA-4352-0D18-1A41-FB41CC369DAF}"/>
              </a:ext>
            </a:extLst>
          </p:cNvPr>
          <p:cNvSpPr>
            <a:spLocks noGrp="1"/>
          </p:cNvSpPr>
          <p:nvPr>
            <p:ph type="sldNum" sz="quarter" idx="5"/>
          </p:nvPr>
        </p:nvSpPr>
        <p:spPr/>
        <p:txBody>
          <a:bodyPr/>
          <a:lstStyle/>
          <a:p>
            <a:fld id="{629B2A93-174A-4C64-B3E0-1D838418FFAA}" type="slidenum">
              <a:rPr lang="en-GB" smtClean="0"/>
              <a:t>2</a:t>
            </a:fld>
            <a:endParaRPr lang="en-GB"/>
          </a:p>
        </p:txBody>
      </p:sp>
    </p:spTree>
    <p:extLst>
      <p:ext uri="{BB962C8B-B14F-4D97-AF65-F5344CB8AC3E}">
        <p14:creationId xmlns:p14="http://schemas.microsoft.com/office/powerpoint/2010/main" val="73590710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7F16BFB-6450-C298-2B91-3211F323807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5000560-CA14-92D3-8229-BE01049608E7}"/>
              </a:ext>
            </a:extLst>
          </p:cNvPr>
          <p:cNvSpPr>
            <a:spLocks noGrp="1" noRot="1" noChangeAspect="1"/>
          </p:cNvSpPr>
          <p:nvPr>
            <p:ph type="sldImg"/>
          </p:nvPr>
        </p:nvSpPr>
        <p:spPr/>
        <p:txBody>
          <a:bodyPr/>
          <a:lstStyle/>
          <a:p>
            <a:endParaRPr lang="en-GB"/>
          </a:p>
        </p:txBody>
      </p:sp>
      <p:sp>
        <p:nvSpPr>
          <p:cNvPr id="3" name="Notes Placeholder 2">
            <a:extLst>
              <a:ext uri="{FF2B5EF4-FFF2-40B4-BE49-F238E27FC236}">
                <a16:creationId xmlns:a16="http://schemas.microsoft.com/office/drawing/2014/main" id="{4DB1042A-17A9-77CA-0237-876D20846851}"/>
              </a:ext>
            </a:extLst>
          </p:cNvPr>
          <p:cNvSpPr>
            <a:spLocks noGrp="1"/>
          </p:cNvSpPr>
          <p:nvPr>
            <p:ph type="body" idx="1"/>
          </p:nvPr>
        </p:nvSpPr>
        <p:spPr/>
        <p:txBody>
          <a:bodyPr/>
          <a:lstStyle/>
          <a:p>
            <a:r>
              <a:rPr lang="en-GB" dirty="0"/>
              <a:t>Now let’s look at how </a:t>
            </a:r>
            <a:r>
              <a:rPr lang="en-GB" b="1" dirty="0" err="1"/>
              <a:t>SimpleNet</a:t>
            </a:r>
            <a:r>
              <a:rPr lang="en-GB" dirty="0"/>
              <a:t> actually works.</a:t>
            </a:r>
          </a:p>
          <a:p>
            <a:r>
              <a:rPr lang="en-GB" dirty="0"/>
              <a:t>It starts with something called a </a:t>
            </a:r>
            <a:r>
              <a:rPr lang="en-GB" b="1" dirty="0"/>
              <a:t>Feature Extractor</a:t>
            </a:r>
            <a:r>
              <a:rPr lang="en-GB" dirty="0"/>
              <a:t> — basically, a pre-trained model like </a:t>
            </a:r>
            <a:r>
              <a:rPr lang="en-GB" i="1" dirty="0"/>
              <a:t>ResNet</a:t>
            </a:r>
            <a:r>
              <a:rPr lang="en-GB" dirty="0"/>
              <a:t> that pulls out general features from normal images. This is a common step in image processing.</a:t>
            </a:r>
          </a:p>
          <a:p>
            <a:r>
              <a:rPr lang="en-GB" dirty="0"/>
              <a:t>Next comes the </a:t>
            </a:r>
            <a:r>
              <a:rPr lang="en-GB" b="1" dirty="0"/>
              <a:t>Feature Adapter</a:t>
            </a:r>
            <a:r>
              <a:rPr lang="en-GB" dirty="0"/>
              <a:t>. Its job is to fine-tune those general features so they better match the specific data from the factory or industry we’re working with. This helps reduce what we call </a:t>
            </a:r>
            <a:r>
              <a:rPr lang="en-GB" i="1" dirty="0"/>
              <a:t>domain bias</a:t>
            </a:r>
            <a:r>
              <a:rPr lang="en-GB" dirty="0"/>
              <a:t> — so the model understands our type of images more accurately.</a:t>
            </a:r>
          </a:p>
          <a:p>
            <a:r>
              <a:rPr lang="en-GB" dirty="0"/>
              <a:t>Then comes the clever part — the </a:t>
            </a:r>
            <a:r>
              <a:rPr lang="en-GB" b="1" dirty="0"/>
              <a:t>Anomalous Feature Generator</a:t>
            </a:r>
            <a:r>
              <a:rPr lang="en-GB" dirty="0"/>
              <a:t>. Instead of creating fake images, it adds </a:t>
            </a:r>
            <a:r>
              <a:rPr lang="en-GB" i="1" dirty="0"/>
              <a:t>Gaussian noise</a:t>
            </a:r>
            <a:r>
              <a:rPr lang="en-GB" dirty="0"/>
              <a:t> to the normal features. That means it makes small, realistic variations directly in the </a:t>
            </a:r>
            <a:r>
              <a:rPr lang="en-GB" i="1" dirty="0"/>
              <a:t>feature space</a:t>
            </a:r>
            <a:r>
              <a:rPr lang="en-GB" dirty="0"/>
              <a:t> — not in the image. This helps the model learn a clear boundary between what’s normal and what’s not.</a:t>
            </a:r>
          </a:p>
          <a:p>
            <a:r>
              <a:rPr lang="en-GB" dirty="0"/>
              <a:t>Finally, we have a </a:t>
            </a:r>
            <a:r>
              <a:rPr lang="en-GB" b="1" dirty="0"/>
              <a:t>lightweight discriminator</a:t>
            </a:r>
            <a:r>
              <a:rPr lang="en-GB" dirty="0"/>
              <a:t>. Think of it as a quick decision-maker that learns to tell normal and abnormal features apart. Because it’s lightweight, the whole system runs fast enough for real-time detection.</a:t>
            </a:r>
          </a:p>
          <a:p>
            <a:r>
              <a:rPr lang="en-GB" dirty="0"/>
              <a:t>The key takeaway here is this:</a:t>
            </a:r>
            <a:br>
              <a:rPr lang="en-GB" dirty="0"/>
            </a:br>
            <a:r>
              <a:rPr lang="en-GB" dirty="0"/>
              <a:t>👉 </a:t>
            </a:r>
            <a:r>
              <a:rPr lang="en-GB" i="1" dirty="0" err="1"/>
              <a:t>SimpleNet</a:t>
            </a:r>
            <a:r>
              <a:rPr lang="en-GB" i="1" dirty="0"/>
              <a:t> doesn’t generate fake images — it generates anomalies in the feature space.</a:t>
            </a:r>
            <a:br>
              <a:rPr lang="en-GB" dirty="0"/>
            </a:br>
            <a:endParaRPr lang="en-GB" dirty="0"/>
          </a:p>
        </p:txBody>
      </p:sp>
      <p:sp>
        <p:nvSpPr>
          <p:cNvPr id="4" name="Slide Number Placeholder 3">
            <a:extLst>
              <a:ext uri="{FF2B5EF4-FFF2-40B4-BE49-F238E27FC236}">
                <a16:creationId xmlns:a16="http://schemas.microsoft.com/office/drawing/2014/main" id="{5A64A1E7-6319-6D89-00DF-2764DA53BE57}"/>
              </a:ext>
            </a:extLst>
          </p:cNvPr>
          <p:cNvSpPr>
            <a:spLocks noGrp="1"/>
          </p:cNvSpPr>
          <p:nvPr>
            <p:ph type="sldNum" sz="quarter" idx="5"/>
          </p:nvPr>
        </p:nvSpPr>
        <p:spPr/>
        <p:txBody>
          <a:bodyPr/>
          <a:lstStyle/>
          <a:p>
            <a:fld id="{629B2A93-174A-4C64-B3E0-1D838418FFAA}" type="slidenum">
              <a:rPr lang="en-GB" smtClean="0"/>
              <a:t>3</a:t>
            </a:fld>
            <a:endParaRPr lang="en-GB"/>
          </a:p>
        </p:txBody>
      </p:sp>
    </p:spTree>
    <p:extLst>
      <p:ext uri="{BB962C8B-B14F-4D97-AF65-F5344CB8AC3E}">
        <p14:creationId xmlns:p14="http://schemas.microsoft.com/office/powerpoint/2010/main" val="959234310"/>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4D45023-CE3B-C2C8-AABE-65140B3380E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86B7428-A55B-AABC-5B2F-FF42ACFDA8F0}"/>
              </a:ext>
            </a:extLst>
          </p:cNvPr>
          <p:cNvSpPr>
            <a:spLocks noGrp="1" noRot="1" noChangeAspect="1"/>
          </p:cNvSpPr>
          <p:nvPr>
            <p:ph type="sldImg"/>
          </p:nvPr>
        </p:nvSpPr>
        <p:spPr/>
        <p:txBody>
          <a:bodyPr/>
          <a:lstStyle/>
          <a:p>
            <a:endParaRPr lang="en-GB"/>
          </a:p>
        </p:txBody>
      </p:sp>
      <p:sp>
        <p:nvSpPr>
          <p:cNvPr id="3" name="Notes Placeholder 2">
            <a:extLst>
              <a:ext uri="{FF2B5EF4-FFF2-40B4-BE49-F238E27FC236}">
                <a16:creationId xmlns:a16="http://schemas.microsoft.com/office/drawing/2014/main" id="{D1C1EC16-C95C-671C-F614-661E17FA27E8}"/>
              </a:ext>
            </a:extLst>
          </p:cNvPr>
          <p:cNvSpPr>
            <a:spLocks noGrp="1"/>
          </p:cNvSpPr>
          <p:nvPr>
            <p:ph type="body" idx="1"/>
          </p:nvPr>
        </p:nvSpPr>
        <p:spPr/>
        <p:txBody>
          <a:bodyPr/>
          <a:lstStyle/>
          <a:p>
            <a:endParaRPr lang="en-GB" dirty="0"/>
          </a:p>
        </p:txBody>
      </p:sp>
      <p:sp>
        <p:nvSpPr>
          <p:cNvPr id="4" name="Slide Number Placeholder 3">
            <a:extLst>
              <a:ext uri="{FF2B5EF4-FFF2-40B4-BE49-F238E27FC236}">
                <a16:creationId xmlns:a16="http://schemas.microsoft.com/office/drawing/2014/main" id="{6A457F71-09DC-8A84-47F5-1C1AF300FEB6}"/>
              </a:ext>
            </a:extLst>
          </p:cNvPr>
          <p:cNvSpPr>
            <a:spLocks noGrp="1"/>
          </p:cNvSpPr>
          <p:nvPr>
            <p:ph type="sldNum" sz="quarter" idx="5"/>
          </p:nvPr>
        </p:nvSpPr>
        <p:spPr/>
        <p:txBody>
          <a:bodyPr/>
          <a:lstStyle/>
          <a:p>
            <a:fld id="{629B2A93-174A-4C64-B3E0-1D838418FFAA}" type="slidenum">
              <a:rPr lang="en-GB" smtClean="0"/>
              <a:t>4</a:t>
            </a:fld>
            <a:endParaRPr lang="en-GB"/>
          </a:p>
        </p:txBody>
      </p:sp>
    </p:spTree>
    <p:extLst>
      <p:ext uri="{BB962C8B-B14F-4D97-AF65-F5344CB8AC3E}">
        <p14:creationId xmlns:p14="http://schemas.microsoft.com/office/powerpoint/2010/main" val="3795544502"/>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D78FA0D-5987-0229-59AC-078073ED918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DDC8099-A191-C885-FC77-B592FA8723C5}"/>
              </a:ext>
            </a:extLst>
          </p:cNvPr>
          <p:cNvSpPr>
            <a:spLocks noGrp="1" noRot="1" noChangeAspect="1"/>
          </p:cNvSpPr>
          <p:nvPr>
            <p:ph type="sldImg"/>
          </p:nvPr>
        </p:nvSpPr>
        <p:spPr/>
        <p:txBody>
          <a:bodyPr/>
          <a:lstStyle/>
          <a:p>
            <a:endParaRPr lang="en-GB"/>
          </a:p>
        </p:txBody>
      </p:sp>
      <p:sp>
        <p:nvSpPr>
          <p:cNvPr id="3" name="Notes Placeholder 2">
            <a:extLst>
              <a:ext uri="{FF2B5EF4-FFF2-40B4-BE49-F238E27FC236}">
                <a16:creationId xmlns:a16="http://schemas.microsoft.com/office/drawing/2014/main" id="{CDBCCEEA-0DCA-455F-9FB6-8D303246B933}"/>
              </a:ext>
            </a:extLst>
          </p:cNvPr>
          <p:cNvSpPr>
            <a:spLocks noGrp="1"/>
          </p:cNvSpPr>
          <p:nvPr>
            <p:ph type="body" idx="1"/>
          </p:nvPr>
        </p:nvSpPr>
        <p:spPr/>
        <p:txBody>
          <a:bodyPr/>
          <a:lstStyle/>
          <a:p>
            <a:endParaRPr lang="en-GB" dirty="0"/>
          </a:p>
        </p:txBody>
      </p:sp>
      <p:sp>
        <p:nvSpPr>
          <p:cNvPr id="4" name="Slide Number Placeholder 3">
            <a:extLst>
              <a:ext uri="{FF2B5EF4-FFF2-40B4-BE49-F238E27FC236}">
                <a16:creationId xmlns:a16="http://schemas.microsoft.com/office/drawing/2014/main" id="{F7A25D3C-152C-E869-1943-41D40916FCDF}"/>
              </a:ext>
            </a:extLst>
          </p:cNvPr>
          <p:cNvSpPr>
            <a:spLocks noGrp="1"/>
          </p:cNvSpPr>
          <p:nvPr>
            <p:ph type="sldNum" sz="quarter" idx="5"/>
          </p:nvPr>
        </p:nvSpPr>
        <p:spPr/>
        <p:txBody>
          <a:bodyPr/>
          <a:lstStyle/>
          <a:p>
            <a:fld id="{629B2A93-174A-4C64-B3E0-1D838418FFAA}" type="slidenum">
              <a:rPr lang="en-GB" smtClean="0"/>
              <a:t>5</a:t>
            </a:fld>
            <a:endParaRPr lang="en-GB"/>
          </a:p>
        </p:txBody>
      </p:sp>
    </p:spTree>
    <p:extLst>
      <p:ext uri="{BB962C8B-B14F-4D97-AF65-F5344CB8AC3E}">
        <p14:creationId xmlns:p14="http://schemas.microsoft.com/office/powerpoint/2010/main" val="3975719585"/>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44C5F5C-94F5-751B-A300-FFBEB69C7E0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0046F31-037B-A806-F080-A324FE4A528E}"/>
              </a:ext>
            </a:extLst>
          </p:cNvPr>
          <p:cNvSpPr>
            <a:spLocks noGrp="1" noRot="1" noChangeAspect="1"/>
          </p:cNvSpPr>
          <p:nvPr>
            <p:ph type="sldImg"/>
          </p:nvPr>
        </p:nvSpPr>
        <p:spPr/>
        <p:txBody>
          <a:bodyPr/>
          <a:lstStyle/>
          <a:p>
            <a:endParaRPr lang="en-GB"/>
          </a:p>
        </p:txBody>
      </p:sp>
      <p:sp>
        <p:nvSpPr>
          <p:cNvPr id="3" name="Notes Placeholder 2">
            <a:extLst>
              <a:ext uri="{FF2B5EF4-FFF2-40B4-BE49-F238E27FC236}">
                <a16:creationId xmlns:a16="http://schemas.microsoft.com/office/drawing/2014/main" id="{CBF95C76-8C54-50E2-5F31-1E0D4487E417}"/>
              </a:ext>
            </a:extLst>
          </p:cNvPr>
          <p:cNvSpPr>
            <a:spLocks noGrp="1"/>
          </p:cNvSpPr>
          <p:nvPr>
            <p:ph type="body" idx="1"/>
          </p:nvPr>
        </p:nvSpPr>
        <p:spPr/>
        <p:txBody>
          <a:bodyPr/>
          <a:lstStyle/>
          <a:p>
            <a:r>
              <a:rPr lang="en-GB" dirty="0"/>
              <a:t>So, how does </a:t>
            </a:r>
            <a:r>
              <a:rPr lang="en-GB" dirty="0" err="1"/>
              <a:t>SimpleNet</a:t>
            </a:r>
            <a:r>
              <a:rPr lang="en-GB" dirty="0"/>
              <a:t> actually handle all those tricky problems? Well, first it tweaks pre-trained features—basically fine-tuning what it already learned from big datasets so it really understands our kind of factory images. That way, it knows the data it’s looking at.</a:t>
            </a:r>
          </a:p>
          <a:p>
            <a:r>
              <a:rPr lang="en-GB" dirty="0"/>
              <a:t>Then, instead of trying to make fake defective images, it does something clever—it adds small variations directly in the feature space. This makes detecting real defects way more reliable.</a:t>
            </a:r>
          </a:p>
          <a:p>
            <a:r>
              <a:rPr lang="en-GB" dirty="0"/>
              <a:t>And to keep everything fast, it uses a lightweight discriminator—a sort of quick decision-maker that tells normal from abnormal almost instantly.</a:t>
            </a:r>
          </a:p>
          <a:p>
            <a:r>
              <a:rPr lang="en-GB" dirty="0"/>
              <a:t>The coolest part? </a:t>
            </a:r>
            <a:r>
              <a:rPr lang="en-GB" dirty="0" err="1"/>
              <a:t>SimpleNet</a:t>
            </a:r>
            <a:r>
              <a:rPr lang="en-GB" dirty="0"/>
              <a:t> isn’t just for factories. It can spot anything unusual, anywhere. So it works for one-class novelty detection in all sorts of domains.</a:t>
            </a:r>
          </a:p>
        </p:txBody>
      </p:sp>
      <p:sp>
        <p:nvSpPr>
          <p:cNvPr id="4" name="Slide Number Placeholder 3">
            <a:extLst>
              <a:ext uri="{FF2B5EF4-FFF2-40B4-BE49-F238E27FC236}">
                <a16:creationId xmlns:a16="http://schemas.microsoft.com/office/drawing/2014/main" id="{D2A3C578-EB31-5FA1-9FC9-E155DBAC2821}"/>
              </a:ext>
            </a:extLst>
          </p:cNvPr>
          <p:cNvSpPr>
            <a:spLocks noGrp="1"/>
          </p:cNvSpPr>
          <p:nvPr>
            <p:ph type="sldNum" sz="quarter" idx="5"/>
          </p:nvPr>
        </p:nvSpPr>
        <p:spPr/>
        <p:txBody>
          <a:bodyPr/>
          <a:lstStyle/>
          <a:p>
            <a:fld id="{629B2A93-174A-4C64-B3E0-1D838418FFAA}" type="slidenum">
              <a:rPr lang="en-GB" smtClean="0"/>
              <a:t>6</a:t>
            </a:fld>
            <a:endParaRPr lang="en-GB"/>
          </a:p>
        </p:txBody>
      </p:sp>
    </p:spTree>
    <p:extLst>
      <p:ext uri="{BB962C8B-B14F-4D97-AF65-F5344CB8AC3E}">
        <p14:creationId xmlns:p14="http://schemas.microsoft.com/office/powerpoint/2010/main" val="3798193386"/>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D4DEB96-3E28-5A5A-DCC9-97EE0D5BBF9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1031349-99E2-57E2-7D75-138AD80D9C4C}"/>
              </a:ext>
            </a:extLst>
          </p:cNvPr>
          <p:cNvSpPr>
            <a:spLocks noGrp="1" noRot="1" noChangeAspect="1"/>
          </p:cNvSpPr>
          <p:nvPr>
            <p:ph type="sldImg"/>
          </p:nvPr>
        </p:nvSpPr>
        <p:spPr/>
        <p:txBody>
          <a:bodyPr/>
          <a:lstStyle/>
          <a:p>
            <a:endParaRPr lang="en-GB"/>
          </a:p>
        </p:txBody>
      </p:sp>
      <p:sp>
        <p:nvSpPr>
          <p:cNvPr id="3" name="Notes Placeholder 2">
            <a:extLst>
              <a:ext uri="{FF2B5EF4-FFF2-40B4-BE49-F238E27FC236}">
                <a16:creationId xmlns:a16="http://schemas.microsoft.com/office/drawing/2014/main" id="{80E52F9C-11FB-5014-9890-4AAD64D196C7}"/>
              </a:ext>
            </a:extLst>
          </p:cNvPr>
          <p:cNvSpPr>
            <a:spLocks noGrp="1"/>
          </p:cNvSpPr>
          <p:nvPr>
            <p:ph type="body" idx="1"/>
          </p:nvPr>
        </p:nvSpPr>
        <p:spPr/>
        <p:txBody>
          <a:bodyPr/>
          <a:lstStyle/>
          <a:p>
            <a:r>
              <a:rPr lang="en-GB" dirty="0"/>
              <a:t>So, how does </a:t>
            </a:r>
            <a:r>
              <a:rPr lang="en-GB" dirty="0" err="1"/>
              <a:t>SimpleNet</a:t>
            </a:r>
            <a:r>
              <a:rPr lang="en-GB" dirty="0"/>
              <a:t> actually handle all those tricky problems? Well, first it tweaks pre-trained features—basically fine-tuning what it already learned from big datasets so it really understands our kind of factory images. That way, it knows the data it’s looking at.</a:t>
            </a:r>
          </a:p>
          <a:p>
            <a:r>
              <a:rPr lang="en-GB" dirty="0"/>
              <a:t>Then, instead of trying to make fake defective images, it does something clever—it adds small variations directly in the feature space. This makes detecting real defects way more reliable.</a:t>
            </a:r>
          </a:p>
          <a:p>
            <a:r>
              <a:rPr lang="en-GB" dirty="0"/>
              <a:t>And to keep everything fast, it uses a lightweight discriminator—a sort of quick decision-maker that tells normal from abnormal almost instantly.</a:t>
            </a:r>
          </a:p>
          <a:p>
            <a:r>
              <a:rPr lang="en-GB" dirty="0"/>
              <a:t>The coolest part? </a:t>
            </a:r>
            <a:r>
              <a:rPr lang="en-GB" dirty="0" err="1"/>
              <a:t>SimpleNet</a:t>
            </a:r>
            <a:r>
              <a:rPr lang="en-GB" dirty="0"/>
              <a:t> isn’t just for factories. It can spot anything unusual, anywhere. So it works for one-class novelty detection in all sorts of domains.</a:t>
            </a:r>
          </a:p>
        </p:txBody>
      </p:sp>
      <p:sp>
        <p:nvSpPr>
          <p:cNvPr id="4" name="Slide Number Placeholder 3">
            <a:extLst>
              <a:ext uri="{FF2B5EF4-FFF2-40B4-BE49-F238E27FC236}">
                <a16:creationId xmlns:a16="http://schemas.microsoft.com/office/drawing/2014/main" id="{E61CE923-4B11-64F5-E07C-2D448968DACC}"/>
              </a:ext>
            </a:extLst>
          </p:cNvPr>
          <p:cNvSpPr>
            <a:spLocks noGrp="1"/>
          </p:cNvSpPr>
          <p:nvPr>
            <p:ph type="sldNum" sz="quarter" idx="5"/>
          </p:nvPr>
        </p:nvSpPr>
        <p:spPr/>
        <p:txBody>
          <a:bodyPr/>
          <a:lstStyle/>
          <a:p>
            <a:fld id="{629B2A93-174A-4C64-B3E0-1D838418FFAA}" type="slidenum">
              <a:rPr lang="en-GB" smtClean="0"/>
              <a:t>7</a:t>
            </a:fld>
            <a:endParaRPr lang="en-GB"/>
          </a:p>
        </p:txBody>
      </p:sp>
    </p:spTree>
    <p:extLst>
      <p:ext uri="{BB962C8B-B14F-4D97-AF65-F5344CB8AC3E}">
        <p14:creationId xmlns:p14="http://schemas.microsoft.com/office/powerpoint/2010/main" val="460299644"/>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D1FDE0D-148D-604D-BD80-9E2D579163D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3367731-4B02-4A15-D13D-632F70E6CD36}"/>
              </a:ext>
            </a:extLst>
          </p:cNvPr>
          <p:cNvSpPr>
            <a:spLocks noGrp="1" noRot="1" noChangeAspect="1"/>
          </p:cNvSpPr>
          <p:nvPr>
            <p:ph type="sldImg"/>
          </p:nvPr>
        </p:nvSpPr>
        <p:spPr/>
        <p:txBody>
          <a:bodyPr/>
          <a:lstStyle/>
          <a:p>
            <a:endParaRPr lang="en-GB"/>
          </a:p>
        </p:txBody>
      </p:sp>
      <p:sp>
        <p:nvSpPr>
          <p:cNvPr id="3" name="Notes Placeholder 2">
            <a:extLst>
              <a:ext uri="{FF2B5EF4-FFF2-40B4-BE49-F238E27FC236}">
                <a16:creationId xmlns:a16="http://schemas.microsoft.com/office/drawing/2014/main" id="{AC8903D7-D4E4-FB16-ADEB-3351655CF0D5}"/>
              </a:ext>
            </a:extLst>
          </p:cNvPr>
          <p:cNvSpPr>
            <a:spLocks noGrp="1"/>
          </p:cNvSpPr>
          <p:nvPr>
            <p:ph type="body" idx="1"/>
          </p:nvPr>
        </p:nvSpPr>
        <p:spPr/>
        <p:txBody>
          <a:bodyPr/>
          <a:lstStyle/>
          <a:p>
            <a:r>
              <a:rPr lang="en-GB" dirty="0"/>
              <a:t>So, how does </a:t>
            </a:r>
            <a:r>
              <a:rPr lang="en-GB" dirty="0" err="1"/>
              <a:t>SimpleNet</a:t>
            </a:r>
            <a:r>
              <a:rPr lang="en-GB" dirty="0"/>
              <a:t> actually handle all those tricky problems? Well, first it tweaks pre-trained features—basically fine-tuning what it already learned from big datasets so it really understands our kind of factory images. That way, it knows the data it’s looking at.</a:t>
            </a:r>
          </a:p>
          <a:p>
            <a:r>
              <a:rPr lang="en-GB" dirty="0"/>
              <a:t>Then, instead of trying to make fake defective images, it does something clever—it adds small variations directly in the feature space. This makes detecting real defects way more reliable.</a:t>
            </a:r>
          </a:p>
          <a:p>
            <a:r>
              <a:rPr lang="en-GB" dirty="0"/>
              <a:t>And to keep everything fast, it uses a lightweight discriminator—a sort of quick decision-maker that tells normal from abnormal almost instantly.</a:t>
            </a:r>
          </a:p>
          <a:p>
            <a:r>
              <a:rPr lang="en-GB" dirty="0"/>
              <a:t>The coolest part? </a:t>
            </a:r>
            <a:r>
              <a:rPr lang="en-GB" dirty="0" err="1"/>
              <a:t>SimpleNet</a:t>
            </a:r>
            <a:r>
              <a:rPr lang="en-GB" dirty="0"/>
              <a:t> isn’t just for factories. It can spot anything unusual, anywhere. So it works for one-class novelty detection in all sorts of domains.</a:t>
            </a:r>
          </a:p>
        </p:txBody>
      </p:sp>
      <p:sp>
        <p:nvSpPr>
          <p:cNvPr id="4" name="Slide Number Placeholder 3">
            <a:extLst>
              <a:ext uri="{FF2B5EF4-FFF2-40B4-BE49-F238E27FC236}">
                <a16:creationId xmlns:a16="http://schemas.microsoft.com/office/drawing/2014/main" id="{A1202D4B-69B7-0892-9C05-3ECF9BE73123}"/>
              </a:ext>
            </a:extLst>
          </p:cNvPr>
          <p:cNvSpPr>
            <a:spLocks noGrp="1"/>
          </p:cNvSpPr>
          <p:nvPr>
            <p:ph type="sldNum" sz="quarter" idx="5"/>
          </p:nvPr>
        </p:nvSpPr>
        <p:spPr/>
        <p:txBody>
          <a:bodyPr/>
          <a:lstStyle/>
          <a:p>
            <a:fld id="{629B2A93-174A-4C64-B3E0-1D838418FFAA}" type="slidenum">
              <a:rPr lang="en-GB" smtClean="0"/>
              <a:t>8</a:t>
            </a:fld>
            <a:endParaRPr lang="en-GB"/>
          </a:p>
        </p:txBody>
      </p:sp>
    </p:spTree>
    <p:extLst>
      <p:ext uri="{BB962C8B-B14F-4D97-AF65-F5344CB8AC3E}">
        <p14:creationId xmlns:p14="http://schemas.microsoft.com/office/powerpoint/2010/main" val="1203014353"/>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25CB7AC-E532-BF57-2617-E624F2F2253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3C2DADC-3A0E-9736-09C5-8E400EAAFEA2}"/>
              </a:ext>
            </a:extLst>
          </p:cNvPr>
          <p:cNvSpPr>
            <a:spLocks noGrp="1" noRot="1" noChangeAspect="1"/>
          </p:cNvSpPr>
          <p:nvPr>
            <p:ph type="sldImg"/>
          </p:nvPr>
        </p:nvSpPr>
        <p:spPr/>
        <p:txBody>
          <a:bodyPr/>
          <a:lstStyle/>
          <a:p>
            <a:endParaRPr lang="en-GB"/>
          </a:p>
        </p:txBody>
      </p:sp>
      <p:sp>
        <p:nvSpPr>
          <p:cNvPr id="3" name="Notes Placeholder 2">
            <a:extLst>
              <a:ext uri="{FF2B5EF4-FFF2-40B4-BE49-F238E27FC236}">
                <a16:creationId xmlns:a16="http://schemas.microsoft.com/office/drawing/2014/main" id="{A560E697-C7D8-E3D3-A199-750C77E0A9F8}"/>
              </a:ext>
            </a:extLst>
          </p:cNvPr>
          <p:cNvSpPr>
            <a:spLocks noGrp="1"/>
          </p:cNvSpPr>
          <p:nvPr>
            <p:ph type="body" idx="1"/>
          </p:nvPr>
        </p:nvSpPr>
        <p:spPr/>
        <p:txBody>
          <a:bodyPr/>
          <a:lstStyle/>
          <a:p>
            <a:endParaRPr lang="en-GB" dirty="0"/>
          </a:p>
        </p:txBody>
      </p:sp>
      <p:sp>
        <p:nvSpPr>
          <p:cNvPr id="4" name="Slide Number Placeholder 3">
            <a:extLst>
              <a:ext uri="{FF2B5EF4-FFF2-40B4-BE49-F238E27FC236}">
                <a16:creationId xmlns:a16="http://schemas.microsoft.com/office/drawing/2014/main" id="{58AFDFA1-070F-8209-EAEE-FEBB197068CD}"/>
              </a:ext>
            </a:extLst>
          </p:cNvPr>
          <p:cNvSpPr>
            <a:spLocks noGrp="1"/>
          </p:cNvSpPr>
          <p:nvPr>
            <p:ph type="sldNum" sz="quarter" idx="5"/>
          </p:nvPr>
        </p:nvSpPr>
        <p:spPr/>
        <p:txBody>
          <a:bodyPr/>
          <a:lstStyle/>
          <a:p>
            <a:fld id="{629B2A93-174A-4C64-B3E0-1D838418FFAA}" type="slidenum">
              <a:rPr lang="en-GB" smtClean="0"/>
              <a:t>9</a:t>
            </a:fld>
            <a:endParaRPr lang="en-GB"/>
          </a:p>
        </p:txBody>
      </p:sp>
    </p:spTree>
    <p:extLst>
      <p:ext uri="{BB962C8B-B14F-4D97-AF65-F5344CB8AC3E}">
        <p14:creationId xmlns:p14="http://schemas.microsoft.com/office/powerpoint/2010/main" val="3524694332"/>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8BF806B-3169-20C1-AE55-B0E5E5DD0E8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D2770D2-3992-CC73-ED20-4BF61E27E7D0}"/>
              </a:ext>
            </a:extLst>
          </p:cNvPr>
          <p:cNvSpPr>
            <a:spLocks noGrp="1" noRot="1" noChangeAspect="1"/>
          </p:cNvSpPr>
          <p:nvPr>
            <p:ph type="sldImg"/>
          </p:nvPr>
        </p:nvSpPr>
        <p:spPr/>
        <p:txBody>
          <a:bodyPr/>
          <a:lstStyle/>
          <a:p>
            <a:endParaRPr lang="en-GB"/>
          </a:p>
        </p:txBody>
      </p:sp>
      <p:sp>
        <p:nvSpPr>
          <p:cNvPr id="3" name="Notes Placeholder 2">
            <a:extLst>
              <a:ext uri="{FF2B5EF4-FFF2-40B4-BE49-F238E27FC236}">
                <a16:creationId xmlns:a16="http://schemas.microsoft.com/office/drawing/2014/main" id="{0BFD1086-1064-71EA-C421-D5A72688D5F3}"/>
              </a:ext>
            </a:extLst>
          </p:cNvPr>
          <p:cNvSpPr>
            <a:spLocks noGrp="1"/>
          </p:cNvSpPr>
          <p:nvPr>
            <p:ph type="body" idx="1"/>
          </p:nvPr>
        </p:nvSpPr>
        <p:spPr/>
        <p:txBody>
          <a:bodyPr/>
          <a:lstStyle/>
          <a:p>
            <a:r>
              <a:rPr lang="en-GB" dirty="0"/>
              <a:t>So, how does </a:t>
            </a:r>
            <a:r>
              <a:rPr lang="en-GB" dirty="0" err="1"/>
              <a:t>SimpleNet</a:t>
            </a:r>
            <a:r>
              <a:rPr lang="en-GB" dirty="0"/>
              <a:t> actually handle all those tricky problems? Well, first it tweaks pre-trained features—basically fine-tuning what it already learned from big datasets so it really understands our kind of factory images. That way, it knows the data it’s looking at.</a:t>
            </a:r>
          </a:p>
          <a:p>
            <a:r>
              <a:rPr lang="en-GB" dirty="0"/>
              <a:t>Then, instead of trying to make fake defective images, it does something clever—it adds small variations directly in the feature space. This makes detecting real defects way more reliable.</a:t>
            </a:r>
          </a:p>
          <a:p>
            <a:r>
              <a:rPr lang="en-GB" dirty="0"/>
              <a:t>And to keep everything fast, it uses a lightweight discriminator—a sort of quick decision-maker that tells normal from abnormal almost instantly.</a:t>
            </a:r>
          </a:p>
          <a:p>
            <a:r>
              <a:rPr lang="en-GB" dirty="0"/>
              <a:t>The coolest part? </a:t>
            </a:r>
            <a:r>
              <a:rPr lang="en-GB" dirty="0" err="1"/>
              <a:t>SimpleNet</a:t>
            </a:r>
            <a:r>
              <a:rPr lang="en-GB" dirty="0"/>
              <a:t> isn’t just for factories. It can spot anything unusual, anywhere. So it works for one-class novelty detection in all sorts of domains.</a:t>
            </a:r>
          </a:p>
        </p:txBody>
      </p:sp>
      <p:sp>
        <p:nvSpPr>
          <p:cNvPr id="4" name="Slide Number Placeholder 3">
            <a:extLst>
              <a:ext uri="{FF2B5EF4-FFF2-40B4-BE49-F238E27FC236}">
                <a16:creationId xmlns:a16="http://schemas.microsoft.com/office/drawing/2014/main" id="{2C3FAC0E-E392-8152-9021-D2AC258FC418}"/>
              </a:ext>
            </a:extLst>
          </p:cNvPr>
          <p:cNvSpPr>
            <a:spLocks noGrp="1"/>
          </p:cNvSpPr>
          <p:nvPr>
            <p:ph type="sldNum" sz="quarter" idx="5"/>
          </p:nvPr>
        </p:nvSpPr>
        <p:spPr/>
        <p:txBody>
          <a:bodyPr/>
          <a:lstStyle/>
          <a:p>
            <a:fld id="{629B2A93-174A-4C64-B3E0-1D838418FFAA}" type="slidenum">
              <a:rPr lang="en-GB" smtClean="0"/>
              <a:t>10</a:t>
            </a:fld>
            <a:endParaRPr lang="en-GB"/>
          </a:p>
        </p:txBody>
      </p:sp>
    </p:spTree>
    <p:extLst>
      <p:ext uri="{BB962C8B-B14F-4D97-AF65-F5344CB8AC3E}">
        <p14:creationId xmlns:p14="http://schemas.microsoft.com/office/powerpoint/2010/main" val="2304095487"/>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4A27D13-078A-A677-1EC9-A1EFB700216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7C3C461-00F3-A68E-BE5E-3B5DD99E7AEE}"/>
              </a:ext>
            </a:extLst>
          </p:cNvPr>
          <p:cNvSpPr>
            <a:spLocks noGrp="1" noRot="1" noChangeAspect="1"/>
          </p:cNvSpPr>
          <p:nvPr>
            <p:ph type="sldImg"/>
          </p:nvPr>
        </p:nvSpPr>
        <p:spPr/>
        <p:txBody>
          <a:bodyPr/>
          <a:lstStyle/>
          <a:p>
            <a:endParaRPr lang="en-GB"/>
          </a:p>
        </p:txBody>
      </p:sp>
      <p:sp>
        <p:nvSpPr>
          <p:cNvPr id="3" name="Notes Placeholder 2">
            <a:extLst>
              <a:ext uri="{FF2B5EF4-FFF2-40B4-BE49-F238E27FC236}">
                <a16:creationId xmlns:a16="http://schemas.microsoft.com/office/drawing/2014/main" id="{A11A5EF6-A3C2-3C21-29CC-0381423B1C44}"/>
              </a:ext>
            </a:extLst>
          </p:cNvPr>
          <p:cNvSpPr>
            <a:spLocks noGrp="1"/>
          </p:cNvSpPr>
          <p:nvPr>
            <p:ph type="body" idx="1"/>
          </p:nvPr>
        </p:nvSpPr>
        <p:spPr/>
        <p:txBody>
          <a:bodyPr/>
          <a:lstStyle/>
          <a:p>
            <a:r>
              <a:rPr lang="en-GB" dirty="0"/>
              <a:t>Now, let’s look at how well </a:t>
            </a:r>
            <a:r>
              <a:rPr lang="en-GB" dirty="0" err="1"/>
              <a:t>SimpleNet</a:t>
            </a:r>
            <a:r>
              <a:rPr lang="en-GB" dirty="0"/>
              <a:t> actually performs. In terms of detection, it achieves an impressive 99.6% AUROC—that’s a 55% error reduction compared to </a:t>
            </a:r>
            <a:r>
              <a:rPr lang="en-GB" dirty="0" err="1"/>
              <a:t>PatchCore</a:t>
            </a:r>
            <a:r>
              <a:rPr lang="en-GB" dirty="0"/>
              <a:t>, which is huge.</a:t>
            </a:r>
          </a:p>
          <a:p>
            <a:r>
              <a:rPr lang="en-GB" dirty="0"/>
              <a:t>For localization, it reaches 98.1% AUROC, giving very precise pixel-level maps of defects. This means it doesn’t just detect anomalies—it shows exactly where they are, which is super important for things like manufacturing or medical imaging.</a:t>
            </a:r>
          </a:p>
          <a:p>
            <a:r>
              <a:rPr lang="en-GB" dirty="0"/>
              <a:t>And it’s fast too! </a:t>
            </a:r>
            <a:r>
              <a:rPr lang="en-GB" dirty="0" err="1"/>
              <a:t>SimpleNet</a:t>
            </a:r>
            <a:r>
              <a:rPr lang="en-GB" dirty="0"/>
              <a:t> runs at 77 frames per second, about eight times faster than </a:t>
            </a:r>
            <a:r>
              <a:rPr lang="en-GB" dirty="0" err="1"/>
              <a:t>PatchCore</a:t>
            </a:r>
            <a:r>
              <a:rPr lang="en-GB" dirty="0"/>
              <a:t>, making it practical for real-time detection on the factory floor.</a:t>
            </a:r>
          </a:p>
          <a:p>
            <a:r>
              <a:rPr lang="en-GB" dirty="0"/>
              <a:t>On top of that, it performs best on 9 out of 15 </a:t>
            </a:r>
            <a:r>
              <a:rPr lang="en-GB" dirty="0" err="1"/>
              <a:t>MVTec</a:t>
            </a:r>
            <a:r>
              <a:rPr lang="en-GB" dirty="0"/>
              <a:t> categories, even hitting 100% accuracy for hazelnuts, metal nuts, and wood. So, it’s not just accurate and fast—it’s versatile across different types of anomalies.</a:t>
            </a:r>
          </a:p>
        </p:txBody>
      </p:sp>
      <p:sp>
        <p:nvSpPr>
          <p:cNvPr id="4" name="Slide Number Placeholder 3">
            <a:extLst>
              <a:ext uri="{FF2B5EF4-FFF2-40B4-BE49-F238E27FC236}">
                <a16:creationId xmlns:a16="http://schemas.microsoft.com/office/drawing/2014/main" id="{2D0A136E-00B5-4610-74FB-55E5952483B4}"/>
              </a:ext>
            </a:extLst>
          </p:cNvPr>
          <p:cNvSpPr>
            <a:spLocks noGrp="1"/>
          </p:cNvSpPr>
          <p:nvPr>
            <p:ph type="sldNum" sz="quarter" idx="5"/>
          </p:nvPr>
        </p:nvSpPr>
        <p:spPr/>
        <p:txBody>
          <a:bodyPr/>
          <a:lstStyle/>
          <a:p>
            <a:fld id="{629B2A93-174A-4C64-B3E0-1D838418FFAA}" type="slidenum">
              <a:rPr lang="en-GB" smtClean="0"/>
              <a:t>11</a:t>
            </a:fld>
            <a:endParaRPr lang="en-GB"/>
          </a:p>
        </p:txBody>
      </p:sp>
    </p:spTree>
    <p:extLst>
      <p:ext uri="{BB962C8B-B14F-4D97-AF65-F5344CB8AC3E}">
        <p14:creationId xmlns:p14="http://schemas.microsoft.com/office/powerpoint/2010/main" val="3463692456"/>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F08106F-3346-C024-83D9-4BA9B9A61ED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139E049-C067-F131-1F2E-754917E2D3BE}"/>
              </a:ext>
            </a:extLst>
          </p:cNvPr>
          <p:cNvSpPr>
            <a:spLocks noGrp="1" noRot="1" noChangeAspect="1"/>
          </p:cNvSpPr>
          <p:nvPr>
            <p:ph type="sldImg"/>
          </p:nvPr>
        </p:nvSpPr>
        <p:spPr/>
        <p:txBody>
          <a:bodyPr/>
          <a:lstStyle/>
          <a:p>
            <a:endParaRPr lang="en-GB"/>
          </a:p>
        </p:txBody>
      </p:sp>
      <p:sp>
        <p:nvSpPr>
          <p:cNvPr id="3" name="Notes Placeholder 2">
            <a:extLst>
              <a:ext uri="{FF2B5EF4-FFF2-40B4-BE49-F238E27FC236}">
                <a16:creationId xmlns:a16="http://schemas.microsoft.com/office/drawing/2014/main" id="{A6A7E53C-9AE2-4586-24D0-D34839666E52}"/>
              </a:ext>
            </a:extLst>
          </p:cNvPr>
          <p:cNvSpPr>
            <a:spLocks noGrp="1"/>
          </p:cNvSpPr>
          <p:nvPr>
            <p:ph type="body" idx="1"/>
          </p:nvPr>
        </p:nvSpPr>
        <p:spPr/>
        <p:txBody>
          <a:bodyPr/>
          <a:lstStyle/>
          <a:p>
            <a:r>
              <a:rPr lang="en-GB" dirty="0"/>
              <a:t>Following those results, let’s look at where </a:t>
            </a:r>
            <a:r>
              <a:rPr lang="en-GB" dirty="0" err="1"/>
              <a:t>SimpleNet</a:t>
            </a:r>
            <a:r>
              <a:rPr lang="en-GB" dirty="0"/>
              <a:t> can be applied. In manufacturing, it supports quality assurance by automatically detecting defects. It’s also perfect for real-time quality control systems, keeping production lines running smoothly. Plus, it’s adaptable across different product lines, so it can be used for a variety of factories.</a:t>
            </a:r>
          </a:p>
          <a:p>
            <a:endParaRPr lang="en-GB" dirty="0"/>
          </a:p>
          <a:p>
            <a:r>
              <a:rPr lang="en-GB" dirty="0"/>
              <a:t>There are a few technical considerations. </a:t>
            </a:r>
            <a:r>
              <a:rPr lang="en-GB" dirty="0" err="1"/>
              <a:t>SimpleNet</a:t>
            </a:r>
            <a:r>
              <a:rPr lang="en-GB" dirty="0"/>
              <a:t> requires per-category training, meaning a separate model for each product type. It relies on pre-trained features, which can introduce some domain bias, and it uses a fixed noise generation strategy, which could be improved for different kinds of anomalies."</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GB" i="1" dirty="0"/>
          </a:p>
        </p:txBody>
      </p:sp>
      <p:sp>
        <p:nvSpPr>
          <p:cNvPr id="4" name="Slide Number Placeholder 3">
            <a:extLst>
              <a:ext uri="{FF2B5EF4-FFF2-40B4-BE49-F238E27FC236}">
                <a16:creationId xmlns:a16="http://schemas.microsoft.com/office/drawing/2014/main" id="{FF295342-3F97-062B-3A2C-203C7FC0C4AF}"/>
              </a:ext>
            </a:extLst>
          </p:cNvPr>
          <p:cNvSpPr>
            <a:spLocks noGrp="1"/>
          </p:cNvSpPr>
          <p:nvPr>
            <p:ph type="sldNum" sz="quarter" idx="5"/>
          </p:nvPr>
        </p:nvSpPr>
        <p:spPr/>
        <p:txBody>
          <a:bodyPr/>
          <a:lstStyle/>
          <a:p>
            <a:fld id="{629B2A93-174A-4C64-B3E0-1D838418FFAA}" type="slidenum">
              <a:rPr lang="en-GB" smtClean="0"/>
              <a:t>12</a:t>
            </a:fld>
            <a:endParaRPr lang="en-GB"/>
          </a:p>
        </p:txBody>
      </p:sp>
    </p:spTree>
    <p:extLst>
      <p:ext uri="{BB962C8B-B14F-4D97-AF65-F5344CB8AC3E}">
        <p14:creationId xmlns:p14="http://schemas.microsoft.com/office/powerpoint/2010/main" val="1052882725"/>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EB78F44-63A6-CAB4-0388-6985EF7AC1D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6207457-DE4F-7C1D-B3F3-5CA1859B7C74}"/>
              </a:ext>
            </a:extLst>
          </p:cNvPr>
          <p:cNvSpPr>
            <a:spLocks noGrp="1" noRot="1" noChangeAspect="1"/>
          </p:cNvSpPr>
          <p:nvPr>
            <p:ph type="sldImg"/>
          </p:nvPr>
        </p:nvSpPr>
        <p:spPr/>
        <p:txBody>
          <a:bodyPr/>
          <a:lstStyle/>
          <a:p>
            <a:endParaRPr lang="en-GB"/>
          </a:p>
        </p:txBody>
      </p:sp>
      <p:sp>
        <p:nvSpPr>
          <p:cNvPr id="3" name="Notes Placeholder 2">
            <a:extLst>
              <a:ext uri="{FF2B5EF4-FFF2-40B4-BE49-F238E27FC236}">
                <a16:creationId xmlns:a16="http://schemas.microsoft.com/office/drawing/2014/main" id="{0C3AE96C-DBEA-4C5B-DF14-A478B5CA1EFE}"/>
              </a:ext>
            </a:extLst>
          </p:cNvPr>
          <p:cNvSpPr>
            <a:spLocks noGrp="1"/>
          </p:cNvSpPr>
          <p:nvPr>
            <p:ph type="body" idx="1"/>
          </p:nvPr>
        </p:nvSpPr>
        <p:spPr/>
        <p:txBody>
          <a:bodyPr/>
          <a:lstStyle/>
          <a:p>
            <a:r>
              <a:rPr lang="en-GB" dirty="0"/>
              <a:t>To wrap up, here are the key takeaways from </a:t>
            </a:r>
            <a:r>
              <a:rPr lang="en-GB" dirty="0" err="1"/>
              <a:t>SimpleNet</a:t>
            </a:r>
            <a:r>
              <a:rPr lang="en-GB" dirty="0"/>
              <a:t>. First, generating anomalies in the feature space works better than doing it in the image space. Second, adapting pre-trained models to the target domain is crucial for good performance. Third, </a:t>
            </a:r>
            <a:r>
              <a:rPr lang="en-GB" dirty="0" err="1"/>
              <a:t>SimpleNet</a:t>
            </a:r>
            <a:r>
              <a:rPr lang="en-GB" dirty="0"/>
              <a:t> shows that simplicity doesn’t mean sacrificing accuracy. And finally, it’s ready for industrial deployment today.</a:t>
            </a:r>
          </a:p>
          <a:p>
            <a:r>
              <a:rPr lang="en-GB" dirty="0"/>
              <a:t>Looking ahead, there’s exciting potential for future work—like multi-category learning, few-shot adaptation, and even multi-modal fusion. Thank you for listening!"</a:t>
            </a:r>
          </a:p>
          <a:p>
            <a:endParaRPr lang="en-GB" dirty="0"/>
          </a:p>
        </p:txBody>
      </p:sp>
      <p:sp>
        <p:nvSpPr>
          <p:cNvPr id="4" name="Slide Number Placeholder 3">
            <a:extLst>
              <a:ext uri="{FF2B5EF4-FFF2-40B4-BE49-F238E27FC236}">
                <a16:creationId xmlns:a16="http://schemas.microsoft.com/office/drawing/2014/main" id="{DA706371-B96E-58DE-1582-F163CA8839F5}"/>
              </a:ext>
            </a:extLst>
          </p:cNvPr>
          <p:cNvSpPr>
            <a:spLocks noGrp="1"/>
          </p:cNvSpPr>
          <p:nvPr>
            <p:ph type="sldNum" sz="quarter" idx="5"/>
          </p:nvPr>
        </p:nvSpPr>
        <p:spPr/>
        <p:txBody>
          <a:bodyPr/>
          <a:lstStyle/>
          <a:p>
            <a:fld id="{629B2A93-174A-4C64-B3E0-1D838418FFAA}" type="slidenum">
              <a:rPr lang="en-GB" smtClean="0"/>
              <a:t>13</a:t>
            </a:fld>
            <a:endParaRPr lang="en-GB"/>
          </a:p>
        </p:txBody>
      </p:sp>
    </p:spTree>
    <p:extLst>
      <p:ext uri="{BB962C8B-B14F-4D97-AF65-F5344CB8AC3E}">
        <p14:creationId xmlns:p14="http://schemas.microsoft.com/office/powerpoint/2010/main" val="663250967"/>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GB"/>
          </a:p>
        </p:txBody>
      </p:sp>
      <p:sp>
        <p:nvSpPr>
          <p:cNvPr id="3" name="Notes Placeholder 2"/>
          <p:cNvSpPr>
            <a:spLocks noGrp="1"/>
          </p:cNvSpPr>
          <p:nvPr>
            <p:ph type="body" idx="1"/>
          </p:nvPr>
        </p:nvSpPr>
        <p:spPr/>
        <p:txBody>
          <a:bodyPr/>
          <a:lstStyle/>
          <a:p>
            <a:r>
              <a:rPr lang="en-GB" dirty="0"/>
              <a:t>Thank you for your attention. For more information, you can visit my GitHub at https://github.com/puni-ram48/MADE-SS2024</a:t>
            </a:r>
          </a:p>
        </p:txBody>
      </p:sp>
      <p:sp>
        <p:nvSpPr>
          <p:cNvPr id="4" name="Slide Number Placeholder 3"/>
          <p:cNvSpPr>
            <a:spLocks noGrp="1"/>
          </p:cNvSpPr>
          <p:nvPr>
            <p:ph type="sldNum" sz="quarter" idx="5"/>
          </p:nvPr>
        </p:nvSpPr>
        <p:spPr/>
        <p:txBody>
          <a:bodyPr/>
          <a:lstStyle/>
          <a:p>
            <a:fld id="{629B2A93-174A-4C64-B3E0-1D838418FFAA}" type="slidenum">
              <a:rPr lang="en-GB" smtClean="0"/>
              <a:t>14</a:t>
            </a:fld>
            <a:endParaRPr lang="en-GB"/>
          </a:p>
        </p:txBody>
      </p:sp>
    </p:spTree>
    <p:extLst>
      <p:ext uri="{BB962C8B-B14F-4D97-AF65-F5344CB8AC3E}">
        <p14:creationId xmlns:p14="http://schemas.microsoft.com/office/powerpoint/2010/main" val="2398544180"/>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88E6DAC-21E9-CAFF-913A-3D2BB68C161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C7E817B-536E-F6C6-078E-A1C09EA6019F}"/>
              </a:ext>
            </a:extLst>
          </p:cNvPr>
          <p:cNvSpPr>
            <a:spLocks noGrp="1" noRot="1" noChangeAspect="1"/>
          </p:cNvSpPr>
          <p:nvPr>
            <p:ph type="sldImg"/>
          </p:nvPr>
        </p:nvSpPr>
        <p:spPr/>
        <p:txBody>
          <a:bodyPr/>
          <a:lstStyle/>
          <a:p>
            <a:endParaRPr lang="en-GB"/>
          </a:p>
        </p:txBody>
      </p:sp>
      <p:sp>
        <p:nvSpPr>
          <p:cNvPr id="3" name="Notes Placeholder 2">
            <a:extLst>
              <a:ext uri="{FF2B5EF4-FFF2-40B4-BE49-F238E27FC236}">
                <a16:creationId xmlns:a16="http://schemas.microsoft.com/office/drawing/2014/main" id="{3D36EAF0-590C-AB50-3B94-4F89546627E6}"/>
              </a:ext>
            </a:extLst>
          </p:cNvPr>
          <p:cNvSpPr>
            <a:spLocks noGrp="1"/>
          </p:cNvSpPr>
          <p:nvPr>
            <p:ph type="body" idx="1"/>
          </p:nvPr>
        </p:nvSpPr>
        <p:spPr/>
        <p:txBody>
          <a:bodyPr/>
          <a:lstStyle/>
          <a:p>
            <a:r>
              <a:rPr lang="en-GB" i="1" dirty="0"/>
              <a:t>Anomaly detection faces several challenges in real-world applications. First, reconstruction-based methods, like autoencoders, can sometimes “generalize” well enough to reconstruct anomalies, leading to false positives.</a:t>
            </a:r>
            <a:br>
              <a:rPr lang="en-GB" dirty="0"/>
            </a:br>
            <a:r>
              <a:rPr lang="en-GB" i="1" dirty="0"/>
              <a:t>Second, synthetic anomalies created in image space often don’t look realistic, making it harder to differentiate real defects from artificial ones.</a:t>
            </a:r>
            <a:br>
              <a:rPr lang="en-GB" dirty="0"/>
            </a:br>
            <a:r>
              <a:rPr lang="en-GB" i="1" dirty="0"/>
              <a:t>Third, features from ImageNet pre-trained models can introduce domain bias, especially in industrial settings, where the image distribution is different.</a:t>
            </a:r>
            <a:br>
              <a:rPr lang="en-GB" dirty="0"/>
            </a:br>
            <a:r>
              <a:rPr lang="en-GB" i="1" dirty="0"/>
              <a:t>Finally, many current anomaly detection models are computationally heavy, making real-time inference difficult.</a:t>
            </a:r>
          </a:p>
          <a:p>
            <a:endParaRPr lang="en-GB" i="1" dirty="0"/>
          </a:p>
          <a:p>
            <a:r>
              <a:rPr lang="en-GB" i="1" dirty="0" err="1"/>
              <a:t>SimpleNet</a:t>
            </a:r>
            <a:r>
              <a:rPr lang="en-GB" i="1" dirty="0"/>
              <a:t> addresses these issues by adapting pretrained features to match the target domain, generating anomalies directly in feature space to reduce the gap between real and fake defects, and using a simple yet powerful discriminator for fast and accurate detection.</a:t>
            </a:r>
            <a:br>
              <a:rPr lang="en-GB" dirty="0"/>
            </a:br>
            <a:r>
              <a:rPr lang="en-GB" i="1" dirty="0"/>
              <a:t>Furthermore, it extends its capabilities to One-Class Novelty Detection, proving its broader applicability beyond industrial inspection.</a:t>
            </a:r>
            <a:endParaRPr lang="en-GB" dirty="0"/>
          </a:p>
        </p:txBody>
      </p:sp>
      <p:sp>
        <p:nvSpPr>
          <p:cNvPr id="4" name="Slide Number Placeholder 3">
            <a:extLst>
              <a:ext uri="{FF2B5EF4-FFF2-40B4-BE49-F238E27FC236}">
                <a16:creationId xmlns:a16="http://schemas.microsoft.com/office/drawing/2014/main" id="{8DCD35E1-FE67-89AD-F3D0-0F880797B5F8}"/>
              </a:ext>
            </a:extLst>
          </p:cNvPr>
          <p:cNvSpPr>
            <a:spLocks noGrp="1"/>
          </p:cNvSpPr>
          <p:nvPr>
            <p:ph type="sldNum" sz="quarter" idx="5"/>
          </p:nvPr>
        </p:nvSpPr>
        <p:spPr/>
        <p:txBody>
          <a:bodyPr/>
          <a:lstStyle/>
          <a:p>
            <a:fld id="{629B2A93-174A-4C64-B3E0-1D838418FFAA}" type="slidenum">
              <a:rPr lang="en-GB" smtClean="0"/>
              <a:t>15</a:t>
            </a:fld>
            <a:endParaRPr lang="en-GB"/>
          </a:p>
        </p:txBody>
      </p:sp>
    </p:spTree>
    <p:extLst>
      <p:ext uri="{BB962C8B-B14F-4D97-AF65-F5344CB8AC3E}">
        <p14:creationId xmlns:p14="http://schemas.microsoft.com/office/powerpoint/2010/main" val="109934220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GB"/>
          </a:p>
        </p:txBody>
      </p:sp>
      <p:sp>
        <p:nvSpPr>
          <p:cNvPr id="3" name="Notes Placeholder 2"/>
          <p:cNvSpPr>
            <a:spLocks noGrp="1"/>
          </p:cNvSpPr>
          <p:nvPr>
            <p:ph type="body" idx="1"/>
          </p:nvPr>
        </p:nvSpPr>
        <p:spPr/>
        <p:txBody>
          <a:bodyPr/>
          <a:lstStyle/>
          <a:p>
            <a:r>
              <a:rPr lang="en-GB" i="1" dirty="0" err="1"/>
              <a:t>SimpleNet</a:t>
            </a:r>
            <a:r>
              <a:rPr lang="en-GB" i="1" dirty="0"/>
              <a:t> is a versatile framework for </a:t>
            </a:r>
            <a:r>
              <a:rPr lang="en-GB" b="1" i="1" dirty="0"/>
              <a:t>image-based anomaly detection</a:t>
            </a:r>
            <a:r>
              <a:rPr lang="en-GB" i="1" dirty="0"/>
              <a:t>, with impactful use cases across various industries.</a:t>
            </a:r>
            <a:br>
              <a:rPr lang="en-GB" dirty="0"/>
            </a:br>
            <a:r>
              <a:rPr lang="en-GB" i="1" dirty="0"/>
              <a:t>In </a:t>
            </a:r>
            <a:r>
              <a:rPr lang="en-GB" b="1" i="1" dirty="0"/>
              <a:t>manufacturing</a:t>
            </a:r>
            <a:r>
              <a:rPr lang="en-GB" i="1" dirty="0"/>
              <a:t>, it identifies </a:t>
            </a:r>
            <a:r>
              <a:rPr lang="en-GB" b="1" i="1" dirty="0"/>
              <a:t>subtle defects</a:t>
            </a:r>
            <a:r>
              <a:rPr lang="en-GB" i="1" dirty="0"/>
              <a:t> such as </a:t>
            </a:r>
            <a:r>
              <a:rPr lang="en-GB" b="1" i="1" dirty="0"/>
              <a:t>micro-cracks</a:t>
            </a:r>
            <a:r>
              <a:rPr lang="en-GB" i="1" dirty="0"/>
              <a:t> on </a:t>
            </a:r>
            <a:r>
              <a:rPr lang="en-GB" b="1" i="1" dirty="0"/>
              <a:t>metal parts</a:t>
            </a:r>
            <a:r>
              <a:rPr lang="en-GB" i="1" dirty="0"/>
              <a:t> and </a:t>
            </a:r>
            <a:r>
              <a:rPr lang="en-GB" b="1" i="1" dirty="0"/>
              <a:t>surface imperfections</a:t>
            </a:r>
            <a:r>
              <a:rPr lang="en-GB" i="1" dirty="0"/>
              <a:t> in </a:t>
            </a:r>
            <a:r>
              <a:rPr lang="en-GB" b="1" i="1" dirty="0"/>
              <a:t>automotive components</a:t>
            </a:r>
            <a:r>
              <a:rPr lang="en-GB" i="1" dirty="0"/>
              <a:t> or </a:t>
            </a:r>
            <a:r>
              <a:rPr lang="en-GB" b="1" i="1" dirty="0"/>
              <a:t>electronics</a:t>
            </a:r>
            <a:r>
              <a:rPr lang="en-GB" i="1" dirty="0"/>
              <a:t>. This ensures </a:t>
            </a:r>
            <a:r>
              <a:rPr lang="en-GB" b="1" i="1" dirty="0"/>
              <a:t>real-time quality control</a:t>
            </a:r>
            <a:r>
              <a:rPr lang="en-GB" i="1" dirty="0"/>
              <a:t> and improves product reliability.</a:t>
            </a:r>
            <a:br>
              <a:rPr lang="en-GB" dirty="0"/>
            </a:br>
            <a:r>
              <a:rPr lang="en-GB" i="1" dirty="0"/>
              <a:t>In </a:t>
            </a:r>
            <a:r>
              <a:rPr lang="en-GB" b="1" i="1" dirty="0"/>
              <a:t>healthcare imaging</a:t>
            </a:r>
            <a:r>
              <a:rPr lang="en-GB" i="1" dirty="0"/>
              <a:t>, </a:t>
            </a:r>
            <a:r>
              <a:rPr lang="en-GB" b="1" i="1" dirty="0" err="1"/>
              <a:t>SimpleNet</a:t>
            </a:r>
            <a:r>
              <a:rPr lang="en-GB" i="1" dirty="0"/>
              <a:t> plays a crucial role in </a:t>
            </a:r>
            <a:r>
              <a:rPr lang="en-GB" b="1" i="1" dirty="0"/>
              <a:t>early detection</a:t>
            </a:r>
            <a:r>
              <a:rPr lang="en-GB" i="1" dirty="0"/>
              <a:t> of </a:t>
            </a:r>
            <a:r>
              <a:rPr lang="en-GB" b="1" i="1" dirty="0"/>
              <a:t>tumors</a:t>
            </a:r>
            <a:r>
              <a:rPr lang="en-GB" i="1" dirty="0"/>
              <a:t> in </a:t>
            </a:r>
            <a:r>
              <a:rPr lang="en-GB" b="1" i="1" dirty="0"/>
              <a:t>mammograms</a:t>
            </a:r>
            <a:r>
              <a:rPr lang="en-GB" i="1" dirty="0"/>
              <a:t> and </a:t>
            </a:r>
            <a:r>
              <a:rPr lang="en-GB" b="1" i="1" dirty="0"/>
              <a:t>lung nodules</a:t>
            </a:r>
            <a:r>
              <a:rPr lang="en-GB" i="1" dirty="0"/>
              <a:t> in </a:t>
            </a:r>
            <a:r>
              <a:rPr lang="en-GB" b="1" i="1" dirty="0"/>
              <a:t>X-rays</a:t>
            </a:r>
            <a:r>
              <a:rPr lang="en-GB" i="1" dirty="0"/>
              <a:t>, providing </a:t>
            </a:r>
            <a:r>
              <a:rPr lang="en-GB" b="1" i="1" dirty="0"/>
              <a:t>life-saving insights</a:t>
            </a:r>
            <a:r>
              <a:rPr lang="en-GB" i="1" dirty="0"/>
              <a:t> for radiologists.</a:t>
            </a:r>
            <a:br>
              <a:rPr lang="en-GB" dirty="0"/>
            </a:br>
            <a:r>
              <a:rPr lang="en-GB" i="1" dirty="0"/>
              <a:t>In </a:t>
            </a:r>
            <a:r>
              <a:rPr lang="en-GB" b="1" i="1" dirty="0"/>
              <a:t>retail and consumer goods</a:t>
            </a:r>
            <a:r>
              <a:rPr lang="en-GB" i="1" dirty="0"/>
              <a:t>, it is applied to detect </a:t>
            </a:r>
            <a:r>
              <a:rPr lang="en-GB" b="1" i="1" dirty="0"/>
              <a:t>defective products</a:t>
            </a:r>
            <a:r>
              <a:rPr lang="en-GB" i="1" dirty="0"/>
              <a:t> and </a:t>
            </a:r>
            <a:r>
              <a:rPr lang="en-GB" b="1" i="1" dirty="0"/>
              <a:t>packaging errors</a:t>
            </a:r>
            <a:r>
              <a:rPr lang="en-GB" i="1" dirty="0"/>
              <a:t>, ensuring </a:t>
            </a:r>
            <a:r>
              <a:rPr lang="en-GB" b="1" i="1" dirty="0"/>
              <a:t>quality assurance</a:t>
            </a:r>
            <a:r>
              <a:rPr lang="en-GB" i="1" dirty="0"/>
              <a:t> across industries, from </a:t>
            </a:r>
            <a:r>
              <a:rPr lang="en-GB" b="1" i="1" dirty="0"/>
              <a:t>electronics</a:t>
            </a:r>
            <a:r>
              <a:rPr lang="en-GB" i="1" dirty="0"/>
              <a:t> to </a:t>
            </a:r>
            <a:r>
              <a:rPr lang="en-GB" b="1" i="1" dirty="0"/>
              <a:t>food packaging</a:t>
            </a:r>
            <a:r>
              <a:rPr lang="en-GB" i="1" dirty="0"/>
              <a:t>.</a:t>
            </a:r>
            <a:br>
              <a:rPr lang="en-GB" dirty="0"/>
            </a:br>
            <a:r>
              <a:rPr lang="en-GB" i="1" dirty="0"/>
              <a:t>Lastly, in </a:t>
            </a:r>
            <a:r>
              <a:rPr lang="en-GB" b="1" i="1" dirty="0"/>
              <a:t>security and surveillance</a:t>
            </a:r>
            <a:r>
              <a:rPr lang="en-GB" i="1" dirty="0"/>
              <a:t>, </a:t>
            </a:r>
            <a:r>
              <a:rPr lang="en-GB" b="1" i="1" dirty="0" err="1"/>
              <a:t>SimpleNet</a:t>
            </a:r>
            <a:r>
              <a:rPr lang="en-GB" i="1" dirty="0"/>
              <a:t> </a:t>
            </a:r>
            <a:r>
              <a:rPr lang="en-GB" i="1" dirty="0" err="1"/>
              <a:t>analyzes</a:t>
            </a:r>
            <a:r>
              <a:rPr lang="en-GB" i="1" dirty="0"/>
              <a:t> </a:t>
            </a:r>
            <a:r>
              <a:rPr lang="en-GB" b="1" i="1" dirty="0"/>
              <a:t>video footage</a:t>
            </a:r>
            <a:r>
              <a:rPr lang="en-GB" i="1" dirty="0"/>
              <a:t> to detect </a:t>
            </a:r>
            <a:r>
              <a:rPr lang="en-GB" b="1" i="1" dirty="0"/>
              <a:t>anomalous </a:t>
            </a:r>
            <a:r>
              <a:rPr lang="en-GB" b="1" i="1" dirty="0" err="1"/>
              <a:t>behaviors</a:t>
            </a:r>
            <a:r>
              <a:rPr lang="en-GB" i="1" dirty="0"/>
              <a:t>, such as </a:t>
            </a:r>
            <a:r>
              <a:rPr lang="en-GB" b="1" i="1" dirty="0"/>
              <a:t>unauthorized access</a:t>
            </a:r>
            <a:r>
              <a:rPr lang="en-GB" i="1" dirty="0"/>
              <a:t> in restricted areas, providing </a:t>
            </a:r>
            <a:r>
              <a:rPr lang="en-GB" b="1" i="1" dirty="0"/>
              <a:t>enhanced security</a:t>
            </a:r>
            <a:r>
              <a:rPr lang="en-GB" i="1" dirty="0"/>
              <a:t> in critical environments.”</a:t>
            </a:r>
            <a:br>
              <a:rPr lang="en-GB" dirty="0"/>
            </a:br>
            <a:r>
              <a:rPr lang="en-GB" i="1" dirty="0"/>
              <a:t>“These applications highlight the power of </a:t>
            </a:r>
            <a:r>
              <a:rPr lang="en-GB" b="1" i="1" dirty="0" err="1"/>
              <a:t>SimpleNet</a:t>
            </a:r>
            <a:r>
              <a:rPr lang="en-GB" i="1" dirty="0"/>
              <a:t> to solve </a:t>
            </a:r>
            <a:r>
              <a:rPr lang="en-GB" b="1" i="1" dirty="0"/>
              <a:t>real-world problems</a:t>
            </a:r>
            <a:r>
              <a:rPr lang="en-GB" i="1" dirty="0"/>
              <a:t> with </a:t>
            </a:r>
            <a:r>
              <a:rPr lang="en-GB" b="1" i="1" dirty="0"/>
              <a:t>high accuracy</a:t>
            </a:r>
            <a:r>
              <a:rPr lang="en-GB" i="1" dirty="0"/>
              <a:t> and </a:t>
            </a:r>
            <a:r>
              <a:rPr lang="en-GB" b="1" i="1" dirty="0"/>
              <a:t>real-time performance</a:t>
            </a:r>
            <a:r>
              <a:rPr lang="en-GB" i="1" dirty="0"/>
              <a:t>.”</a:t>
            </a:r>
          </a:p>
          <a:p>
            <a:endParaRPr lang="en-GB" i="1" dirty="0"/>
          </a:p>
          <a:p>
            <a:r>
              <a:rPr lang="en-GB" i="1" dirty="0"/>
              <a:t>###closing statement: </a:t>
            </a:r>
            <a:r>
              <a:rPr lang="en-GB" dirty="0"/>
              <a:t>From detecting defects to defending data — anomaly detection safeguards every domain.</a:t>
            </a:r>
          </a:p>
        </p:txBody>
      </p:sp>
      <p:sp>
        <p:nvSpPr>
          <p:cNvPr id="4" name="Slide Number Placeholder 3"/>
          <p:cNvSpPr>
            <a:spLocks noGrp="1"/>
          </p:cNvSpPr>
          <p:nvPr>
            <p:ph type="sldNum" sz="quarter" idx="5"/>
          </p:nvPr>
        </p:nvSpPr>
        <p:spPr/>
        <p:txBody>
          <a:bodyPr/>
          <a:lstStyle/>
          <a:p>
            <a:fld id="{629B2A93-174A-4C64-B3E0-1D838418FFAA}" type="slidenum">
              <a:rPr lang="en-GB" smtClean="0"/>
              <a:t>16</a:t>
            </a:fld>
            <a:endParaRPr lang="en-GB"/>
          </a:p>
        </p:txBody>
      </p:sp>
    </p:spTree>
    <p:extLst>
      <p:ext uri="{BB962C8B-B14F-4D97-AF65-F5344CB8AC3E}">
        <p14:creationId xmlns:p14="http://schemas.microsoft.com/office/powerpoint/2010/main" val="59905495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pPr/>
              <a:t>1/13/2026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1/13/2026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1/13/2026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pPr/>
              <a:t>1/13/2026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pPr/>
              <a:t>1/13/2026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pPr/>
              <a:t>1/13/2026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1/13/2026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1/13/2026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1/13/2026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1/13/2026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1/13/2026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dirty="0"/>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1/13/2026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Segoe UI Semibold" panose="020B0702040204020203" pitchFamily="34" charset="0"/>
          <a:ea typeface="+mj-ea"/>
          <a:cs typeface="Segoe UI Semibold" panose="020B0702040204020203" pitchFamily="34" charset="0"/>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Segoe UI" panose="020B0502040204020203" pitchFamily="34" charset="0"/>
          <a:ea typeface="+mn-ea"/>
          <a:cs typeface="Segoe UI" panose="020B0502040204020203" pitchFamily="34" charset="0"/>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xml"/><Relationship Id="rId1" Type="http://schemas.openxmlformats.org/officeDocument/2006/relationships/slideLayout" Target="../slideLayouts/slideLayout7.xml"/><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2.xml"/><Relationship Id="rId1" Type="http://schemas.openxmlformats.org/officeDocument/2006/relationships/slideLayout" Target="../slideLayouts/slideLayout7.xml"/><Relationship Id="rId6" Type="http://schemas.openxmlformats.org/officeDocument/2006/relationships/image" Target="../media/image4.svg"/><Relationship Id="rId5" Type="http://schemas.openxmlformats.org/officeDocument/2006/relationships/image" Target="../media/image3.png"/><Relationship Id="rId4" Type="http://schemas.openxmlformats.org/officeDocument/2006/relationships/image" Target="../media/image2.png"/></Relationships>
</file>

<file path=ppt/slides/_rels/slide3.xml.rels><?xml version="1.0" encoding="UTF-8" standalone="yes"?>
<Relationships xmlns="http://schemas.openxmlformats.org/package/2006/relationships"><Relationship Id="rId8" Type="http://schemas.openxmlformats.org/officeDocument/2006/relationships/image" Target="../media/image6.png"/><Relationship Id="rId3" Type="http://schemas.openxmlformats.org/officeDocument/2006/relationships/notesSlide" Target="../notesSlides/notesSlide3.xml"/><Relationship Id="rId7" Type="http://schemas.microsoft.com/office/2007/relationships/hdphoto" Target="../media/hdphoto1.wdp"/><Relationship Id="rId2" Type="http://schemas.openxmlformats.org/officeDocument/2006/relationships/slideLayout" Target="../slideLayouts/slideLayout7.xml"/><Relationship Id="rId1" Type="http://schemas.openxmlformats.org/officeDocument/2006/relationships/tags" Target="../tags/tag1.xml"/><Relationship Id="rId6" Type="http://schemas.openxmlformats.org/officeDocument/2006/relationships/image" Target="../media/image5.png"/><Relationship Id="rId5" Type="http://schemas.openxmlformats.org/officeDocument/2006/relationships/image" Target="../media/image2.png"/><Relationship Id="rId4" Type="http://schemas.openxmlformats.org/officeDocument/2006/relationships/image" Target="../media/image1.jpeg"/><Relationship Id="rId9" Type="http://schemas.openxmlformats.org/officeDocument/2006/relationships/image" Target="../media/image7.png"/></Relationships>
</file>

<file path=ppt/slides/_rels/slide4.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4.xml"/><Relationship Id="rId1" Type="http://schemas.openxmlformats.org/officeDocument/2006/relationships/slideLayout" Target="../slideLayouts/slideLayout7.xml"/><Relationship Id="rId6" Type="http://schemas.openxmlformats.org/officeDocument/2006/relationships/image" Target="../media/image9.png"/><Relationship Id="rId5" Type="http://schemas.openxmlformats.org/officeDocument/2006/relationships/image" Target="../media/image8.png"/><Relationship Id="rId4" Type="http://schemas.openxmlformats.org/officeDocument/2006/relationships/image" Target="../media/image2.png"/></Relationships>
</file>

<file path=ppt/slides/_rels/slide5.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5.xml"/><Relationship Id="rId1" Type="http://schemas.openxmlformats.org/officeDocument/2006/relationships/slideLayout" Target="../slideLayouts/slideLayout7.xml"/><Relationship Id="rId4" Type="http://schemas.openxmlformats.org/officeDocument/2006/relationships/image" Target="../media/image2.png"/></Relationships>
</file>

<file path=ppt/slides/_rels/slide6.xml.rels><?xml version="1.0" encoding="UTF-8" standalone="yes"?>
<Relationships xmlns="http://schemas.openxmlformats.org/package/2006/relationships"><Relationship Id="rId8" Type="http://schemas.openxmlformats.org/officeDocument/2006/relationships/image" Target="../media/image13.png"/><Relationship Id="rId13" Type="http://schemas.openxmlformats.org/officeDocument/2006/relationships/image" Target="../media/image18.png"/><Relationship Id="rId3" Type="http://schemas.openxmlformats.org/officeDocument/2006/relationships/image" Target="../media/image1.jpeg"/><Relationship Id="rId7" Type="http://schemas.openxmlformats.org/officeDocument/2006/relationships/image" Target="../media/image12.png"/><Relationship Id="rId12" Type="http://schemas.openxmlformats.org/officeDocument/2006/relationships/image" Target="../media/image17.png"/><Relationship Id="rId2" Type="http://schemas.openxmlformats.org/officeDocument/2006/relationships/notesSlide" Target="../notesSlides/notesSlide6.xml"/><Relationship Id="rId1" Type="http://schemas.openxmlformats.org/officeDocument/2006/relationships/slideLayout" Target="../slideLayouts/slideLayout7.xml"/><Relationship Id="rId6" Type="http://schemas.openxmlformats.org/officeDocument/2006/relationships/image" Target="../media/image11.png"/><Relationship Id="rId11" Type="http://schemas.openxmlformats.org/officeDocument/2006/relationships/image" Target="../media/image16.png"/><Relationship Id="rId5" Type="http://schemas.openxmlformats.org/officeDocument/2006/relationships/image" Target="../media/image10.png"/><Relationship Id="rId10" Type="http://schemas.openxmlformats.org/officeDocument/2006/relationships/image" Target="../media/image15.png"/><Relationship Id="rId4" Type="http://schemas.openxmlformats.org/officeDocument/2006/relationships/image" Target="../media/image2.png"/><Relationship Id="rId9" Type="http://schemas.openxmlformats.org/officeDocument/2006/relationships/image" Target="../media/image14.png"/></Relationships>
</file>

<file path=ppt/slides/_rels/slide7.xml.rels><?xml version="1.0" encoding="UTF-8" standalone="yes"?>
<Relationships xmlns="http://schemas.openxmlformats.org/package/2006/relationships"><Relationship Id="rId8" Type="http://schemas.openxmlformats.org/officeDocument/2006/relationships/image" Target="../media/image21.png"/><Relationship Id="rId3" Type="http://schemas.openxmlformats.org/officeDocument/2006/relationships/image" Target="../media/image1.jpeg"/><Relationship Id="rId7" Type="http://schemas.openxmlformats.org/officeDocument/2006/relationships/image" Target="../media/image20.png"/><Relationship Id="rId2" Type="http://schemas.openxmlformats.org/officeDocument/2006/relationships/notesSlide" Target="../notesSlides/notesSlide7.xml"/><Relationship Id="rId1" Type="http://schemas.openxmlformats.org/officeDocument/2006/relationships/slideLayout" Target="../slideLayouts/slideLayout7.xml"/><Relationship Id="rId6" Type="http://schemas.microsoft.com/office/2007/relationships/hdphoto" Target="../media/hdphoto2.wdp"/><Relationship Id="rId11" Type="http://schemas.openxmlformats.org/officeDocument/2006/relationships/image" Target="../media/image24.png"/><Relationship Id="rId5" Type="http://schemas.openxmlformats.org/officeDocument/2006/relationships/image" Target="../media/image19.png"/><Relationship Id="rId10" Type="http://schemas.openxmlformats.org/officeDocument/2006/relationships/image" Target="../media/image23.png"/><Relationship Id="rId4" Type="http://schemas.openxmlformats.org/officeDocument/2006/relationships/image" Target="../media/image2.png"/><Relationship Id="rId9" Type="http://schemas.openxmlformats.org/officeDocument/2006/relationships/image" Target="../media/image22.png"/></Relationships>
</file>

<file path=ppt/slides/_rels/slide8.xml.rels><?xml version="1.0" encoding="UTF-8" standalone="yes"?>
<Relationships xmlns="http://schemas.openxmlformats.org/package/2006/relationships"><Relationship Id="rId3" Type="http://schemas.openxmlformats.org/officeDocument/2006/relationships/image" Target="../media/image1.jpeg"/><Relationship Id="rId7" Type="http://schemas.openxmlformats.org/officeDocument/2006/relationships/image" Target="../media/image27.jpeg"/><Relationship Id="rId2" Type="http://schemas.openxmlformats.org/officeDocument/2006/relationships/notesSlide" Target="../notesSlides/notesSlide8.xml"/><Relationship Id="rId1" Type="http://schemas.openxmlformats.org/officeDocument/2006/relationships/slideLayout" Target="../slideLayouts/slideLayout7.xml"/><Relationship Id="rId6" Type="http://schemas.openxmlformats.org/officeDocument/2006/relationships/image" Target="../media/image26.jpeg"/><Relationship Id="rId5" Type="http://schemas.openxmlformats.org/officeDocument/2006/relationships/image" Target="../media/image25.png"/><Relationship Id="rId4" Type="http://schemas.openxmlformats.org/officeDocument/2006/relationships/image" Target="../media/image2.png"/></Relationships>
</file>

<file path=ppt/slides/_rels/slide9.xml.rels><?xml version="1.0" encoding="UTF-8" standalone="yes"?>
<Relationships xmlns="http://schemas.openxmlformats.org/package/2006/relationships"><Relationship Id="rId8" Type="http://schemas.openxmlformats.org/officeDocument/2006/relationships/image" Target="../media/image31.png"/><Relationship Id="rId3" Type="http://schemas.openxmlformats.org/officeDocument/2006/relationships/image" Target="../media/image1.jpeg"/><Relationship Id="rId7" Type="http://schemas.openxmlformats.org/officeDocument/2006/relationships/image" Target="../media/image30.png"/><Relationship Id="rId2" Type="http://schemas.openxmlformats.org/officeDocument/2006/relationships/notesSlide" Target="../notesSlides/notesSlide9.xml"/><Relationship Id="rId1" Type="http://schemas.openxmlformats.org/officeDocument/2006/relationships/slideLayout" Target="../slideLayouts/slideLayout7.xml"/><Relationship Id="rId6" Type="http://schemas.openxmlformats.org/officeDocument/2006/relationships/image" Target="../media/image29.png"/><Relationship Id="rId5" Type="http://schemas.openxmlformats.org/officeDocument/2006/relationships/image" Target="../media/image28.png"/><Relationship Id="rId4" Type="http://schemas.openxmlformats.org/officeDocument/2006/relationships/image" Target="../media/image2.png"/></Relationships>
</file>

<file path=ppt/slides/_rels/slide10.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0.xml"/><Relationship Id="rId1" Type="http://schemas.openxmlformats.org/officeDocument/2006/relationships/slideLayout" Target="../slideLayouts/slideLayout7.xml"/><Relationship Id="rId6" Type="http://schemas.openxmlformats.org/officeDocument/2006/relationships/image" Target="../media/image33.png"/><Relationship Id="rId5" Type="http://schemas.openxmlformats.org/officeDocument/2006/relationships/image" Target="../media/image32.png"/><Relationship Id="rId4" Type="http://schemas.openxmlformats.org/officeDocument/2006/relationships/image" Target="../media/image2.png"/></Relationships>
</file>

<file path=ppt/slides/_rels/slide11.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1.xml"/><Relationship Id="rId1" Type="http://schemas.openxmlformats.org/officeDocument/2006/relationships/slideLayout" Target="../slideLayouts/slideLayout7.xml"/><Relationship Id="rId4" Type="http://schemas.openxmlformats.org/officeDocument/2006/relationships/image" Target="../media/image2.png"/></Relationships>
</file>

<file path=ppt/slides/_rels/slide12.xml.rels><?xml version="1.0" encoding="UTF-8" standalone="yes"?>
<Relationships xmlns="http://schemas.openxmlformats.org/package/2006/relationships"><Relationship Id="rId8" Type="http://schemas.openxmlformats.org/officeDocument/2006/relationships/image" Target="../media/image37.svg"/><Relationship Id="rId13" Type="http://schemas.openxmlformats.org/officeDocument/2006/relationships/image" Target="../media/image42.png"/><Relationship Id="rId3" Type="http://schemas.openxmlformats.org/officeDocument/2006/relationships/image" Target="../media/image1.jpeg"/><Relationship Id="rId7" Type="http://schemas.openxmlformats.org/officeDocument/2006/relationships/image" Target="../media/image36.png"/><Relationship Id="rId12" Type="http://schemas.openxmlformats.org/officeDocument/2006/relationships/image" Target="../media/image41.svg"/><Relationship Id="rId2" Type="http://schemas.openxmlformats.org/officeDocument/2006/relationships/notesSlide" Target="../notesSlides/notesSlide12.xml"/><Relationship Id="rId16" Type="http://schemas.openxmlformats.org/officeDocument/2006/relationships/image" Target="../media/image45.svg"/><Relationship Id="rId1" Type="http://schemas.openxmlformats.org/officeDocument/2006/relationships/slideLayout" Target="../slideLayouts/slideLayout7.xml"/><Relationship Id="rId6" Type="http://schemas.openxmlformats.org/officeDocument/2006/relationships/image" Target="../media/image35.svg"/><Relationship Id="rId11" Type="http://schemas.openxmlformats.org/officeDocument/2006/relationships/image" Target="../media/image40.png"/><Relationship Id="rId5" Type="http://schemas.openxmlformats.org/officeDocument/2006/relationships/image" Target="../media/image34.png"/><Relationship Id="rId15" Type="http://schemas.openxmlformats.org/officeDocument/2006/relationships/image" Target="../media/image44.png"/><Relationship Id="rId10" Type="http://schemas.openxmlformats.org/officeDocument/2006/relationships/image" Target="../media/image39.svg"/><Relationship Id="rId4" Type="http://schemas.openxmlformats.org/officeDocument/2006/relationships/image" Target="../media/image2.png"/><Relationship Id="rId9" Type="http://schemas.openxmlformats.org/officeDocument/2006/relationships/image" Target="../media/image38.png"/><Relationship Id="rId14" Type="http://schemas.openxmlformats.org/officeDocument/2006/relationships/image" Target="../media/image43.svg"/></Relationships>
</file>

<file path=ppt/slides/_rels/slide13.xml.rels><?xml version="1.0" encoding="UTF-8" standalone="yes"?>
<Relationships xmlns="http://schemas.openxmlformats.org/package/2006/relationships"><Relationship Id="rId8" Type="http://schemas.openxmlformats.org/officeDocument/2006/relationships/diagramColors" Target="../diagrams/colors1.xml"/><Relationship Id="rId3" Type="http://schemas.openxmlformats.org/officeDocument/2006/relationships/image" Target="../media/image1.jpeg"/><Relationship Id="rId7" Type="http://schemas.openxmlformats.org/officeDocument/2006/relationships/diagramQuickStyle" Target="../diagrams/quickStyle1.xml"/><Relationship Id="rId2" Type="http://schemas.openxmlformats.org/officeDocument/2006/relationships/notesSlide" Target="../notesSlides/notesSlide13.xml"/><Relationship Id="rId1" Type="http://schemas.openxmlformats.org/officeDocument/2006/relationships/slideLayout" Target="../slideLayouts/slideLayout7.xml"/><Relationship Id="rId6" Type="http://schemas.openxmlformats.org/officeDocument/2006/relationships/diagramLayout" Target="../diagrams/layout1.xml"/><Relationship Id="rId5" Type="http://schemas.openxmlformats.org/officeDocument/2006/relationships/diagramData" Target="../diagrams/data1.xml"/><Relationship Id="rId4" Type="http://schemas.openxmlformats.org/officeDocument/2006/relationships/image" Target="../media/image2.png"/><Relationship Id="rId9" Type="http://schemas.microsoft.com/office/2007/relationships/diagramDrawing" Target="../diagrams/drawing1.xml"/></Relationships>
</file>

<file path=ppt/slides/_rels/slide14.xml.rels><?xml version="1.0" encoding="UTF-8" standalone="yes"?>
<Relationships xmlns="http://schemas.openxmlformats.org/package/2006/relationships"><Relationship Id="rId3" Type="http://schemas.openxmlformats.org/officeDocument/2006/relationships/image" Target="../media/image1.jpeg"/><Relationship Id="rId7" Type="http://schemas.openxmlformats.org/officeDocument/2006/relationships/image" Target="../media/image49.svg"/><Relationship Id="rId2" Type="http://schemas.openxmlformats.org/officeDocument/2006/relationships/notesSlide" Target="../notesSlides/notesSlide14.xml"/><Relationship Id="rId1" Type="http://schemas.openxmlformats.org/officeDocument/2006/relationships/slideLayout" Target="../slideLayouts/slideLayout7.xml"/><Relationship Id="rId6" Type="http://schemas.openxmlformats.org/officeDocument/2006/relationships/image" Target="../media/image48.png"/><Relationship Id="rId5" Type="http://schemas.openxmlformats.org/officeDocument/2006/relationships/image" Target="../media/image47.svg"/><Relationship Id="rId4" Type="http://schemas.openxmlformats.org/officeDocument/2006/relationships/image" Target="../media/image46.png"/></Relationships>
</file>

<file path=ppt/slides/_rels/slide15.xml.rels><?xml version="1.0" encoding="UTF-8" standalone="yes"?>
<Relationships xmlns="http://schemas.openxmlformats.org/package/2006/relationships"><Relationship Id="rId8" Type="http://schemas.openxmlformats.org/officeDocument/2006/relationships/image" Target="../media/image53.svg"/><Relationship Id="rId13" Type="http://schemas.openxmlformats.org/officeDocument/2006/relationships/image" Target="../media/image58.png"/><Relationship Id="rId18" Type="http://schemas.openxmlformats.org/officeDocument/2006/relationships/image" Target="../media/image63.svg"/><Relationship Id="rId3" Type="http://schemas.openxmlformats.org/officeDocument/2006/relationships/image" Target="../media/image1.jpeg"/><Relationship Id="rId7" Type="http://schemas.openxmlformats.org/officeDocument/2006/relationships/image" Target="../media/image52.png"/><Relationship Id="rId12" Type="http://schemas.openxmlformats.org/officeDocument/2006/relationships/image" Target="../media/image57.svg"/><Relationship Id="rId17" Type="http://schemas.openxmlformats.org/officeDocument/2006/relationships/image" Target="../media/image62.png"/><Relationship Id="rId2" Type="http://schemas.openxmlformats.org/officeDocument/2006/relationships/notesSlide" Target="../notesSlides/notesSlide15.xml"/><Relationship Id="rId16" Type="http://schemas.openxmlformats.org/officeDocument/2006/relationships/image" Target="../media/image61.svg"/><Relationship Id="rId20" Type="http://schemas.openxmlformats.org/officeDocument/2006/relationships/image" Target="../media/image65.svg"/><Relationship Id="rId1" Type="http://schemas.openxmlformats.org/officeDocument/2006/relationships/slideLayout" Target="../slideLayouts/slideLayout7.xml"/><Relationship Id="rId6" Type="http://schemas.openxmlformats.org/officeDocument/2006/relationships/image" Target="../media/image51.svg"/><Relationship Id="rId11" Type="http://schemas.openxmlformats.org/officeDocument/2006/relationships/image" Target="../media/image56.png"/><Relationship Id="rId5" Type="http://schemas.openxmlformats.org/officeDocument/2006/relationships/image" Target="../media/image50.png"/><Relationship Id="rId15" Type="http://schemas.openxmlformats.org/officeDocument/2006/relationships/image" Target="../media/image60.png"/><Relationship Id="rId10" Type="http://schemas.openxmlformats.org/officeDocument/2006/relationships/image" Target="../media/image55.svg"/><Relationship Id="rId19" Type="http://schemas.openxmlformats.org/officeDocument/2006/relationships/image" Target="../media/image64.png"/><Relationship Id="rId4" Type="http://schemas.openxmlformats.org/officeDocument/2006/relationships/image" Target="../media/image2.png"/><Relationship Id="rId9" Type="http://schemas.openxmlformats.org/officeDocument/2006/relationships/image" Target="../media/image54.png"/><Relationship Id="rId14" Type="http://schemas.openxmlformats.org/officeDocument/2006/relationships/image" Target="../media/image59.svg"/></Relationships>
</file>

<file path=ppt/slides/_rels/slide16.xml.rels><?xml version="1.0" encoding="UTF-8" standalone="yes"?>
<Relationships xmlns="http://schemas.openxmlformats.org/package/2006/relationships"><Relationship Id="rId8" Type="http://schemas.openxmlformats.org/officeDocument/2006/relationships/image" Target="../media/image35.svg"/><Relationship Id="rId3" Type="http://schemas.openxmlformats.org/officeDocument/2006/relationships/image" Target="../media/image1.jpeg"/><Relationship Id="rId7" Type="http://schemas.openxmlformats.org/officeDocument/2006/relationships/image" Target="../media/image34.png"/><Relationship Id="rId12" Type="http://schemas.openxmlformats.org/officeDocument/2006/relationships/image" Target="../media/image71.svg"/><Relationship Id="rId2" Type="http://schemas.openxmlformats.org/officeDocument/2006/relationships/notesSlide" Target="../notesSlides/notesSlide16.xml"/><Relationship Id="rId1" Type="http://schemas.openxmlformats.org/officeDocument/2006/relationships/slideLayout" Target="../slideLayouts/slideLayout7.xml"/><Relationship Id="rId6" Type="http://schemas.openxmlformats.org/officeDocument/2006/relationships/image" Target="../media/image67.svg"/><Relationship Id="rId11" Type="http://schemas.openxmlformats.org/officeDocument/2006/relationships/image" Target="../media/image70.png"/><Relationship Id="rId5" Type="http://schemas.openxmlformats.org/officeDocument/2006/relationships/image" Target="../media/image66.png"/><Relationship Id="rId10" Type="http://schemas.openxmlformats.org/officeDocument/2006/relationships/image" Target="../media/image69.svg"/><Relationship Id="rId4" Type="http://schemas.openxmlformats.org/officeDocument/2006/relationships/image" Target="../media/image2.png"/><Relationship Id="rId9" Type="http://schemas.openxmlformats.org/officeDocument/2006/relationships/image" Target="../media/image68.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3"/>
            <a:stretch>
              <a:fillRect t="-9222" b="-9222"/>
            </a:stretch>
          </a:blipFill>
        </p:spPr>
        <p:txBody>
          <a:bodyPr/>
          <a:lstStyle/>
          <a:p>
            <a:endParaRPr lang="en-GB" dirty="0">
              <a:latin typeface="Comic Sans MS" panose="030F0702030302020204" pitchFamily="66" charset="0"/>
            </a:endParaRPr>
          </a:p>
        </p:txBody>
      </p:sp>
      <p:sp>
        <p:nvSpPr>
          <p:cNvPr id="8" name="TextBox 8"/>
          <p:cNvSpPr txBox="1"/>
          <p:nvPr/>
        </p:nvSpPr>
        <p:spPr>
          <a:xfrm>
            <a:off x="4381500" y="6591300"/>
            <a:ext cx="9144000" cy="1434175"/>
          </a:xfrm>
          <a:prstGeom prst="rect">
            <a:avLst/>
          </a:prstGeom>
        </p:spPr>
        <p:txBody>
          <a:bodyPr wrap="square" lIns="0" tIns="0" rIns="0" bIns="0" rtlCol="0" anchor="t">
            <a:spAutoFit/>
          </a:bodyPr>
          <a:lstStyle/>
          <a:p>
            <a:pPr algn="ctr">
              <a:lnSpc>
                <a:spcPts val="3671"/>
              </a:lnSpc>
              <a:spcBef>
                <a:spcPct val="0"/>
              </a:spcBef>
            </a:pPr>
            <a:r>
              <a:rPr lang="en-US" sz="2800" dirty="0">
                <a:solidFill>
                  <a:srgbClr val="FFFFFF"/>
                </a:solidFill>
                <a:latin typeface="Segoe UI" panose="020B0502040204020203" pitchFamily="34" charset="0"/>
                <a:ea typeface="Canva Sans"/>
                <a:cs typeface="Segoe UI" panose="020B0502040204020203" pitchFamily="34" charset="0"/>
                <a:sym typeface="Canva Sans"/>
              </a:rPr>
              <a:t>Presented by : Puneetha Dharmapura Shrirama</a:t>
            </a:r>
          </a:p>
          <a:p>
            <a:pPr algn="ctr">
              <a:lnSpc>
                <a:spcPts val="3671"/>
              </a:lnSpc>
              <a:spcBef>
                <a:spcPct val="0"/>
              </a:spcBef>
            </a:pPr>
            <a:endParaRPr lang="en-US" sz="2800" dirty="0">
              <a:solidFill>
                <a:srgbClr val="FFFFFF"/>
              </a:solidFill>
              <a:latin typeface="Segoe UI" panose="020B0502040204020203" pitchFamily="34" charset="0"/>
              <a:ea typeface="Canva Sans"/>
              <a:cs typeface="Segoe UI" panose="020B0502040204020203" pitchFamily="34" charset="0"/>
              <a:sym typeface="Canva Sans"/>
            </a:endParaRPr>
          </a:p>
          <a:p>
            <a:pPr algn="ctr">
              <a:lnSpc>
                <a:spcPct val="150000"/>
              </a:lnSpc>
              <a:spcBef>
                <a:spcPct val="0"/>
              </a:spcBef>
            </a:pPr>
            <a:endParaRPr lang="en-US" sz="2400" dirty="0">
              <a:solidFill>
                <a:srgbClr val="FFFFFF"/>
              </a:solidFill>
              <a:latin typeface="Segoe UI" panose="020B0502040204020203" pitchFamily="34" charset="0"/>
              <a:ea typeface="Canva Sans"/>
              <a:cs typeface="Segoe UI" panose="020B0502040204020203" pitchFamily="34" charset="0"/>
              <a:sym typeface="Canva Sans"/>
            </a:endParaRPr>
          </a:p>
        </p:txBody>
      </p:sp>
      <p:pic>
        <p:nvPicPr>
          <p:cNvPr id="13" name="Picture 12">
            <a:extLst>
              <a:ext uri="{FF2B5EF4-FFF2-40B4-BE49-F238E27FC236}">
                <a16:creationId xmlns:a16="http://schemas.microsoft.com/office/drawing/2014/main" id="{DF6ABE8C-6109-BC7F-3B73-7800A12DB7E5}"/>
              </a:ext>
            </a:extLst>
          </p:cNvPr>
          <p:cNvPicPr>
            <a:picLocks noChangeAspect="1"/>
          </p:cNvPicPr>
          <p:nvPr/>
        </p:nvPicPr>
        <p:blipFill rotWithShape="1">
          <a:blip r:embed="rId4"/>
          <a:srcRect l="19756" t="18691" r="19454" b="41655"/>
          <a:stretch/>
        </p:blipFill>
        <p:spPr>
          <a:xfrm>
            <a:off x="16230600" y="495300"/>
            <a:ext cx="1812319" cy="760280"/>
          </a:xfrm>
          <a:prstGeom prst="roundRect">
            <a:avLst>
              <a:gd name="adj" fmla="val 8594"/>
            </a:avLst>
          </a:prstGeom>
          <a:solidFill>
            <a:srgbClr val="FFFFFF">
              <a:shade val="85000"/>
            </a:srgbClr>
          </a:solidFill>
          <a:ln>
            <a:noFill/>
          </a:ln>
          <a:effectLst>
            <a:reflection blurRad="12700" stA="38000" endPos="28000" dist="5000" dir="5400000" sy="-100000" algn="bl" rotWithShape="0"/>
          </a:effectLst>
        </p:spPr>
      </p:pic>
      <p:sp>
        <p:nvSpPr>
          <p:cNvPr id="9" name="TextBox 8">
            <a:extLst>
              <a:ext uri="{FF2B5EF4-FFF2-40B4-BE49-F238E27FC236}">
                <a16:creationId xmlns:a16="http://schemas.microsoft.com/office/drawing/2014/main" id="{D4ED6211-73CE-1F7E-6FA7-BBD503A66C8E}"/>
              </a:ext>
            </a:extLst>
          </p:cNvPr>
          <p:cNvSpPr txBox="1"/>
          <p:nvPr/>
        </p:nvSpPr>
        <p:spPr>
          <a:xfrm>
            <a:off x="2667000" y="4285446"/>
            <a:ext cx="12573000" cy="954107"/>
          </a:xfrm>
          <a:prstGeom prst="rect">
            <a:avLst/>
          </a:prstGeom>
          <a:noFill/>
        </p:spPr>
        <p:txBody>
          <a:bodyPr wrap="square" rtlCol="0">
            <a:spAutoFit/>
          </a:bodyPr>
          <a:lstStyle/>
          <a:p>
            <a:pPr algn="ctr"/>
            <a:r>
              <a:rPr lang="de-DE" sz="2800" i="1" dirty="0" err="1">
                <a:solidFill>
                  <a:schemeClr val="bg1"/>
                </a:solidFill>
                <a:latin typeface="Segoe UI" panose="020B0502040204020203" pitchFamily="34" charset="0"/>
                <a:cs typeface="Segoe UI" panose="020B0502040204020203" pitchFamily="34" charset="0"/>
              </a:rPr>
              <a:t>Authors</a:t>
            </a:r>
            <a:r>
              <a:rPr lang="de-DE" sz="2800" i="1" dirty="0">
                <a:solidFill>
                  <a:schemeClr val="bg1"/>
                </a:solidFill>
                <a:latin typeface="Segoe UI" panose="020B0502040204020203" pitchFamily="34" charset="0"/>
                <a:cs typeface="Segoe UI" panose="020B0502040204020203" pitchFamily="34" charset="0"/>
              </a:rPr>
              <a:t>: </a:t>
            </a:r>
            <a:r>
              <a:rPr lang="en-GB" sz="2800" i="1" dirty="0" err="1">
                <a:solidFill>
                  <a:schemeClr val="bg1"/>
                </a:solidFill>
                <a:latin typeface="Segoe UI" panose="020B0502040204020203" pitchFamily="34" charset="0"/>
                <a:cs typeface="Segoe UI" panose="020B0502040204020203" pitchFamily="34" charset="0"/>
              </a:rPr>
              <a:t>Zhikang</a:t>
            </a:r>
            <a:r>
              <a:rPr lang="en-GB" sz="2800" i="1" dirty="0">
                <a:solidFill>
                  <a:schemeClr val="bg1"/>
                </a:solidFill>
                <a:latin typeface="Segoe UI" panose="020B0502040204020203" pitchFamily="34" charset="0"/>
                <a:cs typeface="Segoe UI" panose="020B0502040204020203" pitchFamily="34" charset="0"/>
              </a:rPr>
              <a:t> Liu, Yiming Zhou, </a:t>
            </a:r>
            <a:r>
              <a:rPr lang="en-GB" sz="2800" i="1" dirty="0" err="1">
                <a:solidFill>
                  <a:schemeClr val="bg1"/>
                </a:solidFill>
                <a:latin typeface="Segoe UI" panose="020B0502040204020203" pitchFamily="34" charset="0"/>
                <a:cs typeface="Segoe UI" panose="020B0502040204020203" pitchFamily="34" charset="0"/>
              </a:rPr>
              <a:t>Yuansheng</a:t>
            </a:r>
            <a:r>
              <a:rPr lang="en-GB" sz="2800" i="1" dirty="0">
                <a:solidFill>
                  <a:schemeClr val="bg1"/>
                </a:solidFill>
                <a:latin typeface="Segoe UI" panose="020B0502040204020203" pitchFamily="34" charset="0"/>
                <a:cs typeface="Segoe UI" panose="020B0502040204020203" pitchFamily="34" charset="0"/>
              </a:rPr>
              <a:t> Xu, and </a:t>
            </a:r>
            <a:r>
              <a:rPr lang="en-GB" sz="2800" i="1" dirty="0" err="1">
                <a:solidFill>
                  <a:schemeClr val="bg1"/>
                </a:solidFill>
                <a:latin typeface="Segoe UI" panose="020B0502040204020203" pitchFamily="34" charset="0"/>
                <a:cs typeface="Segoe UI" panose="020B0502040204020203" pitchFamily="34" charset="0"/>
              </a:rPr>
              <a:t>Zilei</a:t>
            </a:r>
            <a:r>
              <a:rPr lang="en-GB" sz="2800" i="1" dirty="0">
                <a:solidFill>
                  <a:schemeClr val="bg1"/>
                </a:solidFill>
                <a:latin typeface="Segoe UI" panose="020B0502040204020203" pitchFamily="34" charset="0"/>
                <a:cs typeface="Segoe UI" panose="020B0502040204020203" pitchFamily="34" charset="0"/>
              </a:rPr>
              <a:t> Wang</a:t>
            </a:r>
            <a:br>
              <a:rPr lang="en-GB" sz="2800" i="1" dirty="0">
                <a:solidFill>
                  <a:schemeClr val="bg1"/>
                </a:solidFill>
                <a:latin typeface="Segoe UI" panose="020B0502040204020203" pitchFamily="34" charset="0"/>
                <a:cs typeface="Segoe UI" panose="020B0502040204020203" pitchFamily="34" charset="0"/>
              </a:rPr>
            </a:br>
            <a:r>
              <a:rPr lang="en-GB" sz="2800" i="1" dirty="0">
                <a:solidFill>
                  <a:schemeClr val="bg1"/>
                </a:solidFill>
                <a:latin typeface="Segoe UI" panose="020B0502040204020203" pitchFamily="34" charset="0"/>
                <a:cs typeface="Segoe UI" panose="020B0502040204020203" pitchFamily="34" charset="0"/>
              </a:rPr>
              <a:t>University of Science and Technology of China &amp; Meka Technology Co. Ltd.</a:t>
            </a:r>
          </a:p>
        </p:txBody>
      </p:sp>
      <p:sp>
        <p:nvSpPr>
          <p:cNvPr id="10" name="TextBox 9">
            <a:extLst>
              <a:ext uri="{FF2B5EF4-FFF2-40B4-BE49-F238E27FC236}">
                <a16:creationId xmlns:a16="http://schemas.microsoft.com/office/drawing/2014/main" id="{C0F91CBB-3600-2497-CA5D-CA685B0B916A}"/>
              </a:ext>
            </a:extLst>
          </p:cNvPr>
          <p:cNvSpPr txBox="1"/>
          <p:nvPr/>
        </p:nvSpPr>
        <p:spPr>
          <a:xfrm>
            <a:off x="1752600" y="1657975"/>
            <a:ext cx="13944600" cy="1446550"/>
          </a:xfrm>
          <a:prstGeom prst="rect">
            <a:avLst/>
          </a:prstGeom>
          <a:noFill/>
        </p:spPr>
        <p:txBody>
          <a:bodyPr wrap="square" rtlCol="0">
            <a:spAutoFit/>
          </a:bodyPr>
          <a:lstStyle/>
          <a:p>
            <a:pPr algn="ctr"/>
            <a:r>
              <a:rPr lang="en-US" sz="4400" b="1" dirty="0" err="1">
                <a:solidFill>
                  <a:schemeClr val="bg1"/>
                </a:solidFill>
                <a:latin typeface="Segoe UI Semibold" panose="020B0702040204020203" pitchFamily="34" charset="0"/>
                <a:ea typeface="More Sugar"/>
                <a:cs typeface="Segoe UI Semibold" panose="020B0702040204020203" pitchFamily="34" charset="0"/>
                <a:sym typeface="More Sugar"/>
              </a:rPr>
              <a:t>SimpleNet</a:t>
            </a:r>
            <a:r>
              <a:rPr lang="en-US" sz="4400" b="1" dirty="0">
                <a:solidFill>
                  <a:schemeClr val="bg1"/>
                </a:solidFill>
                <a:latin typeface="Segoe UI Semibold" panose="020B0702040204020203" pitchFamily="34" charset="0"/>
                <a:ea typeface="More Sugar"/>
                <a:cs typeface="Segoe UI Semibold" panose="020B0702040204020203" pitchFamily="34" charset="0"/>
                <a:sym typeface="More Sugar"/>
              </a:rPr>
              <a:t>: A Simple Network for Image Anomaly Detection and Localization</a:t>
            </a:r>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FCF2B2D-A3A2-D701-43B6-B3F703ADF0F4}"/>
            </a:ext>
          </a:extLst>
        </p:cNvPr>
        <p:cNvGrpSpPr/>
        <p:nvPr/>
      </p:nvGrpSpPr>
      <p:grpSpPr>
        <a:xfrm>
          <a:off x="0" y="0"/>
          <a:ext cx="0" cy="0"/>
          <a:chOff x="0" y="0"/>
          <a:chExt cx="0" cy="0"/>
        </a:xfrm>
      </p:grpSpPr>
      <p:sp>
        <p:nvSpPr>
          <p:cNvPr id="2" name="Freeform 2">
            <a:extLst>
              <a:ext uri="{FF2B5EF4-FFF2-40B4-BE49-F238E27FC236}">
                <a16:creationId xmlns:a16="http://schemas.microsoft.com/office/drawing/2014/main" id="{C9445243-C7C2-A8D0-D40F-5DE5CBA8DB6C}"/>
              </a:ext>
            </a:extLst>
          </p:cNvPr>
          <p:cNvSpPr/>
          <p:nvPr/>
        </p:nvSpPr>
        <p:spPr>
          <a:xfrm>
            <a:off x="1283"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3"/>
            <a:stretch>
              <a:fillRect t="-9222" b="-9222"/>
            </a:stretch>
          </a:blipFill>
        </p:spPr>
        <p:txBody>
          <a:bodyPr/>
          <a:lstStyle/>
          <a:p>
            <a:endParaRPr lang="en-GB" sz="4400" dirty="0">
              <a:solidFill>
                <a:schemeClr val="bg1"/>
              </a:solidFill>
              <a:latin typeface="Comic Sans MS" panose="030F0702030302020204" pitchFamily="66" charset="0"/>
            </a:endParaRPr>
          </a:p>
        </p:txBody>
      </p:sp>
      <p:pic>
        <p:nvPicPr>
          <p:cNvPr id="18" name="Picture 17">
            <a:extLst>
              <a:ext uri="{FF2B5EF4-FFF2-40B4-BE49-F238E27FC236}">
                <a16:creationId xmlns:a16="http://schemas.microsoft.com/office/drawing/2014/main" id="{2A60AD3C-C153-2320-1067-5A29A28965DD}"/>
              </a:ext>
            </a:extLst>
          </p:cNvPr>
          <p:cNvPicPr>
            <a:picLocks noChangeAspect="1"/>
          </p:cNvPicPr>
          <p:nvPr/>
        </p:nvPicPr>
        <p:blipFill rotWithShape="1">
          <a:blip r:embed="rId4"/>
          <a:srcRect l="19756" t="18691" r="19454" b="41655"/>
          <a:stretch/>
        </p:blipFill>
        <p:spPr>
          <a:xfrm>
            <a:off x="16316104" y="381000"/>
            <a:ext cx="1812319" cy="760280"/>
          </a:xfrm>
          <a:prstGeom prst="roundRect">
            <a:avLst>
              <a:gd name="adj" fmla="val 8594"/>
            </a:avLst>
          </a:prstGeom>
          <a:solidFill>
            <a:srgbClr val="FFFFFF">
              <a:shade val="85000"/>
            </a:srgbClr>
          </a:solidFill>
          <a:ln>
            <a:noFill/>
          </a:ln>
          <a:effectLst>
            <a:reflection blurRad="12700" stA="38000" endPos="28000" dist="5000" dir="5400000" sy="-100000" algn="bl" rotWithShape="0"/>
          </a:effectLst>
        </p:spPr>
      </p:pic>
      <p:cxnSp>
        <p:nvCxnSpPr>
          <p:cNvPr id="21" name="Straight Connector 20">
            <a:extLst>
              <a:ext uri="{FF2B5EF4-FFF2-40B4-BE49-F238E27FC236}">
                <a16:creationId xmlns:a16="http://schemas.microsoft.com/office/drawing/2014/main" id="{F469AAA4-536B-C288-5C94-9295C92D099C}"/>
              </a:ext>
            </a:extLst>
          </p:cNvPr>
          <p:cNvCxnSpPr>
            <a:cxnSpLocks/>
          </p:cNvCxnSpPr>
          <p:nvPr/>
        </p:nvCxnSpPr>
        <p:spPr>
          <a:xfrm flipV="1">
            <a:off x="1600200" y="1638300"/>
            <a:ext cx="14173200" cy="76200"/>
          </a:xfrm>
          <a:prstGeom prst="line">
            <a:avLst/>
          </a:prstGeom>
        </p:spPr>
        <p:style>
          <a:lnRef idx="3">
            <a:schemeClr val="dk1"/>
          </a:lnRef>
          <a:fillRef idx="0">
            <a:schemeClr val="dk1"/>
          </a:fillRef>
          <a:effectRef idx="2">
            <a:schemeClr val="dk1"/>
          </a:effectRef>
          <a:fontRef idx="minor">
            <a:schemeClr val="tx1"/>
          </a:fontRef>
        </p:style>
      </p:cxnSp>
      <p:sp>
        <p:nvSpPr>
          <p:cNvPr id="23" name="TextBox 22">
            <a:extLst>
              <a:ext uri="{FF2B5EF4-FFF2-40B4-BE49-F238E27FC236}">
                <a16:creationId xmlns:a16="http://schemas.microsoft.com/office/drawing/2014/main" id="{A6A04783-B60D-6AD5-F612-531C4BA71C51}"/>
              </a:ext>
            </a:extLst>
          </p:cNvPr>
          <p:cNvSpPr txBox="1"/>
          <p:nvPr/>
        </p:nvSpPr>
        <p:spPr>
          <a:xfrm>
            <a:off x="1572412" y="794703"/>
            <a:ext cx="12067388" cy="707886"/>
          </a:xfrm>
          <a:prstGeom prst="rect">
            <a:avLst/>
          </a:prstGeom>
          <a:noFill/>
        </p:spPr>
        <p:txBody>
          <a:bodyPr wrap="square" rtlCol="0">
            <a:spAutoFit/>
          </a:bodyPr>
          <a:lstStyle/>
          <a:p>
            <a:r>
              <a:rPr lang="en-GB" sz="4000" dirty="0">
                <a:solidFill>
                  <a:schemeClr val="bg1"/>
                </a:solidFill>
                <a:latin typeface="Segoe UI Semibold" panose="020B0702040204020203" pitchFamily="34" charset="0"/>
                <a:cs typeface="Segoe UI Semibold" panose="020B0702040204020203" pitchFamily="34" charset="0"/>
              </a:rPr>
              <a:t>Problem &amp; Motivation</a:t>
            </a:r>
          </a:p>
        </p:txBody>
      </p:sp>
      <p:sp>
        <p:nvSpPr>
          <p:cNvPr id="11" name="TextBox 10">
            <a:extLst>
              <a:ext uri="{FF2B5EF4-FFF2-40B4-BE49-F238E27FC236}">
                <a16:creationId xmlns:a16="http://schemas.microsoft.com/office/drawing/2014/main" id="{083C5DF5-F86B-38AF-49E8-FF69F05FE323}"/>
              </a:ext>
            </a:extLst>
          </p:cNvPr>
          <p:cNvSpPr txBox="1"/>
          <p:nvPr/>
        </p:nvSpPr>
        <p:spPr>
          <a:xfrm>
            <a:off x="1656529" y="2099840"/>
            <a:ext cx="11899154" cy="2314673"/>
          </a:xfrm>
          <a:prstGeom prst="rect">
            <a:avLst/>
          </a:prstGeom>
          <a:noFill/>
        </p:spPr>
        <p:txBody>
          <a:bodyPr wrap="square" rtlCol="0">
            <a:spAutoFit/>
          </a:bodyPr>
          <a:lstStyle/>
          <a:p>
            <a:r>
              <a:rPr lang="de-DE" sz="3000" dirty="0" err="1">
                <a:solidFill>
                  <a:schemeClr val="bg1"/>
                </a:solidFill>
                <a:latin typeface="Segoe UI Semibold" panose="020B0702040204020203" pitchFamily="34" charset="0"/>
                <a:cs typeface="Segoe UI Semibold" panose="020B0702040204020203" pitchFamily="34" charset="0"/>
              </a:rPr>
              <a:t>What</a:t>
            </a:r>
            <a:r>
              <a:rPr lang="de-DE" sz="3000" dirty="0">
                <a:solidFill>
                  <a:schemeClr val="bg1"/>
                </a:solidFill>
                <a:latin typeface="Segoe UI Semibold" panose="020B0702040204020203" pitchFamily="34" charset="0"/>
                <a:cs typeface="Segoe UI Semibold" panose="020B0702040204020203" pitchFamily="34" charset="0"/>
              </a:rPr>
              <a:t> </a:t>
            </a:r>
            <a:r>
              <a:rPr lang="de-DE" sz="3000" dirty="0" err="1">
                <a:solidFill>
                  <a:schemeClr val="bg1"/>
                </a:solidFill>
                <a:latin typeface="Segoe UI Semibold" panose="020B0702040204020203" pitchFamily="34" charset="0"/>
                <a:cs typeface="Segoe UI Semibold" panose="020B0702040204020203" pitchFamily="34" charset="0"/>
              </a:rPr>
              <a:t>is</a:t>
            </a:r>
            <a:r>
              <a:rPr lang="de-DE" sz="3000" dirty="0">
                <a:solidFill>
                  <a:schemeClr val="bg1"/>
                </a:solidFill>
                <a:latin typeface="Segoe UI Semibold" panose="020B0702040204020203" pitchFamily="34" charset="0"/>
                <a:cs typeface="Segoe UI Semibold" panose="020B0702040204020203" pitchFamily="34" charset="0"/>
              </a:rPr>
              <a:t> </a:t>
            </a:r>
            <a:r>
              <a:rPr lang="de-DE" sz="3000" dirty="0" err="1">
                <a:solidFill>
                  <a:schemeClr val="bg1"/>
                </a:solidFill>
                <a:latin typeface="Segoe UI Semibold" panose="020B0702040204020203" pitchFamily="34" charset="0"/>
                <a:cs typeface="Segoe UI Semibold" panose="020B0702040204020203" pitchFamily="34" charset="0"/>
              </a:rPr>
              <a:t>Anamoly</a:t>
            </a:r>
            <a:r>
              <a:rPr lang="de-DE" sz="3000" dirty="0">
                <a:solidFill>
                  <a:schemeClr val="bg1"/>
                </a:solidFill>
                <a:latin typeface="Segoe UI Semibold" panose="020B0702040204020203" pitchFamily="34" charset="0"/>
                <a:cs typeface="Segoe UI Semibold" panose="020B0702040204020203" pitchFamily="34" charset="0"/>
              </a:rPr>
              <a:t>  </a:t>
            </a:r>
            <a:r>
              <a:rPr lang="de-DE" sz="3000" dirty="0" err="1">
                <a:solidFill>
                  <a:schemeClr val="bg1"/>
                </a:solidFill>
                <a:latin typeface="Segoe UI Semibold" panose="020B0702040204020203" pitchFamily="34" charset="0"/>
                <a:cs typeface="Segoe UI Semibold" panose="020B0702040204020203" pitchFamily="34" charset="0"/>
              </a:rPr>
              <a:t>Detection</a:t>
            </a:r>
            <a:r>
              <a:rPr lang="de-DE" sz="3000" dirty="0">
                <a:solidFill>
                  <a:schemeClr val="bg1"/>
                </a:solidFill>
                <a:latin typeface="Segoe UI Semibold" panose="020B0702040204020203" pitchFamily="34" charset="0"/>
                <a:cs typeface="Segoe UI Semibold" panose="020B0702040204020203" pitchFamily="34" charset="0"/>
              </a:rPr>
              <a:t>?</a:t>
            </a:r>
            <a:br>
              <a:rPr lang="de-DE" sz="3000" dirty="0">
                <a:solidFill>
                  <a:schemeClr val="bg1"/>
                </a:solidFill>
                <a:latin typeface="Segoe UI Semibold" panose="020B0702040204020203" pitchFamily="34" charset="0"/>
                <a:cs typeface="Segoe UI Semibold" panose="020B0702040204020203" pitchFamily="34" charset="0"/>
              </a:rPr>
            </a:br>
            <a:r>
              <a:rPr lang="de-DE" sz="3000" dirty="0">
                <a:solidFill>
                  <a:schemeClr val="bg1"/>
                </a:solidFill>
                <a:latin typeface="Segoe UI Semibold" panose="020B0702040204020203" pitchFamily="34" charset="0"/>
                <a:cs typeface="Segoe UI Semibold" panose="020B0702040204020203" pitchFamily="34" charset="0"/>
              </a:rPr>
              <a:t>    </a:t>
            </a:r>
          </a:p>
          <a:p>
            <a:pPr>
              <a:lnSpc>
                <a:spcPct val="150000"/>
              </a:lnSpc>
            </a:pPr>
            <a:r>
              <a:rPr lang="de-DE" sz="3000" dirty="0">
                <a:solidFill>
                  <a:schemeClr val="bg1"/>
                </a:solidFill>
                <a:latin typeface="Segoe UI Semibold" panose="020B0702040204020203" pitchFamily="34" charset="0"/>
                <a:cs typeface="Segoe UI Semibold" panose="020B0702040204020203" pitchFamily="34" charset="0"/>
              </a:rPr>
              <a:t>     *  Goal : </a:t>
            </a:r>
            <a:r>
              <a:rPr lang="de-DE" sz="3000" dirty="0" err="1">
                <a:solidFill>
                  <a:schemeClr val="bg1"/>
                </a:solidFill>
                <a:latin typeface="Segoe UI Semibold" panose="020B0702040204020203" pitchFamily="34" charset="0"/>
                <a:cs typeface="Segoe UI Semibold" panose="020B0702040204020203" pitchFamily="34" charset="0"/>
              </a:rPr>
              <a:t>Identify</a:t>
            </a:r>
            <a:r>
              <a:rPr lang="de-DE" sz="3000" dirty="0">
                <a:solidFill>
                  <a:schemeClr val="bg1"/>
                </a:solidFill>
                <a:latin typeface="Segoe UI Semibold" panose="020B0702040204020203" pitchFamily="34" charset="0"/>
                <a:cs typeface="Segoe UI Semibold" panose="020B0702040204020203" pitchFamily="34" charset="0"/>
              </a:rPr>
              <a:t> </a:t>
            </a:r>
            <a:r>
              <a:rPr lang="de-DE" sz="3000" dirty="0" err="1">
                <a:solidFill>
                  <a:schemeClr val="bg1"/>
                </a:solidFill>
                <a:latin typeface="Segoe UI Semibold" panose="020B0702040204020203" pitchFamily="34" charset="0"/>
                <a:cs typeface="Segoe UI Semibold" panose="020B0702040204020203" pitchFamily="34" charset="0"/>
              </a:rPr>
              <a:t>deviations</a:t>
            </a:r>
            <a:r>
              <a:rPr lang="de-DE" sz="3000" dirty="0">
                <a:solidFill>
                  <a:schemeClr val="bg1"/>
                </a:solidFill>
                <a:latin typeface="Segoe UI Semibold" panose="020B0702040204020203" pitchFamily="34" charset="0"/>
                <a:cs typeface="Segoe UI Semibold" panose="020B0702040204020203" pitchFamily="34" charset="0"/>
              </a:rPr>
              <a:t> </a:t>
            </a:r>
            <a:r>
              <a:rPr lang="de-DE" sz="3000" dirty="0" err="1">
                <a:solidFill>
                  <a:schemeClr val="bg1"/>
                </a:solidFill>
                <a:latin typeface="Segoe UI Semibold" panose="020B0702040204020203" pitchFamily="34" charset="0"/>
                <a:cs typeface="Segoe UI Semibold" panose="020B0702040204020203" pitchFamily="34" charset="0"/>
              </a:rPr>
              <a:t>from</a:t>
            </a:r>
            <a:r>
              <a:rPr lang="de-DE" sz="3000" dirty="0">
                <a:solidFill>
                  <a:schemeClr val="bg1"/>
                </a:solidFill>
                <a:latin typeface="Segoe UI Semibold" panose="020B0702040204020203" pitchFamily="34" charset="0"/>
                <a:cs typeface="Segoe UI Semibold" panose="020B0702040204020203" pitchFamily="34" charset="0"/>
              </a:rPr>
              <a:t> normal </a:t>
            </a:r>
            <a:r>
              <a:rPr lang="de-DE" sz="3000" dirty="0" err="1">
                <a:solidFill>
                  <a:schemeClr val="bg1"/>
                </a:solidFill>
                <a:latin typeface="Segoe UI Semibold" panose="020B0702040204020203" pitchFamily="34" charset="0"/>
                <a:cs typeface="Segoe UI Semibold" panose="020B0702040204020203" pitchFamily="34" charset="0"/>
              </a:rPr>
              <a:t>patterns</a:t>
            </a:r>
            <a:endParaRPr lang="de-DE" sz="3000" dirty="0">
              <a:solidFill>
                <a:schemeClr val="bg1"/>
              </a:solidFill>
              <a:latin typeface="Segoe UI Semibold" panose="020B0702040204020203" pitchFamily="34" charset="0"/>
              <a:cs typeface="Segoe UI Semibold" panose="020B0702040204020203" pitchFamily="34" charset="0"/>
            </a:endParaRPr>
          </a:p>
          <a:p>
            <a:pPr>
              <a:lnSpc>
                <a:spcPct val="150000"/>
              </a:lnSpc>
            </a:pPr>
            <a:r>
              <a:rPr lang="de-DE" sz="3000" dirty="0">
                <a:solidFill>
                  <a:schemeClr val="bg1"/>
                </a:solidFill>
                <a:latin typeface="Segoe UI Semibold" panose="020B0702040204020203" pitchFamily="34" charset="0"/>
                <a:cs typeface="Segoe UI Semibold" panose="020B0702040204020203" pitchFamily="34" charset="0"/>
              </a:rPr>
              <a:t>     *  </a:t>
            </a:r>
            <a:r>
              <a:rPr lang="de-DE" sz="3000" dirty="0" err="1">
                <a:solidFill>
                  <a:schemeClr val="bg1"/>
                </a:solidFill>
                <a:latin typeface="Segoe UI Semibold" panose="020B0702040204020203" pitchFamily="34" charset="0"/>
                <a:cs typeface="Segoe UI Semibold" panose="020B0702040204020203" pitchFamily="34" charset="0"/>
              </a:rPr>
              <a:t>Contraint</a:t>
            </a:r>
            <a:r>
              <a:rPr lang="de-DE" sz="3000" dirty="0">
                <a:solidFill>
                  <a:schemeClr val="bg1"/>
                </a:solidFill>
                <a:latin typeface="Segoe UI Semibold" panose="020B0702040204020203" pitchFamily="34" charset="0"/>
                <a:cs typeface="Segoe UI Semibold" panose="020B0702040204020203" pitchFamily="34" charset="0"/>
              </a:rPr>
              <a:t> : </a:t>
            </a:r>
            <a:r>
              <a:rPr lang="de-DE" sz="3000" dirty="0" err="1">
                <a:solidFill>
                  <a:schemeClr val="bg1"/>
                </a:solidFill>
                <a:latin typeface="Segoe UI Semibold" panose="020B0702040204020203" pitchFamily="34" charset="0"/>
                <a:cs typeface="Segoe UI Semibold" panose="020B0702040204020203" pitchFamily="34" charset="0"/>
              </a:rPr>
              <a:t>Trained</a:t>
            </a:r>
            <a:r>
              <a:rPr lang="de-DE" sz="3000" dirty="0">
                <a:solidFill>
                  <a:schemeClr val="bg1"/>
                </a:solidFill>
                <a:latin typeface="Segoe UI Semibold" panose="020B0702040204020203" pitchFamily="34" charset="0"/>
                <a:cs typeface="Segoe UI Semibold" panose="020B0702040204020203" pitchFamily="34" charset="0"/>
              </a:rPr>
              <a:t> on Normal Data </a:t>
            </a:r>
            <a:r>
              <a:rPr lang="de-DE" sz="3000" dirty="0" err="1">
                <a:solidFill>
                  <a:schemeClr val="bg1"/>
                </a:solidFill>
                <a:latin typeface="Segoe UI Semibold" panose="020B0702040204020203" pitchFamily="34" charset="0"/>
                <a:cs typeface="Segoe UI Semibold" panose="020B0702040204020203" pitchFamily="34" charset="0"/>
              </a:rPr>
              <a:t>only</a:t>
            </a:r>
            <a:r>
              <a:rPr lang="de-DE" sz="3000" dirty="0">
                <a:solidFill>
                  <a:schemeClr val="bg1"/>
                </a:solidFill>
                <a:latin typeface="Segoe UI Semibold" panose="020B0702040204020203" pitchFamily="34" charset="0"/>
                <a:cs typeface="Segoe UI Semibold" panose="020B0702040204020203" pitchFamily="34" charset="0"/>
              </a:rPr>
              <a:t> (</a:t>
            </a:r>
            <a:r>
              <a:rPr lang="de-DE" sz="3000" dirty="0" err="1">
                <a:solidFill>
                  <a:schemeClr val="bg1"/>
                </a:solidFill>
                <a:latin typeface="Segoe UI Semibold" panose="020B0702040204020203" pitchFamily="34" charset="0"/>
                <a:cs typeface="Segoe UI Semibold" panose="020B0702040204020203" pitchFamily="34" charset="0"/>
              </a:rPr>
              <a:t>One</a:t>
            </a:r>
            <a:r>
              <a:rPr lang="de-DE" sz="3000" dirty="0">
                <a:solidFill>
                  <a:schemeClr val="bg1"/>
                </a:solidFill>
                <a:latin typeface="Segoe UI Semibold" panose="020B0702040204020203" pitchFamily="34" charset="0"/>
                <a:cs typeface="Segoe UI Semibold" panose="020B0702040204020203" pitchFamily="34" charset="0"/>
              </a:rPr>
              <a:t>-Class Learning)</a:t>
            </a:r>
            <a:endParaRPr lang="en-GB" sz="3000" dirty="0">
              <a:solidFill>
                <a:schemeClr val="bg1"/>
              </a:solidFill>
              <a:latin typeface="Segoe UI Semibold" panose="020B0702040204020203" pitchFamily="34" charset="0"/>
              <a:cs typeface="Segoe UI Semibold" panose="020B0702040204020203" pitchFamily="34" charset="0"/>
            </a:endParaRPr>
          </a:p>
        </p:txBody>
      </p:sp>
      <p:grpSp>
        <p:nvGrpSpPr>
          <p:cNvPr id="19" name="Group 18">
            <a:extLst>
              <a:ext uri="{FF2B5EF4-FFF2-40B4-BE49-F238E27FC236}">
                <a16:creationId xmlns:a16="http://schemas.microsoft.com/office/drawing/2014/main" id="{CF8E00C8-EA97-ADBD-00F4-D838A82B613C}"/>
              </a:ext>
            </a:extLst>
          </p:cNvPr>
          <p:cNvGrpSpPr/>
          <p:nvPr/>
        </p:nvGrpSpPr>
        <p:grpSpPr>
          <a:xfrm>
            <a:off x="1618343" y="5060663"/>
            <a:ext cx="5468257" cy="3657600"/>
            <a:chOff x="1618343" y="5143500"/>
            <a:chExt cx="5468257" cy="3657600"/>
          </a:xfrm>
        </p:grpSpPr>
        <p:sp>
          <p:nvSpPr>
            <p:cNvPr id="4" name="Rectangle 3">
              <a:extLst>
                <a:ext uri="{FF2B5EF4-FFF2-40B4-BE49-F238E27FC236}">
                  <a16:creationId xmlns:a16="http://schemas.microsoft.com/office/drawing/2014/main" id="{6FBE7ECC-DC05-10A4-05D4-408A0CEDB90B}"/>
                </a:ext>
              </a:extLst>
            </p:cNvPr>
            <p:cNvSpPr/>
            <p:nvPr/>
          </p:nvSpPr>
          <p:spPr>
            <a:xfrm>
              <a:off x="1656529" y="5143500"/>
              <a:ext cx="5430071" cy="3657600"/>
            </a:xfrm>
            <a:prstGeom prst="rect">
              <a:avLst/>
            </a:prstGeom>
            <a:solidFill>
              <a:schemeClr val="accent1">
                <a:alpha val="50000"/>
              </a:schemeClr>
            </a:solidFill>
            <a:ln>
              <a:noFill/>
            </a:ln>
            <a:effectLst>
              <a:outerShdw blurRad="149987" dist="250190" dir="8460000" algn="ctr">
                <a:srgbClr val="000000">
                  <a:alpha val="28000"/>
                </a:srgbClr>
              </a:outerShdw>
            </a:effectLst>
            <a:scene3d>
              <a:camera prst="orthographicFront">
                <a:rot lat="0" lon="0" rev="0"/>
              </a:camera>
              <a:lightRig rig="contrasting" dir="t">
                <a:rot lat="0" lon="0" rev="1500000"/>
              </a:lightRig>
            </a:scene3d>
            <a:sp3d prstMaterial="metal">
              <a:bevelT w="88900" h="88900"/>
            </a:sp3d>
          </p:spPr>
          <p:style>
            <a:lnRef idx="0">
              <a:scrgbClr r="0" g="0" b="0"/>
            </a:lnRef>
            <a:fillRef idx="0">
              <a:scrgbClr r="0" g="0" b="0"/>
            </a:fillRef>
            <a:effectRef idx="0">
              <a:scrgbClr r="0" g="0" b="0"/>
            </a:effectRef>
            <a:fontRef idx="minor">
              <a:schemeClr val="lt1"/>
            </a:fontRef>
          </p:style>
          <p:txBody>
            <a:bodyPr rtlCol="0" anchor="ctr"/>
            <a:lstStyle/>
            <a:p>
              <a:pPr algn="ctr"/>
              <a:endParaRPr lang="en-GB" dirty="0"/>
            </a:p>
          </p:txBody>
        </p:sp>
        <p:sp>
          <p:nvSpPr>
            <p:cNvPr id="10" name="TextBox 9">
              <a:extLst>
                <a:ext uri="{FF2B5EF4-FFF2-40B4-BE49-F238E27FC236}">
                  <a16:creationId xmlns:a16="http://schemas.microsoft.com/office/drawing/2014/main" id="{54714325-7C51-94D2-D70B-F85EC61C80CF}"/>
                </a:ext>
              </a:extLst>
            </p:cNvPr>
            <p:cNvSpPr txBox="1"/>
            <p:nvPr/>
          </p:nvSpPr>
          <p:spPr>
            <a:xfrm>
              <a:off x="1618343" y="5453504"/>
              <a:ext cx="5430071" cy="2787686"/>
            </a:xfrm>
            <a:prstGeom prst="rect">
              <a:avLst/>
            </a:prstGeom>
            <a:noFill/>
          </p:spPr>
          <p:txBody>
            <a:bodyPr wrap="square" rtlCol="0">
              <a:spAutoFit/>
            </a:bodyPr>
            <a:lstStyle/>
            <a:p>
              <a:pPr>
                <a:lnSpc>
                  <a:spcPct val="150000"/>
                </a:lnSpc>
              </a:pPr>
              <a:r>
                <a:rPr lang="de-DE" sz="3000" dirty="0">
                  <a:solidFill>
                    <a:schemeClr val="bg1"/>
                  </a:solidFill>
                  <a:latin typeface="Segoe UI" panose="020B0502040204020203" pitchFamily="34" charset="0"/>
                  <a:cs typeface="Segoe UI" panose="020B0502040204020203" pitchFamily="34" charset="0"/>
                </a:rPr>
                <a:t>     </a:t>
              </a:r>
              <a:r>
                <a:rPr lang="de-DE" sz="3000" dirty="0" err="1">
                  <a:solidFill>
                    <a:schemeClr val="bg1"/>
                  </a:solidFill>
                  <a:latin typeface="Segoe UI" panose="020B0502040204020203" pitchFamily="34" charset="0"/>
                  <a:cs typeface="Segoe UI" panose="020B0502040204020203" pitchFamily="34" charset="0"/>
                </a:rPr>
                <a:t>Why</a:t>
              </a:r>
              <a:r>
                <a:rPr lang="de-DE" sz="3000" dirty="0">
                  <a:solidFill>
                    <a:schemeClr val="bg1"/>
                  </a:solidFill>
                  <a:latin typeface="Segoe UI" panose="020B0502040204020203" pitchFamily="34" charset="0"/>
                  <a:cs typeface="Segoe UI" panose="020B0502040204020203" pitchFamily="34" charset="0"/>
                </a:rPr>
                <a:t> </a:t>
              </a:r>
              <a:r>
                <a:rPr lang="de-DE" sz="3000" dirty="0" err="1">
                  <a:solidFill>
                    <a:schemeClr val="bg1"/>
                  </a:solidFill>
                  <a:latin typeface="Segoe UI" panose="020B0502040204020203" pitchFamily="34" charset="0"/>
                  <a:cs typeface="Segoe UI" panose="020B0502040204020203" pitchFamily="34" charset="0"/>
                </a:rPr>
                <a:t>is</a:t>
              </a:r>
              <a:r>
                <a:rPr lang="de-DE" sz="3000" dirty="0">
                  <a:solidFill>
                    <a:schemeClr val="bg1"/>
                  </a:solidFill>
                  <a:latin typeface="Segoe UI" panose="020B0502040204020203" pitchFamily="34" charset="0"/>
                  <a:cs typeface="Segoe UI" panose="020B0502040204020203" pitchFamily="34" charset="0"/>
                </a:rPr>
                <a:t> </a:t>
              </a:r>
              <a:r>
                <a:rPr lang="de-DE" sz="3000" dirty="0" err="1">
                  <a:solidFill>
                    <a:schemeClr val="bg1"/>
                  </a:solidFill>
                  <a:latin typeface="Segoe UI" panose="020B0502040204020203" pitchFamily="34" charset="0"/>
                  <a:cs typeface="Segoe UI" panose="020B0502040204020203" pitchFamily="34" charset="0"/>
                </a:rPr>
                <a:t>it</a:t>
              </a:r>
              <a:r>
                <a:rPr lang="de-DE" sz="3000" dirty="0">
                  <a:solidFill>
                    <a:schemeClr val="bg1"/>
                  </a:solidFill>
                  <a:latin typeface="Segoe UI" panose="020B0502040204020203" pitchFamily="34" charset="0"/>
                  <a:cs typeface="Segoe UI" panose="020B0502040204020203" pitchFamily="34" charset="0"/>
                </a:rPr>
                <a:t> Hard ?</a:t>
              </a:r>
            </a:p>
            <a:p>
              <a:pPr marL="914400" lvl="1" indent="-457200">
                <a:lnSpc>
                  <a:spcPct val="150000"/>
                </a:lnSpc>
                <a:buFont typeface="Arial" panose="020B0604020202020204" pitchFamily="34" charset="0"/>
                <a:buChar char="•"/>
              </a:pPr>
              <a:r>
                <a:rPr lang="de-DE" sz="3000" dirty="0" err="1">
                  <a:solidFill>
                    <a:schemeClr val="bg1"/>
                  </a:solidFill>
                  <a:latin typeface="Segoe UI" panose="020B0502040204020203" pitchFamily="34" charset="0"/>
                  <a:cs typeface="Segoe UI" panose="020B0502040204020203" pitchFamily="34" charset="0"/>
                </a:rPr>
                <a:t>Scarcity</a:t>
              </a:r>
              <a:endParaRPr lang="de-DE" sz="3000" dirty="0">
                <a:solidFill>
                  <a:schemeClr val="bg1"/>
                </a:solidFill>
                <a:latin typeface="Segoe UI" panose="020B0502040204020203" pitchFamily="34" charset="0"/>
                <a:cs typeface="Segoe UI" panose="020B0502040204020203" pitchFamily="34" charset="0"/>
              </a:endParaRPr>
            </a:p>
            <a:p>
              <a:pPr marL="914400" lvl="1" indent="-457200">
                <a:lnSpc>
                  <a:spcPct val="150000"/>
                </a:lnSpc>
                <a:buFont typeface="Arial" panose="020B0604020202020204" pitchFamily="34" charset="0"/>
                <a:buChar char="•"/>
              </a:pPr>
              <a:r>
                <a:rPr lang="de-DE" sz="3000" dirty="0" err="1">
                  <a:solidFill>
                    <a:schemeClr val="bg1"/>
                  </a:solidFill>
                  <a:latin typeface="Segoe UI" panose="020B0502040204020203" pitchFamily="34" charset="0"/>
                  <a:cs typeface="Segoe UI" panose="020B0502040204020203" pitchFamily="34" charset="0"/>
                </a:rPr>
                <a:t>Unpredictability</a:t>
              </a:r>
              <a:endParaRPr lang="de-DE" sz="3000" dirty="0">
                <a:solidFill>
                  <a:schemeClr val="bg1"/>
                </a:solidFill>
                <a:latin typeface="Segoe UI" panose="020B0502040204020203" pitchFamily="34" charset="0"/>
                <a:cs typeface="Segoe UI" panose="020B0502040204020203" pitchFamily="34" charset="0"/>
              </a:endParaRPr>
            </a:p>
            <a:p>
              <a:pPr marL="914400" lvl="1" indent="-457200">
                <a:lnSpc>
                  <a:spcPct val="150000"/>
                </a:lnSpc>
                <a:buFont typeface="Arial" panose="020B0604020202020204" pitchFamily="34" charset="0"/>
                <a:buChar char="•"/>
              </a:pPr>
              <a:r>
                <a:rPr lang="de-DE" sz="3000" dirty="0">
                  <a:solidFill>
                    <a:schemeClr val="bg1"/>
                  </a:solidFill>
                  <a:latin typeface="Segoe UI" panose="020B0502040204020203" pitchFamily="34" charset="0"/>
                  <a:cs typeface="Segoe UI" panose="020B0502040204020203" pitchFamily="34" charset="0"/>
                </a:rPr>
                <a:t>Real Time</a:t>
              </a:r>
              <a:endParaRPr lang="en-GB" sz="3000" dirty="0"/>
            </a:p>
          </p:txBody>
        </p:sp>
      </p:grpSp>
      <p:grpSp>
        <p:nvGrpSpPr>
          <p:cNvPr id="16" name="Group 15">
            <a:extLst>
              <a:ext uri="{FF2B5EF4-FFF2-40B4-BE49-F238E27FC236}">
                <a16:creationId xmlns:a16="http://schemas.microsoft.com/office/drawing/2014/main" id="{5C9FB513-B9E6-8B21-5F78-C718D2AA3E4E}"/>
              </a:ext>
            </a:extLst>
          </p:cNvPr>
          <p:cNvGrpSpPr/>
          <p:nvPr/>
        </p:nvGrpSpPr>
        <p:grpSpPr>
          <a:xfrm>
            <a:off x="10934335" y="4995100"/>
            <a:ext cx="5458654" cy="3657600"/>
            <a:chOff x="8917427" y="5052579"/>
            <a:chExt cx="5458654" cy="3657600"/>
          </a:xfrm>
        </p:grpSpPr>
        <p:sp>
          <p:nvSpPr>
            <p:cNvPr id="12" name="Rectangle 11">
              <a:extLst>
                <a:ext uri="{FF2B5EF4-FFF2-40B4-BE49-F238E27FC236}">
                  <a16:creationId xmlns:a16="http://schemas.microsoft.com/office/drawing/2014/main" id="{6706D7B6-2476-5EB0-C3D7-99ED9BA75B89}"/>
                </a:ext>
              </a:extLst>
            </p:cNvPr>
            <p:cNvSpPr/>
            <p:nvPr/>
          </p:nvSpPr>
          <p:spPr>
            <a:xfrm>
              <a:off x="8946010" y="5052579"/>
              <a:ext cx="5430071" cy="3657600"/>
            </a:xfrm>
            <a:prstGeom prst="rect">
              <a:avLst/>
            </a:prstGeom>
            <a:solidFill>
              <a:schemeClr val="accent1">
                <a:alpha val="50000"/>
              </a:schemeClr>
            </a:solidFill>
            <a:ln>
              <a:noFill/>
            </a:ln>
            <a:effectLst>
              <a:outerShdw blurRad="149987" dist="250190" dir="8460000" algn="ctr">
                <a:srgbClr val="000000">
                  <a:alpha val="28000"/>
                </a:srgbClr>
              </a:outerShdw>
            </a:effectLst>
            <a:scene3d>
              <a:camera prst="orthographicFront">
                <a:rot lat="0" lon="0" rev="0"/>
              </a:camera>
              <a:lightRig rig="contrasting" dir="t">
                <a:rot lat="0" lon="0" rev="1500000"/>
              </a:lightRig>
            </a:scene3d>
            <a:sp3d prstMaterial="metal">
              <a:bevelT w="88900" h="88900"/>
            </a:sp3d>
          </p:spPr>
          <p:style>
            <a:lnRef idx="0">
              <a:scrgbClr r="0" g="0" b="0"/>
            </a:lnRef>
            <a:fillRef idx="0">
              <a:scrgbClr r="0" g="0" b="0"/>
            </a:fillRef>
            <a:effectRef idx="0">
              <a:scrgbClr r="0" g="0" b="0"/>
            </a:effectRef>
            <a:fontRef idx="minor">
              <a:schemeClr val="lt1"/>
            </a:fontRef>
          </p:style>
          <p:txBody>
            <a:bodyPr rtlCol="0" anchor="ctr"/>
            <a:lstStyle/>
            <a:p>
              <a:pPr algn="ctr"/>
              <a:endParaRPr lang="en-GB" dirty="0"/>
            </a:p>
          </p:txBody>
        </p:sp>
        <p:sp>
          <p:nvSpPr>
            <p:cNvPr id="14" name="TextBox 13">
              <a:extLst>
                <a:ext uri="{FF2B5EF4-FFF2-40B4-BE49-F238E27FC236}">
                  <a16:creationId xmlns:a16="http://schemas.microsoft.com/office/drawing/2014/main" id="{20886931-B234-165B-E52E-CE73422025D8}"/>
                </a:ext>
              </a:extLst>
            </p:cNvPr>
            <p:cNvSpPr txBox="1"/>
            <p:nvPr/>
          </p:nvSpPr>
          <p:spPr>
            <a:xfrm>
              <a:off x="8917427" y="5375816"/>
              <a:ext cx="5430071" cy="3139321"/>
            </a:xfrm>
            <a:prstGeom prst="rect">
              <a:avLst/>
            </a:prstGeom>
            <a:noFill/>
          </p:spPr>
          <p:txBody>
            <a:bodyPr wrap="square" rtlCol="0">
              <a:spAutoFit/>
            </a:bodyPr>
            <a:lstStyle/>
            <a:p>
              <a:pPr>
                <a:lnSpc>
                  <a:spcPct val="150000"/>
                </a:lnSpc>
              </a:pPr>
              <a:r>
                <a:rPr lang="de-DE" sz="3000" dirty="0">
                  <a:solidFill>
                    <a:schemeClr val="bg1"/>
                  </a:solidFill>
                  <a:latin typeface="Segoe UI" panose="020B0502040204020203" pitchFamily="34" charset="0"/>
                  <a:cs typeface="Segoe UI" panose="020B0502040204020203" pitchFamily="34" charset="0"/>
                </a:rPr>
                <a:t>  </a:t>
              </a:r>
              <a:r>
                <a:rPr lang="de-DE" sz="3000" dirty="0" err="1">
                  <a:solidFill>
                    <a:schemeClr val="bg1"/>
                  </a:solidFill>
                  <a:latin typeface="Segoe UI" panose="020B0502040204020203" pitchFamily="34" charset="0"/>
                  <a:cs typeface="Segoe UI" panose="020B0502040204020203" pitchFamily="34" charset="0"/>
                </a:rPr>
                <a:t>Why</a:t>
              </a:r>
              <a:r>
                <a:rPr lang="de-DE" sz="3000" dirty="0">
                  <a:solidFill>
                    <a:schemeClr val="bg1"/>
                  </a:solidFill>
                  <a:latin typeface="Segoe UI" panose="020B0502040204020203" pitchFamily="34" charset="0"/>
                  <a:cs typeface="Segoe UI" panose="020B0502040204020203" pitchFamily="34" charset="0"/>
                </a:rPr>
                <a:t> </a:t>
              </a:r>
              <a:r>
                <a:rPr lang="de-DE" sz="3000" dirty="0" err="1">
                  <a:solidFill>
                    <a:schemeClr val="bg1"/>
                  </a:solidFill>
                  <a:latin typeface="Segoe UI" panose="020B0502040204020203" pitchFamily="34" charset="0"/>
                  <a:cs typeface="Segoe UI" panose="020B0502040204020203" pitchFamily="34" charset="0"/>
                </a:rPr>
                <a:t>Existing</a:t>
              </a:r>
              <a:r>
                <a:rPr lang="de-DE" sz="3000" dirty="0">
                  <a:solidFill>
                    <a:schemeClr val="bg1"/>
                  </a:solidFill>
                  <a:latin typeface="Segoe UI" panose="020B0502040204020203" pitchFamily="34" charset="0"/>
                  <a:cs typeface="Segoe UI" panose="020B0502040204020203" pitchFamily="34" charset="0"/>
                </a:rPr>
                <a:t> Methods Fail?</a:t>
              </a:r>
            </a:p>
            <a:p>
              <a:pPr>
                <a:lnSpc>
                  <a:spcPct val="150000"/>
                </a:lnSpc>
              </a:pPr>
              <a:r>
                <a:rPr lang="de-DE" sz="3000" dirty="0">
                  <a:solidFill>
                    <a:schemeClr val="bg1"/>
                  </a:solidFill>
                  <a:latin typeface="Segoe UI" panose="020B0502040204020203" pitchFamily="34" charset="0"/>
                  <a:cs typeface="Segoe UI" panose="020B0502040204020203" pitchFamily="34" charset="0"/>
                </a:rPr>
                <a:t>   	Reconstruction-</a:t>
              </a:r>
              <a:r>
                <a:rPr lang="de-DE" sz="3000" dirty="0" err="1">
                  <a:solidFill>
                    <a:schemeClr val="bg1"/>
                  </a:solidFill>
                  <a:latin typeface="Segoe UI" panose="020B0502040204020203" pitchFamily="34" charset="0"/>
                  <a:cs typeface="Segoe UI" panose="020B0502040204020203" pitchFamily="34" charset="0"/>
                </a:rPr>
                <a:t>based</a:t>
              </a:r>
              <a:endParaRPr lang="de-DE" sz="3000" dirty="0">
                <a:solidFill>
                  <a:schemeClr val="bg1"/>
                </a:solidFill>
                <a:latin typeface="Segoe UI" panose="020B0502040204020203" pitchFamily="34" charset="0"/>
                <a:cs typeface="Segoe UI" panose="020B0502040204020203" pitchFamily="34" charset="0"/>
              </a:endParaRPr>
            </a:p>
            <a:p>
              <a:pPr>
                <a:lnSpc>
                  <a:spcPct val="150000"/>
                </a:lnSpc>
              </a:pPr>
              <a:r>
                <a:rPr lang="de-DE" sz="3000" dirty="0">
                  <a:solidFill>
                    <a:schemeClr val="bg1"/>
                  </a:solidFill>
                  <a:latin typeface="Segoe UI" panose="020B0502040204020203" pitchFamily="34" charset="0"/>
                  <a:cs typeface="Segoe UI" panose="020B0502040204020203" pitchFamily="34" charset="0"/>
                </a:rPr>
                <a:t>	Synthesis-</a:t>
              </a:r>
              <a:r>
                <a:rPr lang="de-DE" sz="3000" dirty="0" err="1">
                  <a:solidFill>
                    <a:schemeClr val="bg1"/>
                  </a:solidFill>
                  <a:latin typeface="Segoe UI" panose="020B0502040204020203" pitchFamily="34" charset="0"/>
                  <a:cs typeface="Segoe UI" panose="020B0502040204020203" pitchFamily="34" charset="0"/>
                </a:rPr>
                <a:t>based</a:t>
              </a:r>
              <a:endParaRPr lang="de-DE" sz="3000" dirty="0">
                <a:solidFill>
                  <a:schemeClr val="bg1"/>
                </a:solidFill>
                <a:latin typeface="Segoe UI" panose="020B0502040204020203" pitchFamily="34" charset="0"/>
                <a:cs typeface="Segoe UI" panose="020B0502040204020203" pitchFamily="34" charset="0"/>
              </a:endParaRPr>
            </a:p>
            <a:p>
              <a:pPr>
                <a:lnSpc>
                  <a:spcPct val="150000"/>
                </a:lnSpc>
              </a:pPr>
              <a:r>
                <a:rPr lang="de-DE" sz="3000" dirty="0">
                  <a:solidFill>
                    <a:schemeClr val="bg1"/>
                  </a:solidFill>
                  <a:latin typeface="Segoe UI" panose="020B0502040204020203" pitchFamily="34" charset="0"/>
                  <a:cs typeface="Segoe UI" panose="020B0502040204020203" pitchFamily="34" charset="0"/>
                </a:rPr>
                <a:t>	Embedding-</a:t>
              </a:r>
              <a:r>
                <a:rPr lang="de-DE" sz="3000" dirty="0" err="1">
                  <a:solidFill>
                    <a:schemeClr val="bg1"/>
                  </a:solidFill>
                  <a:latin typeface="Segoe UI" panose="020B0502040204020203" pitchFamily="34" charset="0"/>
                  <a:cs typeface="Segoe UI" panose="020B0502040204020203" pitchFamily="34" charset="0"/>
                </a:rPr>
                <a:t>based</a:t>
              </a:r>
              <a:endParaRPr lang="en-GB" sz="3000" dirty="0">
                <a:solidFill>
                  <a:schemeClr val="bg1"/>
                </a:solidFill>
                <a:latin typeface="Segoe UI" panose="020B0502040204020203" pitchFamily="34" charset="0"/>
                <a:cs typeface="Segoe UI" panose="020B0502040204020203" pitchFamily="34" charset="0"/>
              </a:endParaRPr>
            </a:p>
            <a:p>
              <a:endParaRPr lang="en-GB" dirty="0"/>
            </a:p>
          </p:txBody>
        </p:sp>
      </p:grpSp>
      <p:grpSp>
        <p:nvGrpSpPr>
          <p:cNvPr id="22" name="Group 21">
            <a:extLst>
              <a:ext uri="{FF2B5EF4-FFF2-40B4-BE49-F238E27FC236}">
                <a16:creationId xmlns:a16="http://schemas.microsoft.com/office/drawing/2014/main" id="{1FCD837A-EB0E-01D5-B4D8-E516505098AD}"/>
              </a:ext>
            </a:extLst>
          </p:cNvPr>
          <p:cNvGrpSpPr/>
          <p:nvPr/>
        </p:nvGrpSpPr>
        <p:grpSpPr>
          <a:xfrm>
            <a:off x="4572000" y="9190884"/>
            <a:ext cx="9601200" cy="1645860"/>
            <a:chOff x="2286000" y="8953500"/>
            <a:chExt cx="13258800" cy="1645860"/>
          </a:xfrm>
        </p:grpSpPr>
        <p:sp>
          <p:nvSpPr>
            <p:cNvPr id="24" name="Rectangle: Rounded Corners 23">
              <a:extLst>
                <a:ext uri="{FF2B5EF4-FFF2-40B4-BE49-F238E27FC236}">
                  <a16:creationId xmlns:a16="http://schemas.microsoft.com/office/drawing/2014/main" id="{D68CBDAD-BDA5-798B-DEDC-1A16E03BB407}"/>
                </a:ext>
              </a:extLst>
            </p:cNvPr>
            <p:cNvSpPr/>
            <p:nvPr/>
          </p:nvSpPr>
          <p:spPr>
            <a:xfrm>
              <a:off x="2286000" y="8953500"/>
              <a:ext cx="13258800" cy="838200"/>
            </a:xfrm>
            <a:prstGeom prst="roundRect">
              <a:avLst/>
            </a:prstGeom>
            <a:solidFill>
              <a:schemeClr val="accent3">
                <a:alpha val="50000"/>
              </a:schemeClr>
            </a:solidFill>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style>
            <a:lnRef idx="0">
              <a:scrgbClr r="0" g="0" b="0"/>
            </a:lnRef>
            <a:fillRef idx="0">
              <a:scrgbClr r="0" g="0" b="0"/>
            </a:fillRef>
            <a:effectRef idx="0">
              <a:scrgbClr r="0" g="0" b="0"/>
            </a:effectRef>
            <a:fontRef idx="minor">
              <a:schemeClr val="lt1"/>
            </a:fontRef>
          </p:style>
          <p:txBody>
            <a:bodyPr rtlCol="0" anchor="ctr"/>
            <a:lstStyle/>
            <a:p>
              <a:pPr algn="ctr"/>
              <a:endParaRPr lang="en-GB"/>
            </a:p>
          </p:txBody>
        </p:sp>
        <p:sp>
          <p:nvSpPr>
            <p:cNvPr id="26" name="TextBox 25">
              <a:extLst>
                <a:ext uri="{FF2B5EF4-FFF2-40B4-BE49-F238E27FC236}">
                  <a16:creationId xmlns:a16="http://schemas.microsoft.com/office/drawing/2014/main" id="{9958D852-0432-CAA7-D864-1F1FFC321D3B}"/>
                </a:ext>
              </a:extLst>
            </p:cNvPr>
            <p:cNvSpPr txBox="1"/>
            <p:nvPr/>
          </p:nvSpPr>
          <p:spPr>
            <a:xfrm>
              <a:off x="2362200" y="9029700"/>
              <a:ext cx="13182600" cy="1569660"/>
            </a:xfrm>
            <a:prstGeom prst="rect">
              <a:avLst/>
            </a:prstGeom>
            <a:noFill/>
          </p:spPr>
          <p:txBody>
            <a:bodyPr wrap="square" rtlCol="0">
              <a:spAutoFit/>
            </a:bodyPr>
            <a:lstStyle/>
            <a:p>
              <a:pPr algn="ctr"/>
              <a:r>
                <a:rPr lang="en-GB" sz="3200" i="1" dirty="0">
                  <a:solidFill>
                    <a:schemeClr val="bg1"/>
                  </a:solidFill>
                  <a:latin typeface="Segoe UI" panose="020B0502040204020203" pitchFamily="34" charset="0"/>
                  <a:cs typeface="Segoe UI" panose="020B0502040204020203" pitchFamily="34" charset="0"/>
                </a:rPr>
                <a:t>Why </a:t>
              </a:r>
              <a:r>
                <a:rPr lang="en-GB" sz="3200" i="1" dirty="0" err="1">
                  <a:solidFill>
                    <a:schemeClr val="bg1"/>
                  </a:solidFill>
                  <a:latin typeface="Segoe UI" panose="020B0502040204020203" pitchFamily="34" charset="0"/>
                  <a:cs typeface="Segoe UI" panose="020B0502040204020203" pitchFamily="34" charset="0"/>
                </a:rPr>
                <a:t>SimpleNet</a:t>
              </a:r>
              <a:r>
                <a:rPr lang="en-GB" sz="3200" i="1" dirty="0">
                  <a:solidFill>
                    <a:schemeClr val="bg1"/>
                  </a:solidFill>
                  <a:latin typeface="Segoe UI" panose="020B0502040204020203" pitchFamily="34" charset="0"/>
                  <a:cs typeface="Segoe UI" panose="020B0502040204020203" pitchFamily="34" charset="0"/>
                </a:rPr>
                <a:t>?  Simple, Fast and Effective approach</a:t>
              </a:r>
            </a:p>
            <a:p>
              <a:pPr algn="ctr"/>
              <a:endParaRPr lang="en-GB" sz="3200" i="1" dirty="0">
                <a:solidFill>
                  <a:schemeClr val="bg1"/>
                </a:solidFill>
                <a:latin typeface="Segoe UI" panose="020B0502040204020203" pitchFamily="34" charset="0"/>
                <a:cs typeface="Segoe UI" panose="020B0502040204020203" pitchFamily="34" charset="0"/>
              </a:endParaRPr>
            </a:p>
            <a:p>
              <a:pPr algn="ctr"/>
              <a:endParaRPr lang="en-GB" sz="3200" dirty="0">
                <a:latin typeface="Segoe UI" panose="020B0502040204020203" pitchFamily="34" charset="0"/>
                <a:cs typeface="Segoe UI" panose="020B0502040204020203" pitchFamily="34" charset="0"/>
              </a:endParaRPr>
            </a:p>
          </p:txBody>
        </p:sp>
      </p:grpSp>
      <p:pic>
        <p:nvPicPr>
          <p:cNvPr id="36" name="Graphic 35" descr="Close with solid fill">
            <a:extLst>
              <a:ext uri="{FF2B5EF4-FFF2-40B4-BE49-F238E27FC236}">
                <a16:creationId xmlns:a16="http://schemas.microsoft.com/office/drawing/2014/main" id="{9C1A6527-06F3-3149-A992-D8CD9AB7848B}"/>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11353800" y="6278960"/>
            <a:ext cx="312340" cy="312340"/>
          </a:xfrm>
          <a:prstGeom prst="rect">
            <a:avLst/>
          </a:prstGeom>
        </p:spPr>
      </p:pic>
      <p:pic>
        <p:nvPicPr>
          <p:cNvPr id="38" name="Graphic 37" descr="Close with solid fill">
            <a:extLst>
              <a:ext uri="{FF2B5EF4-FFF2-40B4-BE49-F238E27FC236}">
                <a16:creationId xmlns:a16="http://schemas.microsoft.com/office/drawing/2014/main" id="{0F56ECBC-2E5F-C8D1-E660-3A173E519D62}"/>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11353800" y="6973314"/>
            <a:ext cx="312340" cy="312340"/>
          </a:xfrm>
          <a:prstGeom prst="rect">
            <a:avLst/>
          </a:prstGeom>
        </p:spPr>
      </p:pic>
      <p:pic>
        <p:nvPicPr>
          <p:cNvPr id="39" name="Graphic 38" descr="Close with solid fill">
            <a:extLst>
              <a:ext uri="{FF2B5EF4-FFF2-40B4-BE49-F238E27FC236}">
                <a16:creationId xmlns:a16="http://schemas.microsoft.com/office/drawing/2014/main" id="{09987E67-6FFF-02C5-03A3-42E83B3E1B8E}"/>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11353800" y="7682413"/>
            <a:ext cx="312340" cy="312340"/>
          </a:xfrm>
          <a:prstGeom prst="rect">
            <a:avLst/>
          </a:prstGeom>
        </p:spPr>
      </p:pic>
    </p:spTree>
    <p:extLst>
      <p:ext uri="{BB962C8B-B14F-4D97-AF65-F5344CB8AC3E}">
        <p14:creationId xmlns:p14="http://schemas.microsoft.com/office/powerpoint/2010/main" val="4067384366"/>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22"/>
                                        </p:tgtEl>
                                        <p:attrNameLst>
                                          <p:attrName>style.visibility</p:attrName>
                                        </p:attrNameLst>
                                      </p:cBhvr>
                                      <p:to>
                                        <p:strVal val="visible"/>
                                      </p:to>
                                    </p:set>
                                    <p:anim calcmode="lin" valueType="num">
                                      <p:cBhvr additive="base">
                                        <p:cTn id="7" dur="250" fill="hold"/>
                                        <p:tgtEl>
                                          <p:spTgt spid="22"/>
                                        </p:tgtEl>
                                        <p:attrNameLst>
                                          <p:attrName>ppt_x</p:attrName>
                                        </p:attrNameLst>
                                      </p:cBhvr>
                                      <p:tavLst>
                                        <p:tav tm="0">
                                          <p:val>
                                            <p:strVal val="#ppt_x"/>
                                          </p:val>
                                        </p:tav>
                                        <p:tav tm="100000">
                                          <p:val>
                                            <p:strVal val="#ppt_x"/>
                                          </p:val>
                                        </p:tav>
                                      </p:tavLst>
                                    </p:anim>
                                    <p:anim calcmode="lin" valueType="num">
                                      <p:cBhvr additive="base">
                                        <p:cTn id="8" dur="250" fill="hold"/>
                                        <p:tgtEl>
                                          <p:spTgt spid="22"/>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5F4D7AC-DE61-3665-7382-FF7AB702CF66}"/>
            </a:ext>
          </a:extLst>
        </p:cNvPr>
        <p:cNvGrpSpPr/>
        <p:nvPr/>
      </p:nvGrpSpPr>
      <p:grpSpPr>
        <a:xfrm>
          <a:off x="0" y="0"/>
          <a:ext cx="0" cy="0"/>
          <a:chOff x="0" y="0"/>
          <a:chExt cx="0" cy="0"/>
        </a:xfrm>
      </p:grpSpPr>
      <p:sp>
        <p:nvSpPr>
          <p:cNvPr id="2" name="Freeform 2">
            <a:extLst>
              <a:ext uri="{FF2B5EF4-FFF2-40B4-BE49-F238E27FC236}">
                <a16:creationId xmlns:a16="http://schemas.microsoft.com/office/drawing/2014/main" id="{4BAD9211-58FE-21F3-39B8-7DE2C754874A}"/>
              </a:ext>
            </a:extLst>
          </p:cNvPr>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4"/>
            <a:stretch>
              <a:fillRect t="-9222" b="-9222"/>
            </a:stretch>
          </a:blipFill>
        </p:spPr>
        <p:txBody>
          <a:bodyPr/>
          <a:lstStyle/>
          <a:p>
            <a:endParaRPr lang="en-GB" sz="4400" dirty="0">
              <a:solidFill>
                <a:schemeClr val="bg1"/>
              </a:solidFill>
              <a:latin typeface="Comic Sans MS" panose="030F0702030302020204" pitchFamily="66" charset="0"/>
            </a:endParaRPr>
          </a:p>
        </p:txBody>
      </p:sp>
      <p:pic>
        <p:nvPicPr>
          <p:cNvPr id="18" name="Picture 17">
            <a:extLst>
              <a:ext uri="{FF2B5EF4-FFF2-40B4-BE49-F238E27FC236}">
                <a16:creationId xmlns:a16="http://schemas.microsoft.com/office/drawing/2014/main" id="{C0BDA689-3000-B592-5098-E83CE7950C6F}"/>
              </a:ext>
            </a:extLst>
          </p:cNvPr>
          <p:cNvPicPr>
            <a:picLocks noChangeAspect="1"/>
          </p:cNvPicPr>
          <p:nvPr/>
        </p:nvPicPr>
        <p:blipFill rotWithShape="1">
          <a:blip r:embed="rId5"/>
          <a:srcRect l="19756" t="18691" r="19454" b="41655"/>
          <a:stretch/>
        </p:blipFill>
        <p:spPr>
          <a:xfrm>
            <a:off x="16316104" y="381000"/>
            <a:ext cx="1812319" cy="760280"/>
          </a:xfrm>
          <a:prstGeom prst="roundRect">
            <a:avLst>
              <a:gd name="adj" fmla="val 8594"/>
            </a:avLst>
          </a:prstGeom>
          <a:solidFill>
            <a:srgbClr val="FFFFFF">
              <a:shade val="85000"/>
            </a:srgbClr>
          </a:solidFill>
          <a:ln>
            <a:noFill/>
          </a:ln>
          <a:effectLst>
            <a:reflection blurRad="12700" stA="38000" endPos="28000" dist="5000" dir="5400000" sy="-100000" algn="bl" rotWithShape="0"/>
          </a:effectLst>
        </p:spPr>
      </p:pic>
      <p:cxnSp>
        <p:nvCxnSpPr>
          <p:cNvPr id="21" name="Straight Connector 20">
            <a:extLst>
              <a:ext uri="{FF2B5EF4-FFF2-40B4-BE49-F238E27FC236}">
                <a16:creationId xmlns:a16="http://schemas.microsoft.com/office/drawing/2014/main" id="{B8889A24-97E0-0F61-AFD0-833B9AFBF816}"/>
              </a:ext>
            </a:extLst>
          </p:cNvPr>
          <p:cNvCxnSpPr>
            <a:cxnSpLocks/>
          </p:cNvCxnSpPr>
          <p:nvPr/>
        </p:nvCxnSpPr>
        <p:spPr>
          <a:xfrm flipV="1">
            <a:off x="1600200" y="1638300"/>
            <a:ext cx="14097000" cy="76200"/>
          </a:xfrm>
          <a:prstGeom prst="line">
            <a:avLst/>
          </a:prstGeom>
        </p:spPr>
        <p:style>
          <a:lnRef idx="3">
            <a:schemeClr val="dk1"/>
          </a:lnRef>
          <a:fillRef idx="0">
            <a:schemeClr val="dk1"/>
          </a:fillRef>
          <a:effectRef idx="2">
            <a:schemeClr val="dk1"/>
          </a:effectRef>
          <a:fontRef idx="minor">
            <a:schemeClr val="tx1"/>
          </a:fontRef>
        </p:style>
      </p:cxnSp>
      <p:sp>
        <p:nvSpPr>
          <p:cNvPr id="23" name="TextBox 22">
            <a:extLst>
              <a:ext uri="{FF2B5EF4-FFF2-40B4-BE49-F238E27FC236}">
                <a16:creationId xmlns:a16="http://schemas.microsoft.com/office/drawing/2014/main" id="{2ED9F42B-C4C0-BC96-59F3-A03FDEFA8F47}"/>
              </a:ext>
            </a:extLst>
          </p:cNvPr>
          <p:cNvSpPr txBox="1"/>
          <p:nvPr/>
        </p:nvSpPr>
        <p:spPr>
          <a:xfrm>
            <a:off x="1564341" y="834274"/>
            <a:ext cx="12067388" cy="707886"/>
          </a:xfrm>
          <a:prstGeom prst="rect">
            <a:avLst/>
          </a:prstGeom>
          <a:noFill/>
        </p:spPr>
        <p:txBody>
          <a:bodyPr wrap="square" rtlCol="0">
            <a:spAutoFit/>
          </a:bodyPr>
          <a:lstStyle/>
          <a:p>
            <a:r>
              <a:rPr lang="de-DE" sz="4000" dirty="0">
                <a:solidFill>
                  <a:schemeClr val="bg1"/>
                </a:solidFill>
                <a:latin typeface="Segoe UI Semibold" panose="020B0702040204020203" pitchFamily="34" charset="0"/>
                <a:cs typeface="Segoe UI Semibold" panose="020B0702040204020203" pitchFamily="34" charset="0"/>
              </a:rPr>
              <a:t>How </a:t>
            </a:r>
            <a:r>
              <a:rPr lang="de-DE" sz="4000" dirty="0" err="1">
                <a:solidFill>
                  <a:schemeClr val="bg1"/>
                </a:solidFill>
                <a:latin typeface="Segoe UI Semibold" panose="020B0702040204020203" pitchFamily="34" charset="0"/>
                <a:cs typeface="Segoe UI Semibold" panose="020B0702040204020203" pitchFamily="34" charset="0"/>
              </a:rPr>
              <a:t>SimpleNet</a:t>
            </a:r>
            <a:r>
              <a:rPr lang="de-DE" sz="4000" dirty="0">
                <a:solidFill>
                  <a:schemeClr val="bg1"/>
                </a:solidFill>
                <a:latin typeface="Segoe UI Semibold" panose="020B0702040204020203" pitchFamily="34" charset="0"/>
                <a:cs typeface="Segoe UI Semibold" panose="020B0702040204020203" pitchFamily="34" charset="0"/>
              </a:rPr>
              <a:t> Works ?</a:t>
            </a:r>
            <a:endParaRPr lang="en-GB" sz="4000" dirty="0">
              <a:solidFill>
                <a:schemeClr val="bg1"/>
              </a:solidFill>
              <a:latin typeface="Segoe UI Semibold" panose="020B0702040204020203" pitchFamily="34" charset="0"/>
              <a:cs typeface="Segoe UI Semibold" panose="020B0702040204020203" pitchFamily="34" charset="0"/>
            </a:endParaRPr>
          </a:p>
        </p:txBody>
      </p:sp>
      <p:grpSp>
        <p:nvGrpSpPr>
          <p:cNvPr id="51" name="Group 50">
            <a:extLst>
              <a:ext uri="{FF2B5EF4-FFF2-40B4-BE49-F238E27FC236}">
                <a16:creationId xmlns:a16="http://schemas.microsoft.com/office/drawing/2014/main" id="{6EFE6F65-2716-1A33-342F-5E348172CBAB}"/>
              </a:ext>
            </a:extLst>
          </p:cNvPr>
          <p:cNvGrpSpPr/>
          <p:nvPr/>
        </p:nvGrpSpPr>
        <p:grpSpPr>
          <a:xfrm>
            <a:off x="3962400" y="2234184"/>
            <a:ext cx="9525000" cy="1004316"/>
            <a:chOff x="3962400" y="2234184"/>
            <a:chExt cx="9525000" cy="1004316"/>
          </a:xfrm>
        </p:grpSpPr>
        <p:sp>
          <p:nvSpPr>
            <p:cNvPr id="11" name="Rectangle 10">
              <a:extLst>
                <a:ext uri="{FF2B5EF4-FFF2-40B4-BE49-F238E27FC236}">
                  <a16:creationId xmlns:a16="http://schemas.microsoft.com/office/drawing/2014/main" id="{6E2BBD7D-90B9-828F-605A-B912E70DDB9A}"/>
                </a:ext>
              </a:extLst>
            </p:cNvPr>
            <p:cNvSpPr/>
            <p:nvPr/>
          </p:nvSpPr>
          <p:spPr>
            <a:xfrm>
              <a:off x="3962400" y="2247900"/>
              <a:ext cx="9525000" cy="990600"/>
            </a:xfrm>
            <a:prstGeom prst="rect">
              <a:avLst/>
            </a:prstGeom>
            <a:ln>
              <a:noFill/>
            </a:ln>
            <a:effectLst>
              <a:outerShdw blurRad="190500" dist="228600" dir="2700000" algn="ctr">
                <a:srgbClr val="000000">
                  <a:alpha val="30000"/>
                </a:srgbClr>
              </a:outerShdw>
            </a:effectLst>
            <a:scene3d>
              <a:camera prst="orthographicFront">
                <a:rot lat="0" lon="0" rev="0"/>
              </a:camera>
              <a:lightRig rig="glow" dir="t">
                <a:rot lat="0" lon="0" rev="4800000"/>
              </a:lightRig>
            </a:scene3d>
            <a:sp3d prstMaterial="matte">
              <a:bevelT w="127000" h="63500"/>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ln w="57150">
                  <a:solidFill>
                    <a:schemeClr val="tx1"/>
                  </a:solidFill>
                </a:ln>
              </a:endParaRPr>
            </a:p>
          </p:txBody>
        </p:sp>
        <p:sp>
          <p:nvSpPr>
            <p:cNvPr id="20" name="TextBox 19">
              <a:extLst>
                <a:ext uri="{FF2B5EF4-FFF2-40B4-BE49-F238E27FC236}">
                  <a16:creationId xmlns:a16="http://schemas.microsoft.com/office/drawing/2014/main" id="{696ABCE6-334B-A17C-E328-7C68AB0C30EB}"/>
                </a:ext>
              </a:extLst>
            </p:cNvPr>
            <p:cNvSpPr txBox="1"/>
            <p:nvPr/>
          </p:nvSpPr>
          <p:spPr>
            <a:xfrm>
              <a:off x="4267200" y="2234184"/>
              <a:ext cx="8915400" cy="954107"/>
            </a:xfrm>
            <a:prstGeom prst="rect">
              <a:avLst/>
            </a:prstGeom>
            <a:noFill/>
          </p:spPr>
          <p:txBody>
            <a:bodyPr wrap="square" rtlCol="0">
              <a:spAutoFit/>
            </a:bodyPr>
            <a:lstStyle/>
            <a:p>
              <a:pPr marL="457200" indent="-457200" algn="ctr">
                <a:lnSpc>
                  <a:spcPct val="150000"/>
                </a:lnSpc>
                <a:buAutoNum type="arabicPeriod"/>
              </a:pPr>
              <a:r>
                <a:rPr lang="de-DE" sz="2400" b="1" dirty="0">
                  <a:solidFill>
                    <a:schemeClr val="bg1"/>
                  </a:solidFill>
                  <a:latin typeface="Segoe UI" panose="020B0502040204020203" pitchFamily="34" charset="0"/>
                  <a:cs typeface="Segoe UI" panose="020B0502040204020203" pitchFamily="34" charset="0"/>
                </a:rPr>
                <a:t>Feature Extractor</a:t>
              </a:r>
            </a:p>
            <a:p>
              <a:pPr algn="ctr"/>
              <a:r>
                <a:rPr lang="de-DE" sz="2000" i="1" dirty="0">
                  <a:solidFill>
                    <a:schemeClr val="bg1"/>
                  </a:solidFill>
                  <a:latin typeface="Segoe UI" panose="020B0502040204020203" pitchFamily="34" charset="0"/>
                  <a:cs typeface="Segoe UI" panose="020B0502040204020203" pitchFamily="34" charset="0"/>
                </a:rPr>
                <a:t>WideResNet50 (</a:t>
              </a:r>
              <a:r>
                <a:rPr lang="de-DE" sz="2000" i="1" dirty="0" err="1">
                  <a:solidFill>
                    <a:schemeClr val="bg1"/>
                  </a:solidFill>
                  <a:latin typeface="Segoe UI" panose="020B0502040204020203" pitchFamily="34" charset="0"/>
                  <a:cs typeface="Segoe UI" panose="020B0502040204020203" pitchFamily="34" charset="0"/>
                </a:rPr>
                <a:t>Frozen</a:t>
              </a:r>
              <a:r>
                <a:rPr lang="de-DE" sz="2000" i="1" dirty="0">
                  <a:solidFill>
                    <a:schemeClr val="bg1"/>
                  </a:solidFill>
                  <a:latin typeface="Segoe UI" panose="020B0502040204020203" pitchFamily="34" charset="0"/>
                  <a:cs typeface="Segoe UI" panose="020B0502040204020203" pitchFamily="34" charset="0"/>
                </a:rPr>
                <a:t>), </a:t>
              </a:r>
              <a:r>
                <a:rPr lang="en-GB" sz="2000" i="1" dirty="0">
                  <a:solidFill>
                    <a:schemeClr val="bg1"/>
                  </a:solidFill>
                  <a:latin typeface="Segoe UI" panose="020B0502040204020203" pitchFamily="34" charset="0"/>
                  <a:cs typeface="Segoe UI" panose="020B0502040204020203" pitchFamily="34" charset="0"/>
                </a:rPr>
                <a:t>Extracts features from Layers 2 &amp; 3</a:t>
              </a:r>
            </a:p>
          </p:txBody>
        </p:sp>
      </p:grpSp>
      <p:grpSp>
        <p:nvGrpSpPr>
          <p:cNvPr id="55" name="Group 54">
            <a:extLst>
              <a:ext uri="{FF2B5EF4-FFF2-40B4-BE49-F238E27FC236}">
                <a16:creationId xmlns:a16="http://schemas.microsoft.com/office/drawing/2014/main" id="{018298AD-998D-57F0-7B2E-F41A27D13061}"/>
              </a:ext>
            </a:extLst>
          </p:cNvPr>
          <p:cNvGrpSpPr/>
          <p:nvPr/>
        </p:nvGrpSpPr>
        <p:grpSpPr>
          <a:xfrm>
            <a:off x="3962400" y="5731080"/>
            <a:ext cx="9547163" cy="1031836"/>
            <a:chOff x="3962400" y="5731080"/>
            <a:chExt cx="9547163" cy="1031836"/>
          </a:xfrm>
        </p:grpSpPr>
        <p:pic>
          <p:nvPicPr>
            <p:cNvPr id="15" name="Picture 14">
              <a:extLst>
                <a:ext uri="{FF2B5EF4-FFF2-40B4-BE49-F238E27FC236}">
                  <a16:creationId xmlns:a16="http://schemas.microsoft.com/office/drawing/2014/main" id="{03CD321C-3BC6-98ED-ACCE-F4B6957718D8}"/>
                </a:ext>
              </a:extLst>
            </p:cNvPr>
            <p:cNvPicPr>
              <a:picLocks noChangeAspect="1"/>
            </p:cNvPicPr>
            <p:nvPr/>
          </p:nvPicPr>
          <p:blipFill>
            <a:blip r:embed="rId6">
              <a:duotone>
                <a:prstClr val="black"/>
                <a:schemeClr val="tx2">
                  <a:lumMod val="50000"/>
                  <a:tint val="45000"/>
                  <a:satMod val="400000"/>
                </a:schemeClr>
              </a:duotone>
              <a:extLst>
                <a:ext uri="{BEBA8EAE-BF5A-486C-A8C5-ECC9F3942E4B}">
                  <a14:imgProps xmlns:a14="http://schemas.microsoft.com/office/drawing/2010/main">
                    <a14:imgLayer r:embed="rId7">
                      <a14:imgEffect>
                        <a14:saturation sat="400000"/>
                      </a14:imgEffect>
                    </a14:imgLayer>
                  </a14:imgProps>
                </a:ext>
              </a:extLst>
            </a:blip>
            <a:stretch>
              <a:fillRect/>
            </a:stretch>
          </p:blipFill>
          <p:spPr>
            <a:xfrm>
              <a:off x="3962400" y="5744796"/>
              <a:ext cx="9547163" cy="1018120"/>
            </a:xfrm>
            <a:prstGeom prst="rect">
              <a:avLst/>
            </a:prstGeom>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pic>
        <mc:AlternateContent xmlns:mc="http://schemas.openxmlformats.org/markup-compatibility/2006">
          <mc:Choice xmlns:a14="http://schemas.microsoft.com/office/drawing/2010/main" Requires="a14">
            <p:sp>
              <p:nvSpPr>
                <p:cNvPr id="25" name="TextBox 24">
                  <a:extLst>
                    <a:ext uri="{FF2B5EF4-FFF2-40B4-BE49-F238E27FC236}">
                      <a16:creationId xmlns:a16="http://schemas.microsoft.com/office/drawing/2014/main" id="{1A9C0E80-2ED6-3EE4-2F80-BFAA11588557}"/>
                    </a:ext>
                  </a:extLst>
                </p:cNvPr>
                <p:cNvSpPr txBox="1"/>
                <p:nvPr/>
              </p:nvSpPr>
              <p:spPr>
                <a:xfrm>
                  <a:off x="4267199" y="5731080"/>
                  <a:ext cx="8915401" cy="954107"/>
                </a:xfrm>
                <a:prstGeom prst="rect">
                  <a:avLst/>
                </a:prstGeom>
                <a:noFill/>
              </p:spPr>
              <p:txBody>
                <a:bodyPr wrap="square" rtlCol="0">
                  <a:spAutoFit/>
                </a:bodyPr>
                <a:lstStyle/>
                <a:p>
                  <a:pPr algn="ctr">
                    <a:lnSpc>
                      <a:spcPct val="150000"/>
                    </a:lnSpc>
                  </a:pPr>
                  <a:r>
                    <a:rPr lang="de-DE" sz="2400" b="1" dirty="0">
                      <a:solidFill>
                        <a:schemeClr val="bg1"/>
                      </a:solidFill>
                      <a:latin typeface="Segoe UI" panose="020B0502040204020203" pitchFamily="34" charset="0"/>
                      <a:cs typeface="Segoe UI" panose="020B0502040204020203" pitchFamily="34" charset="0"/>
                    </a:rPr>
                    <a:t>3. </a:t>
                  </a:r>
                  <a:r>
                    <a:rPr lang="de-DE" sz="2400" b="1" dirty="0" err="1">
                      <a:solidFill>
                        <a:schemeClr val="bg1"/>
                      </a:solidFill>
                      <a:latin typeface="Segoe UI" panose="020B0502040204020203" pitchFamily="34" charset="0"/>
                      <a:cs typeface="Segoe UI" panose="020B0502040204020203" pitchFamily="34" charset="0"/>
                    </a:rPr>
                    <a:t>Anomaly</a:t>
                  </a:r>
                  <a:r>
                    <a:rPr lang="de-DE" sz="2400" b="1" dirty="0">
                      <a:solidFill>
                        <a:schemeClr val="bg1"/>
                      </a:solidFill>
                      <a:latin typeface="Segoe UI" panose="020B0502040204020203" pitchFamily="34" charset="0"/>
                      <a:cs typeface="Segoe UI" panose="020B0502040204020203" pitchFamily="34" charset="0"/>
                    </a:rPr>
                    <a:t> Feature Generator</a:t>
                  </a:r>
                </a:p>
                <a:p>
                  <a:pPr algn="ctr"/>
                  <a:r>
                    <a:rPr lang="de-DE" sz="2000" i="1" dirty="0" err="1">
                      <a:solidFill>
                        <a:schemeClr val="bg1"/>
                      </a:solidFill>
                      <a:latin typeface="Segoe UI" panose="020B0502040204020203" pitchFamily="34" charset="0"/>
                      <a:cs typeface="Segoe UI" panose="020B0502040204020203" pitchFamily="34" charset="0"/>
                    </a:rPr>
                    <a:t>Adds</a:t>
                  </a:r>
                  <a:r>
                    <a:rPr lang="de-DE" sz="2000" i="1" dirty="0">
                      <a:solidFill>
                        <a:schemeClr val="bg1"/>
                      </a:solidFill>
                      <a:latin typeface="Segoe UI" panose="020B0502040204020203" pitchFamily="34" charset="0"/>
                      <a:cs typeface="Segoe UI" panose="020B0502040204020203" pitchFamily="34" charset="0"/>
                    </a:rPr>
                    <a:t> Feature-Space Synthesis </a:t>
                  </a:r>
                  <a:r>
                    <a:rPr lang="de-DE" sz="2000" i="1" dirty="0" err="1">
                      <a:solidFill>
                        <a:schemeClr val="bg1"/>
                      </a:solidFill>
                      <a:latin typeface="Segoe UI" panose="020B0502040204020203" pitchFamily="34" charset="0"/>
                      <a:cs typeface="Segoe UI" panose="020B0502040204020203" pitchFamily="34" charset="0"/>
                    </a:rPr>
                    <a:t>q</a:t>
                  </a:r>
                  <a:r>
                    <a:rPr lang="de-DE" i="1" baseline="-25000" dirty="0" err="1">
                      <a:solidFill>
                        <a:schemeClr val="bg1"/>
                      </a:solidFill>
                      <a:latin typeface="Segoe UI" panose="020B0502040204020203" pitchFamily="34" charset="0"/>
                      <a:cs typeface="Segoe UI" panose="020B0502040204020203" pitchFamily="34" charset="0"/>
                    </a:rPr>
                    <a:t>fake</a:t>
                  </a:r>
                  <a:r>
                    <a:rPr lang="de-DE" sz="2000" i="1" dirty="0">
                      <a:solidFill>
                        <a:schemeClr val="bg1"/>
                      </a:solidFill>
                      <a:latin typeface="Segoe UI" panose="020B0502040204020203" pitchFamily="34" charset="0"/>
                      <a:cs typeface="Segoe UI" panose="020B0502040204020203" pitchFamily="34" charset="0"/>
                    </a:rPr>
                    <a:t> = </a:t>
                  </a:r>
                  <a:r>
                    <a:rPr lang="de-DE" sz="2000" i="1" dirty="0" err="1">
                      <a:solidFill>
                        <a:schemeClr val="bg1"/>
                      </a:solidFill>
                      <a:latin typeface="Segoe UI" panose="020B0502040204020203" pitchFamily="34" charset="0"/>
                      <a:cs typeface="Segoe UI" panose="020B0502040204020203" pitchFamily="34" charset="0"/>
                    </a:rPr>
                    <a:t>q</a:t>
                  </a:r>
                  <a:r>
                    <a:rPr lang="de-DE" sz="2000" i="1" baseline="-25000" dirty="0" err="1">
                      <a:solidFill>
                        <a:schemeClr val="bg1"/>
                      </a:solidFill>
                      <a:latin typeface="Segoe UI" panose="020B0502040204020203" pitchFamily="34" charset="0"/>
                      <a:cs typeface="Segoe UI" panose="020B0502040204020203" pitchFamily="34" charset="0"/>
                    </a:rPr>
                    <a:t>normal</a:t>
                  </a:r>
                  <a:r>
                    <a:rPr lang="de-DE" sz="2000" i="1" dirty="0">
                      <a:solidFill>
                        <a:schemeClr val="bg1"/>
                      </a:solidFill>
                      <a:latin typeface="Segoe UI" panose="020B0502040204020203" pitchFamily="34" charset="0"/>
                      <a:cs typeface="Segoe UI" panose="020B0502040204020203" pitchFamily="34" charset="0"/>
                    </a:rPr>
                    <a:t>+</a:t>
                  </a:r>
                  <a14:m>
                    <m:oMath xmlns:m="http://schemas.openxmlformats.org/officeDocument/2006/math">
                      <m:r>
                        <a:rPr lang="de-DE" sz="2000" i="1">
                          <a:solidFill>
                            <a:schemeClr val="bg1"/>
                          </a:solidFill>
                          <a:latin typeface="Cambria Math" panose="02040503050406030204" pitchFamily="18" charset="0"/>
                          <a:ea typeface="Cambria Math" panose="02040503050406030204" pitchFamily="18" charset="0"/>
                          <a:cs typeface="Segoe UI" panose="020B0502040204020203" pitchFamily="34" charset="0"/>
                        </a:rPr>
                        <m:t> </m:t>
                      </m:r>
                      <m:r>
                        <a:rPr lang="de-DE" sz="2000" b="0" i="1" smtClean="0">
                          <a:solidFill>
                            <a:schemeClr val="bg1"/>
                          </a:solidFill>
                          <a:latin typeface="Cambria Math" panose="02040503050406030204" pitchFamily="18" charset="0"/>
                          <a:ea typeface="Cambria Math" panose="02040503050406030204" pitchFamily="18" charset="0"/>
                          <a:cs typeface="Segoe UI" panose="020B0502040204020203" pitchFamily="34" charset="0"/>
                        </a:rPr>
                        <m:t>𝜀</m:t>
                      </m:r>
                      <m:r>
                        <a:rPr lang="de-DE" sz="2000" b="0" i="1" smtClean="0">
                          <a:solidFill>
                            <a:schemeClr val="bg1"/>
                          </a:solidFill>
                          <a:latin typeface="Cambria Math" panose="02040503050406030204" pitchFamily="18" charset="0"/>
                          <a:ea typeface="Cambria Math" panose="02040503050406030204" pitchFamily="18" charset="0"/>
                          <a:cs typeface="Segoe UI" panose="020B0502040204020203" pitchFamily="34" charset="0"/>
                        </a:rPr>
                        <m:t>,  </m:t>
                      </m:r>
                      <m:r>
                        <a:rPr lang="de-DE" sz="2000" b="0" i="1" smtClean="0">
                          <a:solidFill>
                            <a:schemeClr val="bg1"/>
                          </a:solidFill>
                          <a:latin typeface="Cambria Math" panose="02040503050406030204" pitchFamily="18" charset="0"/>
                          <a:ea typeface="Cambria Math" panose="02040503050406030204" pitchFamily="18" charset="0"/>
                          <a:cs typeface="Segoe UI" panose="020B0502040204020203" pitchFamily="34" charset="0"/>
                        </a:rPr>
                        <m:t>𝑤h𝑒𝑟𝑒</m:t>
                      </m:r>
                      <m:r>
                        <a:rPr lang="de-DE" sz="2000" b="0" i="1" smtClean="0">
                          <a:solidFill>
                            <a:schemeClr val="bg1"/>
                          </a:solidFill>
                          <a:latin typeface="Cambria Math" panose="02040503050406030204" pitchFamily="18" charset="0"/>
                          <a:ea typeface="Cambria Math" panose="02040503050406030204" pitchFamily="18" charset="0"/>
                          <a:cs typeface="Segoe UI" panose="020B0502040204020203" pitchFamily="34" charset="0"/>
                        </a:rPr>
                        <m:t> </m:t>
                      </m:r>
                      <m:r>
                        <a:rPr lang="de-DE" sz="2000" b="0" i="1" smtClean="0">
                          <a:solidFill>
                            <a:schemeClr val="bg1"/>
                          </a:solidFill>
                          <a:latin typeface="Cambria Math" panose="02040503050406030204" pitchFamily="18" charset="0"/>
                          <a:ea typeface="Cambria Math" panose="02040503050406030204" pitchFamily="18" charset="0"/>
                          <a:cs typeface="Segoe UI" panose="020B0502040204020203" pitchFamily="34" charset="0"/>
                        </a:rPr>
                        <m:t>𝜀</m:t>
                      </m:r>
                      <m:r>
                        <a:rPr lang="de-DE" sz="2000" i="1" smtClean="0">
                          <a:solidFill>
                            <a:schemeClr val="bg1"/>
                          </a:solidFill>
                          <a:latin typeface="Cambria Math" panose="02040503050406030204" pitchFamily="18" charset="0"/>
                          <a:ea typeface="Cambria Math" panose="02040503050406030204" pitchFamily="18" charset="0"/>
                          <a:cs typeface="Segoe UI" panose="020B0502040204020203" pitchFamily="34" charset="0"/>
                        </a:rPr>
                        <m:t>∈~</m:t>
                      </m:r>
                      <m:r>
                        <a:rPr lang="de-DE" sz="2000" b="0" i="1" smtClean="0">
                          <a:solidFill>
                            <a:schemeClr val="bg1"/>
                          </a:solidFill>
                          <a:latin typeface="Cambria Math" panose="02040503050406030204" pitchFamily="18" charset="0"/>
                          <a:ea typeface="Cambria Math" panose="02040503050406030204" pitchFamily="18" charset="0"/>
                          <a:cs typeface="Segoe UI" panose="020B0502040204020203" pitchFamily="34" charset="0"/>
                        </a:rPr>
                        <m:t>𝑁</m:t>
                      </m:r>
                      <m:r>
                        <a:rPr lang="de-DE" sz="2000" b="0" i="1" smtClean="0">
                          <a:solidFill>
                            <a:schemeClr val="bg1"/>
                          </a:solidFill>
                          <a:latin typeface="Cambria Math" panose="02040503050406030204" pitchFamily="18" charset="0"/>
                          <a:ea typeface="Cambria Math" panose="02040503050406030204" pitchFamily="18" charset="0"/>
                          <a:cs typeface="Segoe UI" panose="020B0502040204020203" pitchFamily="34" charset="0"/>
                        </a:rPr>
                        <m:t> (0, 0.0152)</m:t>
                      </m:r>
                    </m:oMath>
                  </a14:m>
                  <a:endParaRPr lang="en-GB" sz="2000" i="1" dirty="0">
                    <a:solidFill>
                      <a:schemeClr val="bg1"/>
                    </a:solidFill>
                    <a:latin typeface="Segoe UI" panose="020B0502040204020203" pitchFamily="34" charset="0"/>
                    <a:cs typeface="Segoe UI" panose="020B0502040204020203" pitchFamily="34" charset="0"/>
                  </a:endParaRPr>
                </a:p>
              </p:txBody>
            </p:sp>
          </mc:Choice>
          <mc:Fallback>
            <p:sp>
              <p:nvSpPr>
                <p:cNvPr id="25" name="TextBox 24">
                  <a:extLst>
                    <a:ext uri="{FF2B5EF4-FFF2-40B4-BE49-F238E27FC236}">
                      <a16:creationId xmlns:a16="http://schemas.microsoft.com/office/drawing/2014/main" id="{1A9C0E80-2ED6-3EE4-2F80-BFAA11588557}"/>
                    </a:ext>
                  </a:extLst>
                </p:cNvPr>
                <p:cNvSpPr txBox="1">
                  <a:spLocks noRot="1" noChangeAspect="1" noMove="1" noResize="1" noEditPoints="1" noAdjustHandles="1" noChangeArrowheads="1" noChangeShapeType="1" noTextEdit="1"/>
                </p:cNvSpPr>
                <p:nvPr/>
              </p:nvSpPr>
              <p:spPr>
                <a:xfrm>
                  <a:off x="4267199" y="5731080"/>
                  <a:ext cx="8915401" cy="954107"/>
                </a:xfrm>
                <a:prstGeom prst="rect">
                  <a:avLst/>
                </a:prstGeom>
                <a:blipFill>
                  <a:blip r:embed="rId8"/>
                  <a:stretch>
                    <a:fillRect b="-10828"/>
                  </a:stretch>
                </a:blipFill>
              </p:spPr>
              <p:txBody>
                <a:bodyPr/>
                <a:lstStyle/>
                <a:p>
                  <a:r>
                    <a:rPr lang="en-GB">
                      <a:noFill/>
                    </a:rPr>
                    <a:t> </a:t>
                  </a:r>
                </a:p>
              </p:txBody>
            </p:sp>
          </mc:Fallback>
        </mc:AlternateContent>
      </p:grpSp>
      <p:grpSp>
        <p:nvGrpSpPr>
          <p:cNvPr id="56" name="Group 55">
            <a:extLst>
              <a:ext uri="{FF2B5EF4-FFF2-40B4-BE49-F238E27FC236}">
                <a16:creationId xmlns:a16="http://schemas.microsoft.com/office/drawing/2014/main" id="{A419E47E-D0FA-DCA9-9F6D-C11198B9FA19}"/>
              </a:ext>
            </a:extLst>
          </p:cNvPr>
          <p:cNvGrpSpPr/>
          <p:nvPr/>
        </p:nvGrpSpPr>
        <p:grpSpPr>
          <a:xfrm>
            <a:off x="3900613" y="7446477"/>
            <a:ext cx="9547163" cy="1101683"/>
            <a:chOff x="3900613" y="7446477"/>
            <a:chExt cx="9547163" cy="1101683"/>
          </a:xfrm>
        </p:grpSpPr>
        <p:pic>
          <p:nvPicPr>
            <p:cNvPr id="17" name="Picture 16">
              <a:extLst>
                <a:ext uri="{FF2B5EF4-FFF2-40B4-BE49-F238E27FC236}">
                  <a16:creationId xmlns:a16="http://schemas.microsoft.com/office/drawing/2014/main" id="{44530CF5-63F6-ABA5-8440-7BD3E90F2180}"/>
                </a:ext>
              </a:extLst>
            </p:cNvPr>
            <p:cNvPicPr>
              <a:picLocks noChangeAspect="1"/>
            </p:cNvPicPr>
            <p:nvPr/>
          </p:nvPicPr>
          <p:blipFill>
            <a:blip r:embed="rId9"/>
            <a:stretch>
              <a:fillRect/>
            </a:stretch>
          </p:blipFill>
          <p:spPr>
            <a:xfrm>
              <a:off x="3900613" y="7530040"/>
              <a:ext cx="9547163" cy="1018120"/>
            </a:xfrm>
            <a:prstGeom prst="rect">
              <a:avLst/>
            </a:prstGeom>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pic>
        <p:sp>
          <p:nvSpPr>
            <p:cNvPr id="27" name="TextBox 26">
              <a:extLst>
                <a:ext uri="{FF2B5EF4-FFF2-40B4-BE49-F238E27FC236}">
                  <a16:creationId xmlns:a16="http://schemas.microsoft.com/office/drawing/2014/main" id="{6CA45AF3-6C35-78FC-1DD7-0DAA9AC1E14A}"/>
                </a:ext>
              </a:extLst>
            </p:cNvPr>
            <p:cNvSpPr txBox="1"/>
            <p:nvPr/>
          </p:nvSpPr>
          <p:spPr>
            <a:xfrm>
              <a:off x="4267199" y="7446477"/>
              <a:ext cx="8915401" cy="954107"/>
            </a:xfrm>
            <a:prstGeom prst="rect">
              <a:avLst/>
            </a:prstGeom>
            <a:noFill/>
          </p:spPr>
          <p:txBody>
            <a:bodyPr wrap="square" rtlCol="0">
              <a:spAutoFit/>
            </a:bodyPr>
            <a:lstStyle/>
            <a:p>
              <a:pPr algn="ctr">
                <a:lnSpc>
                  <a:spcPct val="150000"/>
                </a:lnSpc>
              </a:pPr>
              <a:r>
                <a:rPr lang="de-DE" sz="2400" b="1" dirty="0">
                  <a:solidFill>
                    <a:schemeClr val="bg1"/>
                  </a:solidFill>
                  <a:latin typeface="Segoe UI" panose="020B0502040204020203" pitchFamily="34" charset="0"/>
                  <a:cs typeface="Segoe UI" panose="020B0502040204020203" pitchFamily="34" charset="0"/>
                </a:rPr>
                <a:t>4. </a:t>
              </a:r>
              <a:r>
                <a:rPr lang="de-DE" sz="2400" b="1" dirty="0" err="1">
                  <a:solidFill>
                    <a:schemeClr val="bg1"/>
                  </a:solidFill>
                  <a:latin typeface="Segoe UI" panose="020B0502040204020203" pitchFamily="34" charset="0"/>
                  <a:cs typeface="Segoe UI" panose="020B0502040204020203" pitchFamily="34" charset="0"/>
                </a:rPr>
                <a:t>Discriminator</a:t>
              </a:r>
              <a:endParaRPr lang="de-DE" sz="2400" b="1" dirty="0">
                <a:solidFill>
                  <a:schemeClr val="bg1"/>
                </a:solidFill>
                <a:latin typeface="Segoe UI" panose="020B0502040204020203" pitchFamily="34" charset="0"/>
                <a:cs typeface="Segoe UI" panose="020B0502040204020203" pitchFamily="34" charset="0"/>
              </a:endParaRPr>
            </a:p>
            <a:p>
              <a:pPr algn="ctr"/>
              <a:r>
                <a:rPr lang="en-GB" sz="2000" i="1" dirty="0">
                  <a:solidFill>
                    <a:schemeClr val="bg1"/>
                  </a:solidFill>
                  <a:latin typeface="Segoe UI" panose="020B0502040204020203" pitchFamily="34" charset="0"/>
                  <a:cs typeface="Segoe UI" panose="020B0502040204020203" pitchFamily="34" charset="0"/>
                </a:rPr>
                <a:t>Linear </a:t>
              </a:r>
              <a:r>
                <a:rPr lang="en-GB" sz="2000" i="1" dirty="0">
                  <a:solidFill>
                    <a:schemeClr val="bg1"/>
                  </a:solidFill>
                  <a:latin typeface="Segoe UI" panose="020B0502040204020203" pitchFamily="34" charset="0"/>
                  <a:cs typeface="Segoe UI" panose="020B0502040204020203" pitchFamily="34" charset="0"/>
                  <a:sym typeface="Wingdings" panose="05000000000000000000" pitchFamily="2" charset="2"/>
                </a:rPr>
                <a:t> </a:t>
              </a:r>
              <a:r>
                <a:rPr lang="en-GB" sz="2000" i="1" dirty="0" err="1">
                  <a:solidFill>
                    <a:schemeClr val="bg1"/>
                  </a:solidFill>
                  <a:latin typeface="Segoe UI" panose="020B0502040204020203" pitchFamily="34" charset="0"/>
                  <a:cs typeface="Segoe UI" panose="020B0502040204020203" pitchFamily="34" charset="0"/>
                  <a:sym typeface="Wingdings" panose="05000000000000000000" pitchFamily="2" charset="2"/>
                </a:rPr>
                <a:t>BatchNorm</a:t>
              </a:r>
              <a:r>
                <a:rPr lang="en-GB" sz="2000" i="1" dirty="0">
                  <a:solidFill>
                    <a:schemeClr val="bg1"/>
                  </a:solidFill>
                  <a:latin typeface="Segoe UI" panose="020B0502040204020203" pitchFamily="34" charset="0"/>
                  <a:cs typeface="Segoe UI" panose="020B0502040204020203" pitchFamily="34" charset="0"/>
                  <a:sym typeface="Wingdings" panose="05000000000000000000" pitchFamily="2" charset="2"/>
                </a:rPr>
                <a:t>  </a:t>
              </a:r>
              <a:r>
                <a:rPr lang="en-GB" sz="2000" i="1" dirty="0" err="1">
                  <a:solidFill>
                    <a:schemeClr val="bg1"/>
                  </a:solidFill>
                  <a:latin typeface="Segoe UI" panose="020B0502040204020203" pitchFamily="34" charset="0"/>
                  <a:cs typeface="Segoe UI" panose="020B0502040204020203" pitchFamily="34" charset="0"/>
                  <a:sym typeface="Wingdings" panose="05000000000000000000" pitchFamily="2" charset="2"/>
                </a:rPr>
                <a:t>LeakyReLU</a:t>
              </a:r>
              <a:endParaRPr lang="en-GB" sz="2000" i="1" dirty="0">
                <a:solidFill>
                  <a:schemeClr val="bg1"/>
                </a:solidFill>
                <a:latin typeface="Segoe UI" panose="020B0502040204020203" pitchFamily="34" charset="0"/>
                <a:cs typeface="Segoe UI" panose="020B0502040204020203" pitchFamily="34" charset="0"/>
              </a:endParaRPr>
            </a:p>
          </p:txBody>
        </p:sp>
      </p:grpSp>
      <p:sp>
        <p:nvSpPr>
          <p:cNvPr id="38" name="Arrow: Down 37">
            <a:extLst>
              <a:ext uri="{FF2B5EF4-FFF2-40B4-BE49-F238E27FC236}">
                <a16:creationId xmlns:a16="http://schemas.microsoft.com/office/drawing/2014/main" id="{EA63E297-A824-1E0E-45A6-8B9B143BBD00}"/>
              </a:ext>
            </a:extLst>
          </p:cNvPr>
          <p:cNvSpPr/>
          <p:nvPr/>
        </p:nvSpPr>
        <p:spPr>
          <a:xfrm>
            <a:off x="8255831" y="4994098"/>
            <a:ext cx="359251" cy="750698"/>
          </a:xfrm>
          <a:prstGeom prst="downArrow">
            <a:avLst/>
          </a:prstGeom>
          <a:ln>
            <a:noFill/>
          </a:ln>
          <a:effectLst>
            <a:outerShdw blurRad="149987" dist="250190" dir="8460000" algn="ctr">
              <a:srgbClr val="000000">
                <a:alpha val="28000"/>
              </a:srgbClr>
            </a:outerShdw>
          </a:effectLst>
          <a:scene3d>
            <a:camera prst="orthographicFront">
              <a:rot lat="0" lon="0" rev="0"/>
            </a:camera>
            <a:lightRig rig="contrasting" dir="t">
              <a:rot lat="0" lon="0" rev="1500000"/>
            </a:lightRig>
          </a:scene3d>
          <a:sp3d prstMaterial="metal">
            <a:bevelT w="88900" h="88900"/>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9" name="Arrow: Down 38">
            <a:extLst>
              <a:ext uri="{FF2B5EF4-FFF2-40B4-BE49-F238E27FC236}">
                <a16:creationId xmlns:a16="http://schemas.microsoft.com/office/drawing/2014/main" id="{52D39734-96D8-3ECA-6AD5-16D738FD134C}"/>
              </a:ext>
            </a:extLst>
          </p:cNvPr>
          <p:cNvSpPr/>
          <p:nvPr/>
        </p:nvSpPr>
        <p:spPr>
          <a:xfrm>
            <a:off x="8251349" y="6762916"/>
            <a:ext cx="359251" cy="750698"/>
          </a:xfrm>
          <a:prstGeom prst="downArrow">
            <a:avLst/>
          </a:prstGeom>
          <a:ln>
            <a:noFill/>
          </a:ln>
          <a:effectLst>
            <a:outerShdw blurRad="149987" dist="250190" dir="8460000" algn="ctr">
              <a:srgbClr val="000000">
                <a:alpha val="28000"/>
              </a:srgbClr>
            </a:outerShdw>
          </a:effectLst>
          <a:scene3d>
            <a:camera prst="orthographicFront">
              <a:rot lat="0" lon="0" rev="0"/>
            </a:camera>
            <a:lightRig rig="contrasting" dir="t">
              <a:rot lat="0" lon="0" rev="1500000"/>
            </a:lightRig>
          </a:scene3d>
          <a:sp3d prstMaterial="metal">
            <a:bevelT w="88900" h="88900"/>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41" name="Arrow: Down 40">
            <a:extLst>
              <a:ext uri="{FF2B5EF4-FFF2-40B4-BE49-F238E27FC236}">
                <a16:creationId xmlns:a16="http://schemas.microsoft.com/office/drawing/2014/main" id="{E61CB5A8-2BBB-A1FB-035F-E9CE838A6FFB}"/>
              </a:ext>
            </a:extLst>
          </p:cNvPr>
          <p:cNvSpPr/>
          <p:nvPr/>
        </p:nvSpPr>
        <p:spPr>
          <a:xfrm>
            <a:off x="8289449" y="3228188"/>
            <a:ext cx="359251" cy="750698"/>
          </a:xfrm>
          <a:prstGeom prst="downArrow">
            <a:avLst/>
          </a:prstGeom>
          <a:ln>
            <a:noFill/>
          </a:ln>
          <a:effectLst>
            <a:outerShdw blurRad="149987" dist="250190" dir="8460000" algn="ctr">
              <a:srgbClr val="000000">
                <a:alpha val="28000"/>
              </a:srgbClr>
            </a:outerShdw>
          </a:effectLst>
          <a:scene3d>
            <a:camera prst="orthographicFront">
              <a:rot lat="0" lon="0" rev="0"/>
            </a:camera>
            <a:lightRig rig="contrasting" dir="t">
              <a:rot lat="0" lon="0" rev="1500000"/>
            </a:lightRig>
          </a:scene3d>
          <a:sp3d prstMaterial="metal">
            <a:bevelT w="88900" h="88900"/>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grpSp>
        <p:nvGrpSpPr>
          <p:cNvPr id="58" name="Group 57">
            <a:extLst>
              <a:ext uri="{FF2B5EF4-FFF2-40B4-BE49-F238E27FC236}">
                <a16:creationId xmlns:a16="http://schemas.microsoft.com/office/drawing/2014/main" id="{6E760BF7-141D-5ACD-567C-95A526EC3AD5}"/>
              </a:ext>
            </a:extLst>
          </p:cNvPr>
          <p:cNvGrpSpPr/>
          <p:nvPr/>
        </p:nvGrpSpPr>
        <p:grpSpPr>
          <a:xfrm>
            <a:off x="2286000" y="8953500"/>
            <a:ext cx="13258800" cy="1153418"/>
            <a:chOff x="2286000" y="8953500"/>
            <a:chExt cx="13258800" cy="1153418"/>
          </a:xfrm>
        </p:grpSpPr>
        <p:sp>
          <p:nvSpPr>
            <p:cNvPr id="45" name="Rectangle: Rounded Corners 44">
              <a:extLst>
                <a:ext uri="{FF2B5EF4-FFF2-40B4-BE49-F238E27FC236}">
                  <a16:creationId xmlns:a16="http://schemas.microsoft.com/office/drawing/2014/main" id="{896DE631-700F-7917-93B1-8AE646442823}"/>
                </a:ext>
              </a:extLst>
            </p:cNvPr>
            <p:cNvSpPr/>
            <p:nvPr/>
          </p:nvSpPr>
          <p:spPr>
            <a:xfrm>
              <a:off x="2286000" y="8953500"/>
              <a:ext cx="13258800" cy="838200"/>
            </a:xfrm>
            <a:prstGeom prst="roundRect">
              <a:avLst/>
            </a:prstGeom>
            <a:solidFill>
              <a:schemeClr val="accent3">
                <a:alpha val="50000"/>
              </a:schemeClr>
            </a:solidFill>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style>
            <a:lnRef idx="0">
              <a:scrgbClr r="0" g="0" b="0"/>
            </a:lnRef>
            <a:fillRef idx="0">
              <a:scrgbClr r="0" g="0" b="0"/>
            </a:fillRef>
            <a:effectRef idx="0">
              <a:scrgbClr r="0" g="0" b="0"/>
            </a:effectRef>
            <a:fontRef idx="minor">
              <a:schemeClr val="lt1"/>
            </a:fontRef>
          </p:style>
          <p:txBody>
            <a:bodyPr rtlCol="0" anchor="ctr"/>
            <a:lstStyle/>
            <a:p>
              <a:pPr algn="ctr"/>
              <a:endParaRPr lang="en-GB"/>
            </a:p>
          </p:txBody>
        </p:sp>
        <p:sp>
          <p:nvSpPr>
            <p:cNvPr id="46" name="TextBox 45">
              <a:extLst>
                <a:ext uri="{FF2B5EF4-FFF2-40B4-BE49-F238E27FC236}">
                  <a16:creationId xmlns:a16="http://schemas.microsoft.com/office/drawing/2014/main" id="{434C84D8-BDDB-3DBB-2E4F-2CF834D7C309}"/>
                </a:ext>
              </a:extLst>
            </p:cNvPr>
            <p:cNvSpPr txBox="1"/>
            <p:nvPr/>
          </p:nvSpPr>
          <p:spPr>
            <a:xfrm>
              <a:off x="2362200" y="9029700"/>
              <a:ext cx="13182600" cy="1077218"/>
            </a:xfrm>
            <a:prstGeom prst="rect">
              <a:avLst/>
            </a:prstGeom>
            <a:noFill/>
          </p:spPr>
          <p:txBody>
            <a:bodyPr wrap="square" rtlCol="0">
              <a:spAutoFit/>
            </a:bodyPr>
            <a:lstStyle/>
            <a:p>
              <a:pPr algn="ctr"/>
              <a:r>
                <a:rPr lang="en-GB" sz="3200" i="1" dirty="0">
                  <a:solidFill>
                    <a:schemeClr val="bg1"/>
                  </a:solidFill>
                  <a:latin typeface="Segoe UI" panose="020B0502040204020203" pitchFamily="34" charset="0"/>
                  <a:cs typeface="Segoe UI" panose="020B0502040204020203" pitchFamily="34" charset="0"/>
                </a:rPr>
                <a:t>Key Insight: Synthesize anomalies in </a:t>
              </a:r>
              <a:r>
                <a:rPr lang="en-GB" sz="3200" b="1" i="1" dirty="0">
                  <a:solidFill>
                    <a:schemeClr val="bg1"/>
                  </a:solidFill>
                  <a:latin typeface="Segoe UI" panose="020B0502040204020203" pitchFamily="34" charset="0"/>
                  <a:cs typeface="Segoe UI" panose="020B0502040204020203" pitchFamily="34" charset="0"/>
                </a:rPr>
                <a:t>feature space</a:t>
              </a:r>
              <a:r>
                <a:rPr lang="en-GB" sz="3200" i="1" dirty="0">
                  <a:solidFill>
                    <a:schemeClr val="bg1"/>
                  </a:solidFill>
                  <a:latin typeface="Segoe UI" panose="020B0502040204020203" pitchFamily="34" charset="0"/>
                  <a:cs typeface="Segoe UI" panose="020B0502040204020203" pitchFamily="34" charset="0"/>
                </a:rPr>
                <a:t>, not image space!</a:t>
              </a:r>
            </a:p>
            <a:p>
              <a:pPr algn="ctr"/>
              <a:endParaRPr lang="en-GB" sz="3200" dirty="0">
                <a:latin typeface="Segoe UI" panose="020B0502040204020203" pitchFamily="34" charset="0"/>
                <a:cs typeface="Segoe UI" panose="020B0502040204020203" pitchFamily="34" charset="0"/>
              </a:endParaRPr>
            </a:p>
          </p:txBody>
        </p:sp>
      </p:grpSp>
      <p:grpSp>
        <p:nvGrpSpPr>
          <p:cNvPr id="54" name="Group 53">
            <a:extLst>
              <a:ext uri="{FF2B5EF4-FFF2-40B4-BE49-F238E27FC236}">
                <a16:creationId xmlns:a16="http://schemas.microsoft.com/office/drawing/2014/main" id="{8AA6214D-057A-7462-F37A-71F9243DFC13}"/>
              </a:ext>
            </a:extLst>
          </p:cNvPr>
          <p:cNvGrpSpPr/>
          <p:nvPr/>
        </p:nvGrpSpPr>
        <p:grpSpPr>
          <a:xfrm>
            <a:off x="3922776" y="3949005"/>
            <a:ext cx="9525000" cy="1024033"/>
            <a:chOff x="3922776" y="3949005"/>
            <a:chExt cx="9525000" cy="1024033"/>
          </a:xfrm>
        </p:grpSpPr>
        <p:sp>
          <p:nvSpPr>
            <p:cNvPr id="49" name="Rectangle 48">
              <a:extLst>
                <a:ext uri="{FF2B5EF4-FFF2-40B4-BE49-F238E27FC236}">
                  <a16:creationId xmlns:a16="http://schemas.microsoft.com/office/drawing/2014/main" id="{7E02FD42-99CB-C86C-D3B7-F5B51C06BC78}"/>
                </a:ext>
              </a:extLst>
            </p:cNvPr>
            <p:cNvSpPr/>
            <p:nvPr/>
          </p:nvSpPr>
          <p:spPr>
            <a:xfrm>
              <a:off x="3922776" y="3982438"/>
              <a:ext cx="9525000" cy="990600"/>
            </a:xfrm>
            <a:prstGeom prst="rect">
              <a:avLst/>
            </a:prstGeom>
            <a:ln>
              <a:noFill/>
            </a:ln>
            <a:effectLst>
              <a:outerShdw blurRad="190500" dist="228600" dir="2700000" algn="ctr">
                <a:srgbClr val="000000">
                  <a:alpha val="30000"/>
                </a:srgbClr>
              </a:outerShdw>
            </a:effectLst>
            <a:scene3d>
              <a:camera prst="orthographicFront">
                <a:rot lat="0" lon="0" rev="0"/>
              </a:camera>
              <a:lightRig rig="glow" dir="t">
                <a:rot lat="0" lon="0" rev="4800000"/>
              </a:lightRig>
            </a:scene3d>
            <a:sp3d prstMaterial="matte">
              <a:bevelT w="127000" h="63500"/>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50" name="TextBox 49">
              <a:extLst>
                <a:ext uri="{FF2B5EF4-FFF2-40B4-BE49-F238E27FC236}">
                  <a16:creationId xmlns:a16="http://schemas.microsoft.com/office/drawing/2014/main" id="{228D8B70-0BCE-60A6-B15A-2755CD871E47}"/>
                </a:ext>
              </a:extLst>
            </p:cNvPr>
            <p:cNvSpPr txBox="1"/>
            <p:nvPr/>
          </p:nvSpPr>
          <p:spPr>
            <a:xfrm>
              <a:off x="4267200" y="3949005"/>
              <a:ext cx="8915400" cy="954107"/>
            </a:xfrm>
            <a:prstGeom prst="rect">
              <a:avLst/>
            </a:prstGeom>
            <a:noFill/>
          </p:spPr>
          <p:txBody>
            <a:bodyPr wrap="square" rtlCol="0">
              <a:spAutoFit/>
            </a:bodyPr>
            <a:lstStyle/>
            <a:p>
              <a:pPr algn="ctr">
                <a:lnSpc>
                  <a:spcPct val="150000"/>
                </a:lnSpc>
              </a:pPr>
              <a:r>
                <a:rPr lang="de-DE" sz="2400" b="1" dirty="0">
                  <a:solidFill>
                    <a:schemeClr val="bg1"/>
                  </a:solidFill>
                  <a:latin typeface="Segoe UI" panose="020B0502040204020203" pitchFamily="34" charset="0"/>
                  <a:cs typeface="Segoe UI" panose="020B0502040204020203" pitchFamily="34" charset="0"/>
                </a:rPr>
                <a:t>2. Feature Adapter</a:t>
              </a:r>
            </a:p>
            <a:p>
              <a:pPr algn="ctr"/>
              <a:r>
                <a:rPr lang="de-DE" sz="2000" i="1" dirty="0">
                  <a:solidFill>
                    <a:schemeClr val="bg1"/>
                  </a:solidFill>
                  <a:latin typeface="Segoe UI" panose="020B0502040204020203" pitchFamily="34" charset="0"/>
                  <a:cs typeface="Segoe UI" panose="020B0502040204020203" pitchFamily="34" charset="0"/>
                </a:rPr>
                <a:t>Feature Adapter (</a:t>
              </a:r>
              <a:r>
                <a:rPr lang="de-DE" sz="2000" i="1" dirty="0" err="1">
                  <a:solidFill>
                    <a:schemeClr val="bg1"/>
                  </a:solidFill>
                  <a:latin typeface="Segoe UI" panose="020B0502040204020203" pitchFamily="34" charset="0"/>
                  <a:cs typeface="Segoe UI" panose="020B0502040204020203" pitchFamily="34" charset="0"/>
                </a:rPr>
                <a:t>No</a:t>
              </a:r>
              <a:r>
                <a:rPr lang="de-DE" sz="2000" i="1" dirty="0">
                  <a:solidFill>
                    <a:schemeClr val="bg1"/>
                  </a:solidFill>
                  <a:latin typeface="Segoe UI" panose="020B0502040204020203" pitchFamily="34" charset="0"/>
                  <a:cs typeface="Segoe UI" panose="020B0502040204020203" pitchFamily="34" charset="0"/>
                </a:rPr>
                <a:t> Bias), Projects </a:t>
              </a:r>
              <a:r>
                <a:rPr lang="de-DE" sz="2000" i="1" dirty="0" err="1">
                  <a:solidFill>
                    <a:schemeClr val="bg1"/>
                  </a:solidFill>
                  <a:latin typeface="Segoe UI" panose="020B0502040204020203" pitchFamily="34" charset="0"/>
                  <a:cs typeface="Segoe UI" panose="020B0502040204020203" pitchFamily="34" charset="0"/>
                </a:rPr>
                <a:t>features</a:t>
              </a:r>
              <a:r>
                <a:rPr lang="de-DE" sz="2000" i="1" dirty="0">
                  <a:solidFill>
                    <a:schemeClr val="bg1"/>
                  </a:solidFill>
                  <a:latin typeface="Segoe UI" panose="020B0502040204020203" pitchFamily="34" charset="0"/>
                  <a:cs typeface="Segoe UI" panose="020B0502040204020203" pitchFamily="34" charset="0"/>
                </a:rPr>
                <a:t> </a:t>
              </a:r>
              <a:r>
                <a:rPr lang="de-DE" sz="2000" i="1" dirty="0" err="1">
                  <a:solidFill>
                    <a:schemeClr val="bg1"/>
                  </a:solidFill>
                  <a:latin typeface="Segoe UI" panose="020B0502040204020203" pitchFamily="34" charset="0"/>
                  <a:cs typeface="Segoe UI" panose="020B0502040204020203" pitchFamily="34" charset="0"/>
                </a:rPr>
                <a:t>to</a:t>
              </a:r>
              <a:r>
                <a:rPr lang="de-DE" sz="2000" i="1" dirty="0">
                  <a:solidFill>
                    <a:schemeClr val="bg1"/>
                  </a:solidFill>
                  <a:latin typeface="Segoe UI" panose="020B0502040204020203" pitchFamily="34" charset="0"/>
                  <a:cs typeface="Segoe UI" panose="020B0502040204020203" pitchFamily="34" charset="0"/>
                </a:rPr>
                <a:t> </a:t>
              </a:r>
              <a:r>
                <a:rPr lang="de-DE" sz="2000" i="1" dirty="0" err="1">
                  <a:solidFill>
                    <a:schemeClr val="bg1"/>
                  </a:solidFill>
                  <a:latin typeface="Segoe UI" panose="020B0502040204020203" pitchFamily="34" charset="0"/>
                  <a:cs typeface="Segoe UI" panose="020B0502040204020203" pitchFamily="34" charset="0"/>
                </a:rPr>
                <a:t>target</a:t>
              </a:r>
              <a:r>
                <a:rPr lang="de-DE" sz="2000" i="1" dirty="0">
                  <a:solidFill>
                    <a:schemeClr val="bg1"/>
                  </a:solidFill>
                  <a:latin typeface="Segoe UI" panose="020B0502040204020203" pitchFamily="34" charset="0"/>
                  <a:cs typeface="Segoe UI" panose="020B0502040204020203" pitchFamily="34" charset="0"/>
                </a:rPr>
                <a:t> </a:t>
              </a:r>
              <a:r>
                <a:rPr lang="de-DE" sz="2000" i="1" dirty="0" err="1">
                  <a:solidFill>
                    <a:schemeClr val="bg1"/>
                  </a:solidFill>
                  <a:latin typeface="Segoe UI" panose="020B0502040204020203" pitchFamily="34" charset="0"/>
                  <a:cs typeface="Segoe UI" panose="020B0502040204020203" pitchFamily="34" charset="0"/>
                </a:rPr>
                <a:t>domain</a:t>
              </a:r>
              <a:endParaRPr lang="en-GB" sz="2000" i="1" dirty="0">
                <a:solidFill>
                  <a:schemeClr val="bg1"/>
                </a:solidFill>
                <a:latin typeface="Segoe UI" panose="020B0502040204020203" pitchFamily="34" charset="0"/>
                <a:cs typeface="Segoe UI" panose="020B0502040204020203" pitchFamily="34" charset="0"/>
              </a:endParaRPr>
            </a:p>
          </p:txBody>
        </p:sp>
      </p:grpSp>
    </p:spTree>
    <p:custDataLst>
      <p:tags r:id="rId1"/>
    </p:custDataLst>
    <p:extLst>
      <p:ext uri="{BB962C8B-B14F-4D97-AF65-F5344CB8AC3E}">
        <p14:creationId xmlns:p14="http://schemas.microsoft.com/office/powerpoint/2010/main" val="753834027"/>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51"/>
                                        </p:tgtEl>
                                        <p:attrNameLst>
                                          <p:attrName>style.visibility</p:attrName>
                                        </p:attrNameLst>
                                      </p:cBhvr>
                                      <p:to>
                                        <p:strVal val="visible"/>
                                      </p:to>
                                    </p:set>
                                    <p:anim calcmode="lin" valueType="num">
                                      <p:cBhvr additive="base">
                                        <p:cTn id="7" dur="250" fill="hold"/>
                                        <p:tgtEl>
                                          <p:spTgt spid="51"/>
                                        </p:tgtEl>
                                        <p:attrNameLst>
                                          <p:attrName>ppt_x</p:attrName>
                                        </p:attrNameLst>
                                      </p:cBhvr>
                                      <p:tavLst>
                                        <p:tav tm="0">
                                          <p:val>
                                            <p:strVal val="#ppt_x"/>
                                          </p:val>
                                        </p:tav>
                                        <p:tav tm="100000">
                                          <p:val>
                                            <p:strVal val="#ppt_x"/>
                                          </p:val>
                                        </p:tav>
                                      </p:tavLst>
                                    </p:anim>
                                    <p:anim calcmode="lin" valueType="num">
                                      <p:cBhvr additive="base">
                                        <p:cTn id="8" dur="250" fill="hold"/>
                                        <p:tgtEl>
                                          <p:spTgt spid="51"/>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41"/>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2" presetClass="entr" presetSubtype="4" fill="hold" nodeType="clickEffect">
                                  <p:stCondLst>
                                    <p:cond delay="0"/>
                                  </p:stCondLst>
                                  <p:childTnLst>
                                    <p:set>
                                      <p:cBhvr>
                                        <p:cTn id="16" dur="1" fill="hold">
                                          <p:stCondLst>
                                            <p:cond delay="0"/>
                                          </p:stCondLst>
                                        </p:cTn>
                                        <p:tgtEl>
                                          <p:spTgt spid="54"/>
                                        </p:tgtEl>
                                        <p:attrNameLst>
                                          <p:attrName>style.visibility</p:attrName>
                                        </p:attrNameLst>
                                      </p:cBhvr>
                                      <p:to>
                                        <p:strVal val="visible"/>
                                      </p:to>
                                    </p:set>
                                    <p:anim calcmode="lin" valueType="num">
                                      <p:cBhvr additive="base">
                                        <p:cTn id="17" dur="250" fill="hold"/>
                                        <p:tgtEl>
                                          <p:spTgt spid="54"/>
                                        </p:tgtEl>
                                        <p:attrNameLst>
                                          <p:attrName>ppt_x</p:attrName>
                                        </p:attrNameLst>
                                      </p:cBhvr>
                                      <p:tavLst>
                                        <p:tav tm="0">
                                          <p:val>
                                            <p:strVal val="#ppt_x"/>
                                          </p:val>
                                        </p:tav>
                                        <p:tav tm="100000">
                                          <p:val>
                                            <p:strVal val="#ppt_x"/>
                                          </p:val>
                                        </p:tav>
                                      </p:tavLst>
                                    </p:anim>
                                    <p:anim calcmode="lin" valueType="num">
                                      <p:cBhvr additive="base">
                                        <p:cTn id="18" dur="250" fill="hold"/>
                                        <p:tgtEl>
                                          <p:spTgt spid="54"/>
                                        </p:tgtEl>
                                        <p:attrNameLst>
                                          <p:attrName>ppt_y</p:attrName>
                                        </p:attrNameLst>
                                      </p:cBhvr>
                                      <p:tavLst>
                                        <p:tav tm="0">
                                          <p:val>
                                            <p:strVal val="1+#ppt_h/2"/>
                                          </p:val>
                                        </p:tav>
                                        <p:tav tm="100000">
                                          <p:val>
                                            <p:strVal val="#ppt_y"/>
                                          </p:val>
                                        </p:tav>
                                      </p:tavLst>
                                    </p:anim>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8"/>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2" presetClass="entr" presetSubtype="4" fill="hold" nodeType="clickEffect">
                                  <p:stCondLst>
                                    <p:cond delay="0"/>
                                  </p:stCondLst>
                                  <p:childTnLst>
                                    <p:set>
                                      <p:cBhvr>
                                        <p:cTn id="26" dur="1" fill="hold">
                                          <p:stCondLst>
                                            <p:cond delay="0"/>
                                          </p:stCondLst>
                                        </p:cTn>
                                        <p:tgtEl>
                                          <p:spTgt spid="55"/>
                                        </p:tgtEl>
                                        <p:attrNameLst>
                                          <p:attrName>style.visibility</p:attrName>
                                        </p:attrNameLst>
                                      </p:cBhvr>
                                      <p:to>
                                        <p:strVal val="visible"/>
                                      </p:to>
                                    </p:set>
                                    <p:anim calcmode="lin" valueType="num">
                                      <p:cBhvr additive="base">
                                        <p:cTn id="27" dur="250" fill="hold"/>
                                        <p:tgtEl>
                                          <p:spTgt spid="55"/>
                                        </p:tgtEl>
                                        <p:attrNameLst>
                                          <p:attrName>ppt_x</p:attrName>
                                        </p:attrNameLst>
                                      </p:cBhvr>
                                      <p:tavLst>
                                        <p:tav tm="0">
                                          <p:val>
                                            <p:strVal val="#ppt_x"/>
                                          </p:val>
                                        </p:tav>
                                        <p:tav tm="100000">
                                          <p:val>
                                            <p:strVal val="#ppt_x"/>
                                          </p:val>
                                        </p:tav>
                                      </p:tavLst>
                                    </p:anim>
                                    <p:anim calcmode="lin" valueType="num">
                                      <p:cBhvr additive="base">
                                        <p:cTn id="28" dur="250" fill="hold"/>
                                        <p:tgtEl>
                                          <p:spTgt spid="55"/>
                                        </p:tgtEl>
                                        <p:attrNameLst>
                                          <p:attrName>ppt_y</p:attrName>
                                        </p:attrNameLst>
                                      </p:cBhvr>
                                      <p:tavLst>
                                        <p:tav tm="0">
                                          <p:val>
                                            <p:strVal val="1+#ppt_h/2"/>
                                          </p:val>
                                        </p:tav>
                                        <p:tav tm="100000">
                                          <p:val>
                                            <p:strVal val="#ppt_y"/>
                                          </p:val>
                                        </p:tav>
                                      </p:tavLst>
                                    </p:anim>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grpId="0" nodeType="clickEffect">
                                  <p:stCondLst>
                                    <p:cond delay="0"/>
                                  </p:stCondLst>
                                  <p:childTnLst>
                                    <p:set>
                                      <p:cBhvr>
                                        <p:cTn id="32" dur="1" fill="hold">
                                          <p:stCondLst>
                                            <p:cond delay="0"/>
                                          </p:stCondLst>
                                        </p:cTn>
                                        <p:tgtEl>
                                          <p:spTgt spid="39"/>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2" presetClass="entr" presetSubtype="4" fill="hold" nodeType="clickEffect">
                                  <p:stCondLst>
                                    <p:cond delay="0"/>
                                  </p:stCondLst>
                                  <p:childTnLst>
                                    <p:set>
                                      <p:cBhvr>
                                        <p:cTn id="36" dur="1" fill="hold">
                                          <p:stCondLst>
                                            <p:cond delay="0"/>
                                          </p:stCondLst>
                                        </p:cTn>
                                        <p:tgtEl>
                                          <p:spTgt spid="56"/>
                                        </p:tgtEl>
                                        <p:attrNameLst>
                                          <p:attrName>style.visibility</p:attrName>
                                        </p:attrNameLst>
                                      </p:cBhvr>
                                      <p:to>
                                        <p:strVal val="visible"/>
                                      </p:to>
                                    </p:set>
                                    <p:anim calcmode="lin" valueType="num">
                                      <p:cBhvr additive="base">
                                        <p:cTn id="37" dur="250" fill="hold"/>
                                        <p:tgtEl>
                                          <p:spTgt spid="56"/>
                                        </p:tgtEl>
                                        <p:attrNameLst>
                                          <p:attrName>ppt_x</p:attrName>
                                        </p:attrNameLst>
                                      </p:cBhvr>
                                      <p:tavLst>
                                        <p:tav tm="0">
                                          <p:val>
                                            <p:strVal val="#ppt_x"/>
                                          </p:val>
                                        </p:tav>
                                        <p:tav tm="100000">
                                          <p:val>
                                            <p:strVal val="#ppt_x"/>
                                          </p:val>
                                        </p:tav>
                                      </p:tavLst>
                                    </p:anim>
                                    <p:anim calcmode="lin" valueType="num">
                                      <p:cBhvr additive="base">
                                        <p:cTn id="38" dur="250" fill="hold"/>
                                        <p:tgtEl>
                                          <p:spTgt spid="56"/>
                                        </p:tgtEl>
                                        <p:attrNameLst>
                                          <p:attrName>ppt_y</p:attrName>
                                        </p:attrNameLst>
                                      </p:cBhvr>
                                      <p:tavLst>
                                        <p:tav tm="0">
                                          <p:val>
                                            <p:strVal val="1+#ppt_h/2"/>
                                          </p:val>
                                        </p:tav>
                                        <p:tav tm="100000">
                                          <p:val>
                                            <p:strVal val="#ppt_y"/>
                                          </p:val>
                                        </p:tav>
                                      </p:tavLst>
                                    </p:anim>
                                  </p:childTnLst>
                                </p:cTn>
                              </p:par>
                            </p:childTnLst>
                          </p:cTn>
                        </p:par>
                      </p:childTnLst>
                    </p:cTn>
                  </p:par>
                  <p:par>
                    <p:cTn id="39" fill="hold">
                      <p:stCondLst>
                        <p:cond delay="indefinite"/>
                      </p:stCondLst>
                      <p:childTnLst>
                        <p:par>
                          <p:cTn id="40" fill="hold">
                            <p:stCondLst>
                              <p:cond delay="0"/>
                            </p:stCondLst>
                            <p:childTnLst>
                              <p:par>
                                <p:cTn id="41" presetID="2" presetClass="entr" presetSubtype="4" fill="hold" nodeType="clickEffect">
                                  <p:stCondLst>
                                    <p:cond delay="0"/>
                                  </p:stCondLst>
                                  <p:childTnLst>
                                    <p:set>
                                      <p:cBhvr>
                                        <p:cTn id="42" dur="1" fill="hold">
                                          <p:stCondLst>
                                            <p:cond delay="0"/>
                                          </p:stCondLst>
                                        </p:cTn>
                                        <p:tgtEl>
                                          <p:spTgt spid="58"/>
                                        </p:tgtEl>
                                        <p:attrNameLst>
                                          <p:attrName>style.visibility</p:attrName>
                                        </p:attrNameLst>
                                      </p:cBhvr>
                                      <p:to>
                                        <p:strVal val="visible"/>
                                      </p:to>
                                    </p:set>
                                    <p:anim calcmode="lin" valueType="num">
                                      <p:cBhvr additive="base">
                                        <p:cTn id="43" dur="250" fill="hold"/>
                                        <p:tgtEl>
                                          <p:spTgt spid="58"/>
                                        </p:tgtEl>
                                        <p:attrNameLst>
                                          <p:attrName>ppt_x</p:attrName>
                                        </p:attrNameLst>
                                      </p:cBhvr>
                                      <p:tavLst>
                                        <p:tav tm="0">
                                          <p:val>
                                            <p:strVal val="#ppt_x"/>
                                          </p:val>
                                        </p:tav>
                                        <p:tav tm="100000">
                                          <p:val>
                                            <p:strVal val="#ppt_x"/>
                                          </p:val>
                                        </p:tav>
                                      </p:tavLst>
                                    </p:anim>
                                    <p:anim calcmode="lin" valueType="num">
                                      <p:cBhvr additive="base">
                                        <p:cTn id="44" dur="250" fill="hold"/>
                                        <p:tgtEl>
                                          <p:spTgt spid="58"/>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8" grpId="0" animBg="1"/>
      <p:bldP spid="39" grpId="0" animBg="1"/>
      <p:bldP spid="41" grpId="0" animBg="1"/>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028758B-25F0-9E44-544A-72316A968520}"/>
            </a:ext>
          </a:extLst>
        </p:cNvPr>
        <p:cNvGrpSpPr/>
        <p:nvPr/>
      </p:nvGrpSpPr>
      <p:grpSpPr>
        <a:xfrm>
          <a:off x="0" y="0"/>
          <a:ext cx="0" cy="0"/>
          <a:chOff x="0" y="0"/>
          <a:chExt cx="0" cy="0"/>
        </a:xfrm>
      </p:grpSpPr>
      <p:sp>
        <p:nvSpPr>
          <p:cNvPr id="2" name="Freeform 2">
            <a:extLst>
              <a:ext uri="{FF2B5EF4-FFF2-40B4-BE49-F238E27FC236}">
                <a16:creationId xmlns:a16="http://schemas.microsoft.com/office/drawing/2014/main" id="{4C74B159-46CF-12B8-13B0-0B3365E86439}"/>
              </a:ext>
            </a:extLst>
          </p:cNvPr>
          <p:cNvSpPr/>
          <p:nvPr/>
        </p:nvSpPr>
        <p:spPr>
          <a:xfrm>
            <a:off x="0" y="-1155"/>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3"/>
            <a:stretch>
              <a:fillRect t="-9222" b="-9222"/>
            </a:stretch>
          </a:blipFill>
        </p:spPr>
        <p:txBody>
          <a:bodyPr/>
          <a:lstStyle/>
          <a:p>
            <a:endParaRPr lang="en-GB" sz="4400" dirty="0">
              <a:solidFill>
                <a:schemeClr val="bg1"/>
              </a:solidFill>
              <a:latin typeface="Comic Sans MS" panose="030F0702030302020204" pitchFamily="66" charset="0"/>
            </a:endParaRPr>
          </a:p>
        </p:txBody>
      </p:sp>
      <p:pic>
        <p:nvPicPr>
          <p:cNvPr id="18" name="Picture 17">
            <a:extLst>
              <a:ext uri="{FF2B5EF4-FFF2-40B4-BE49-F238E27FC236}">
                <a16:creationId xmlns:a16="http://schemas.microsoft.com/office/drawing/2014/main" id="{1BF721A8-9140-081D-B548-981E186B19DA}"/>
              </a:ext>
            </a:extLst>
          </p:cNvPr>
          <p:cNvPicPr>
            <a:picLocks noChangeAspect="1"/>
          </p:cNvPicPr>
          <p:nvPr/>
        </p:nvPicPr>
        <p:blipFill rotWithShape="1">
          <a:blip r:embed="rId4"/>
          <a:srcRect l="19756" t="18691" r="19454" b="41655"/>
          <a:stretch/>
        </p:blipFill>
        <p:spPr>
          <a:xfrm>
            <a:off x="16316104" y="381000"/>
            <a:ext cx="1812319" cy="760280"/>
          </a:xfrm>
          <a:prstGeom prst="roundRect">
            <a:avLst>
              <a:gd name="adj" fmla="val 8594"/>
            </a:avLst>
          </a:prstGeom>
          <a:solidFill>
            <a:srgbClr val="FFFFFF">
              <a:shade val="85000"/>
            </a:srgbClr>
          </a:solidFill>
          <a:ln>
            <a:noFill/>
          </a:ln>
          <a:effectLst>
            <a:reflection blurRad="12700" stA="38000" endPos="28000" dist="5000" dir="5400000" sy="-100000" algn="bl" rotWithShape="0"/>
          </a:effectLst>
        </p:spPr>
      </p:pic>
      <p:cxnSp>
        <p:nvCxnSpPr>
          <p:cNvPr id="21" name="Straight Connector 20">
            <a:extLst>
              <a:ext uri="{FF2B5EF4-FFF2-40B4-BE49-F238E27FC236}">
                <a16:creationId xmlns:a16="http://schemas.microsoft.com/office/drawing/2014/main" id="{800228D6-F058-3235-6C57-D669DE801D0E}"/>
              </a:ext>
            </a:extLst>
          </p:cNvPr>
          <p:cNvCxnSpPr>
            <a:cxnSpLocks/>
          </p:cNvCxnSpPr>
          <p:nvPr/>
        </p:nvCxnSpPr>
        <p:spPr>
          <a:xfrm flipV="1">
            <a:off x="1600200" y="1638300"/>
            <a:ext cx="14173200" cy="76200"/>
          </a:xfrm>
          <a:prstGeom prst="line">
            <a:avLst/>
          </a:prstGeom>
        </p:spPr>
        <p:style>
          <a:lnRef idx="3">
            <a:schemeClr val="dk1"/>
          </a:lnRef>
          <a:fillRef idx="0">
            <a:schemeClr val="dk1"/>
          </a:fillRef>
          <a:effectRef idx="2">
            <a:schemeClr val="dk1"/>
          </a:effectRef>
          <a:fontRef idx="minor">
            <a:schemeClr val="tx1"/>
          </a:fontRef>
        </p:style>
      </p:cxnSp>
      <p:sp>
        <p:nvSpPr>
          <p:cNvPr id="23" name="TextBox 22">
            <a:extLst>
              <a:ext uri="{FF2B5EF4-FFF2-40B4-BE49-F238E27FC236}">
                <a16:creationId xmlns:a16="http://schemas.microsoft.com/office/drawing/2014/main" id="{D1BE82A2-3157-629D-6BD8-DC843624B7B2}"/>
              </a:ext>
            </a:extLst>
          </p:cNvPr>
          <p:cNvSpPr txBox="1"/>
          <p:nvPr/>
        </p:nvSpPr>
        <p:spPr>
          <a:xfrm>
            <a:off x="1572412" y="794703"/>
            <a:ext cx="12067388" cy="707886"/>
          </a:xfrm>
          <a:prstGeom prst="rect">
            <a:avLst/>
          </a:prstGeom>
          <a:noFill/>
        </p:spPr>
        <p:txBody>
          <a:bodyPr wrap="square" rtlCol="0">
            <a:spAutoFit/>
          </a:bodyPr>
          <a:lstStyle/>
          <a:p>
            <a:r>
              <a:rPr lang="en-GB" sz="4000" dirty="0" err="1">
                <a:solidFill>
                  <a:schemeClr val="bg1"/>
                </a:solidFill>
                <a:latin typeface="Segoe UI Semibold" panose="020B0702040204020203" pitchFamily="34" charset="0"/>
                <a:cs typeface="Segoe UI Semibold" panose="020B0702040204020203" pitchFamily="34" charset="0"/>
              </a:rPr>
              <a:t>SimpleNet</a:t>
            </a:r>
            <a:r>
              <a:rPr lang="en-GB" sz="4000" dirty="0">
                <a:solidFill>
                  <a:schemeClr val="bg1"/>
                </a:solidFill>
                <a:latin typeface="Segoe UI Semibold" panose="020B0702040204020203" pitchFamily="34" charset="0"/>
                <a:cs typeface="Segoe UI Semibold" panose="020B0702040204020203" pitchFamily="34" charset="0"/>
              </a:rPr>
              <a:t> Results on </a:t>
            </a:r>
            <a:r>
              <a:rPr lang="en-GB" sz="4000" dirty="0" err="1">
                <a:solidFill>
                  <a:schemeClr val="bg1"/>
                </a:solidFill>
                <a:latin typeface="Segoe UI Semibold" panose="020B0702040204020203" pitchFamily="34" charset="0"/>
                <a:cs typeface="Segoe UI Semibold" panose="020B0702040204020203" pitchFamily="34" charset="0"/>
              </a:rPr>
              <a:t>MVTec</a:t>
            </a:r>
            <a:r>
              <a:rPr lang="en-GB" sz="4000" dirty="0">
                <a:solidFill>
                  <a:schemeClr val="bg1"/>
                </a:solidFill>
                <a:latin typeface="Segoe UI Semibold" panose="020B0702040204020203" pitchFamily="34" charset="0"/>
                <a:cs typeface="Segoe UI Semibold" panose="020B0702040204020203" pitchFamily="34" charset="0"/>
              </a:rPr>
              <a:t> AD</a:t>
            </a:r>
          </a:p>
        </p:txBody>
      </p:sp>
      <p:pic>
        <p:nvPicPr>
          <p:cNvPr id="14" name="Picture 13" descr="A table of numbers and symbols&#10;&#10;AI-generated content may be incorrect.">
            <a:extLst>
              <a:ext uri="{FF2B5EF4-FFF2-40B4-BE49-F238E27FC236}">
                <a16:creationId xmlns:a16="http://schemas.microsoft.com/office/drawing/2014/main" id="{1AD6BCA6-E50E-D0EF-AC04-49459EB2C950}"/>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4419600" y="1850211"/>
            <a:ext cx="9697803" cy="4467849"/>
          </a:xfrm>
          <a:prstGeom prst="rect">
            <a:avLst/>
          </a:prstGeom>
          <a:ln w="127000" cap="rnd">
            <a:solidFill>
              <a:srgbClr val="FFFFFF"/>
            </a:solidFill>
          </a:ln>
          <a:effectLst>
            <a:outerShdw blurRad="76200" dist="95250" dir="10500000" sx="97000" sy="23000" kx="900000" algn="br" rotWithShape="0">
              <a:srgbClr val="000000">
                <a:alpha val="20000"/>
              </a:srgbClr>
            </a:outerShdw>
          </a:effectLst>
          <a:scene3d>
            <a:camera prst="orthographicFront"/>
            <a:lightRig rig="twoPt" dir="t">
              <a:rot lat="0" lon="0" rev="7800000"/>
            </a:lightRig>
          </a:scene3d>
          <a:sp3d contourW="6350">
            <a:bevelT w="50800" h="16510"/>
            <a:contourClr>
              <a:srgbClr val="C0C0C0"/>
            </a:contourClr>
          </a:sp3d>
        </p:spPr>
      </p:pic>
      <p:pic>
        <p:nvPicPr>
          <p:cNvPr id="16" name="Picture 15" descr="A table with numbers and a black text&#10;&#10;AI-generated content may be incorrect.">
            <a:extLst>
              <a:ext uri="{FF2B5EF4-FFF2-40B4-BE49-F238E27FC236}">
                <a16:creationId xmlns:a16="http://schemas.microsoft.com/office/drawing/2014/main" id="{4CB7195B-62E4-1F52-68ED-428329E2B322}"/>
              </a:ext>
            </a:extLst>
          </p:cNvPr>
          <p:cNvPicPr>
            <a:picLocks noChangeAspect="1"/>
          </p:cNvPicPr>
          <p:nvPr/>
        </p:nvPicPr>
        <p:blipFill>
          <a:blip r:embed="rId6"/>
          <a:srcRect t="25713"/>
          <a:stretch>
            <a:fillRect/>
          </a:stretch>
        </p:blipFill>
        <p:spPr>
          <a:xfrm>
            <a:off x="5915351" y="7355320"/>
            <a:ext cx="6457298" cy="1669928"/>
          </a:xfrm>
          <a:prstGeom prst="rect">
            <a:avLst/>
          </a:prstGeom>
          <a:solidFill>
            <a:srgbClr val="FFFFFF">
              <a:shade val="85000"/>
            </a:srgbClr>
          </a:solidFill>
          <a:ln w="1905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sp>
        <p:nvSpPr>
          <p:cNvPr id="17" name="TextBox 16">
            <a:extLst>
              <a:ext uri="{FF2B5EF4-FFF2-40B4-BE49-F238E27FC236}">
                <a16:creationId xmlns:a16="http://schemas.microsoft.com/office/drawing/2014/main" id="{2B75F54A-17AC-F19E-CE48-42768FC10651}"/>
              </a:ext>
            </a:extLst>
          </p:cNvPr>
          <p:cNvSpPr txBox="1"/>
          <p:nvPr/>
        </p:nvSpPr>
        <p:spPr>
          <a:xfrm>
            <a:off x="4419600" y="6515100"/>
            <a:ext cx="9677400" cy="380966"/>
          </a:xfrm>
          <a:prstGeom prst="rect">
            <a:avLst/>
          </a:prstGeom>
          <a:noFill/>
        </p:spPr>
        <p:txBody>
          <a:bodyPr wrap="square" rtlCol="0">
            <a:spAutoFit/>
          </a:bodyPr>
          <a:lstStyle/>
          <a:p>
            <a:pPr algn="ctr"/>
            <a:r>
              <a:rPr lang="en-GB" dirty="0">
                <a:solidFill>
                  <a:schemeClr val="bg1"/>
                </a:solidFill>
                <a:latin typeface="Segoe UI Semibold" panose="020B0702040204020203" pitchFamily="34" charset="0"/>
                <a:cs typeface="Segoe UI Semibold" panose="020B0702040204020203" pitchFamily="34" charset="0"/>
              </a:rPr>
              <a:t>Table 1: Comparison of </a:t>
            </a:r>
            <a:r>
              <a:rPr lang="en-GB" dirty="0" err="1">
                <a:solidFill>
                  <a:schemeClr val="bg1"/>
                </a:solidFill>
                <a:latin typeface="Segoe UI Semibold" panose="020B0702040204020203" pitchFamily="34" charset="0"/>
                <a:cs typeface="Segoe UI Semibold" panose="020B0702040204020203" pitchFamily="34" charset="0"/>
              </a:rPr>
              <a:t>SimpleNet</a:t>
            </a:r>
            <a:r>
              <a:rPr lang="en-GB" dirty="0">
                <a:solidFill>
                  <a:schemeClr val="bg1"/>
                </a:solidFill>
                <a:latin typeface="Segoe UI Semibold" panose="020B0702040204020203" pitchFamily="34" charset="0"/>
                <a:cs typeface="Segoe UI Semibold" panose="020B0702040204020203" pitchFamily="34" charset="0"/>
              </a:rPr>
              <a:t> with state-of-the-arts works on </a:t>
            </a:r>
            <a:r>
              <a:rPr lang="en-GB" dirty="0" err="1">
                <a:solidFill>
                  <a:schemeClr val="bg1"/>
                </a:solidFill>
                <a:latin typeface="Segoe UI Semibold" panose="020B0702040204020203" pitchFamily="34" charset="0"/>
                <a:cs typeface="Segoe UI Semibold" panose="020B0702040204020203" pitchFamily="34" charset="0"/>
              </a:rPr>
              <a:t>MVTec</a:t>
            </a:r>
            <a:r>
              <a:rPr lang="en-GB" dirty="0">
                <a:solidFill>
                  <a:schemeClr val="bg1"/>
                </a:solidFill>
                <a:latin typeface="Segoe UI Semibold" panose="020B0702040204020203" pitchFamily="34" charset="0"/>
                <a:cs typeface="Segoe UI Semibold" panose="020B0702040204020203" pitchFamily="34" charset="0"/>
              </a:rPr>
              <a:t> AD</a:t>
            </a:r>
          </a:p>
        </p:txBody>
      </p:sp>
      <p:sp>
        <p:nvSpPr>
          <p:cNvPr id="19" name="TextBox 18">
            <a:extLst>
              <a:ext uri="{FF2B5EF4-FFF2-40B4-BE49-F238E27FC236}">
                <a16:creationId xmlns:a16="http://schemas.microsoft.com/office/drawing/2014/main" id="{0E52C55F-2CC3-46B6-DD6E-2884925FC773}"/>
              </a:ext>
            </a:extLst>
          </p:cNvPr>
          <p:cNvSpPr txBox="1"/>
          <p:nvPr/>
        </p:nvSpPr>
        <p:spPr>
          <a:xfrm>
            <a:off x="6172200" y="9299836"/>
            <a:ext cx="6705600" cy="369332"/>
          </a:xfrm>
          <a:prstGeom prst="rect">
            <a:avLst/>
          </a:prstGeom>
          <a:noFill/>
        </p:spPr>
        <p:txBody>
          <a:bodyPr wrap="square" rtlCol="0">
            <a:spAutoFit/>
          </a:bodyPr>
          <a:lstStyle/>
          <a:p>
            <a:r>
              <a:rPr lang="de-DE" dirty="0">
                <a:solidFill>
                  <a:schemeClr val="bg1"/>
                </a:solidFill>
                <a:latin typeface="Segoe UI Semibold" panose="020B0702040204020203" pitchFamily="34" charset="0"/>
                <a:cs typeface="Segoe UI Semibold" panose="020B0702040204020203" pitchFamily="34" charset="0"/>
              </a:rPr>
              <a:t>Table 2: </a:t>
            </a:r>
            <a:r>
              <a:rPr lang="de-DE" dirty="0" err="1">
                <a:solidFill>
                  <a:schemeClr val="bg1"/>
                </a:solidFill>
                <a:latin typeface="Segoe UI Semibold" panose="020B0702040204020203" pitchFamily="34" charset="0"/>
                <a:cs typeface="Segoe UI Semibold" panose="020B0702040204020203" pitchFamily="34" charset="0"/>
              </a:rPr>
              <a:t>Performanye</a:t>
            </a:r>
            <a:r>
              <a:rPr lang="de-DE" dirty="0">
                <a:solidFill>
                  <a:schemeClr val="bg1"/>
                </a:solidFill>
                <a:latin typeface="Segoe UI Semibold" panose="020B0702040204020203" pitchFamily="34" charset="0"/>
                <a:cs typeface="Segoe UI Semibold" panose="020B0702040204020203" pitchFamily="34" charset="0"/>
              </a:rPr>
              <a:t> </a:t>
            </a:r>
            <a:r>
              <a:rPr lang="de-DE" dirty="0" err="1">
                <a:solidFill>
                  <a:schemeClr val="bg1"/>
                </a:solidFill>
                <a:latin typeface="Segoe UI Semibold" panose="020B0702040204020203" pitchFamily="34" charset="0"/>
                <a:cs typeface="Segoe UI Semibold" panose="020B0702040204020203" pitchFamily="34" charset="0"/>
              </a:rPr>
              <a:t>under</a:t>
            </a:r>
            <a:r>
              <a:rPr lang="de-DE" dirty="0">
                <a:solidFill>
                  <a:schemeClr val="bg1"/>
                </a:solidFill>
                <a:latin typeface="Segoe UI Semibold" panose="020B0702040204020203" pitchFamily="34" charset="0"/>
                <a:cs typeface="Segoe UI Semibold" panose="020B0702040204020203" pitchFamily="34" charset="0"/>
              </a:rPr>
              <a:t> different </a:t>
            </a:r>
            <a:r>
              <a:rPr lang="de-DE" dirty="0" err="1">
                <a:solidFill>
                  <a:schemeClr val="bg1"/>
                </a:solidFill>
                <a:latin typeface="Segoe UI Semibold" panose="020B0702040204020203" pitchFamily="34" charset="0"/>
                <a:cs typeface="Segoe UI Semibold" panose="020B0702040204020203" pitchFamily="34" charset="0"/>
              </a:rPr>
              <a:t>backbones</a:t>
            </a:r>
            <a:r>
              <a:rPr lang="de-DE" dirty="0">
                <a:solidFill>
                  <a:schemeClr val="bg1"/>
                </a:solidFill>
                <a:latin typeface="Segoe UI Semibold" panose="020B0702040204020203" pitchFamily="34" charset="0"/>
                <a:cs typeface="Segoe UI Semibold" panose="020B0702040204020203" pitchFamily="34" charset="0"/>
              </a:rPr>
              <a:t> on </a:t>
            </a:r>
            <a:r>
              <a:rPr lang="de-DE" dirty="0" err="1">
                <a:solidFill>
                  <a:schemeClr val="bg1"/>
                </a:solidFill>
                <a:latin typeface="Segoe UI Semibold" panose="020B0702040204020203" pitchFamily="34" charset="0"/>
                <a:cs typeface="Segoe UI Semibold" panose="020B0702040204020203" pitchFamily="34" charset="0"/>
              </a:rPr>
              <a:t>MVTec</a:t>
            </a:r>
            <a:r>
              <a:rPr lang="de-DE" dirty="0">
                <a:solidFill>
                  <a:schemeClr val="bg1"/>
                </a:solidFill>
                <a:latin typeface="Segoe UI Semibold" panose="020B0702040204020203" pitchFamily="34" charset="0"/>
                <a:cs typeface="Segoe UI Semibold" panose="020B0702040204020203" pitchFamily="34" charset="0"/>
              </a:rPr>
              <a:t> AD</a:t>
            </a:r>
            <a:endParaRPr lang="en-GB" dirty="0">
              <a:solidFill>
                <a:schemeClr val="bg1"/>
              </a:solidFill>
              <a:latin typeface="Segoe UI Semibold" panose="020B0702040204020203" pitchFamily="34" charset="0"/>
              <a:cs typeface="Segoe UI Semibold" panose="020B0702040204020203" pitchFamily="34" charset="0"/>
            </a:endParaRPr>
          </a:p>
        </p:txBody>
      </p:sp>
    </p:spTree>
    <p:extLst>
      <p:ext uri="{BB962C8B-B14F-4D97-AF65-F5344CB8AC3E}">
        <p14:creationId xmlns:p14="http://schemas.microsoft.com/office/powerpoint/2010/main" val="197091584"/>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5230E37-3913-B8C2-A533-71EC77328419}"/>
            </a:ext>
          </a:extLst>
        </p:cNvPr>
        <p:cNvGrpSpPr/>
        <p:nvPr/>
      </p:nvGrpSpPr>
      <p:grpSpPr>
        <a:xfrm>
          <a:off x="0" y="0"/>
          <a:ext cx="0" cy="0"/>
          <a:chOff x="0" y="0"/>
          <a:chExt cx="0" cy="0"/>
        </a:xfrm>
      </p:grpSpPr>
      <p:sp>
        <p:nvSpPr>
          <p:cNvPr id="2" name="Freeform 2">
            <a:extLst>
              <a:ext uri="{FF2B5EF4-FFF2-40B4-BE49-F238E27FC236}">
                <a16:creationId xmlns:a16="http://schemas.microsoft.com/office/drawing/2014/main" id="{AE319241-15F3-7D33-604D-2228BDFCA30E}"/>
              </a:ext>
            </a:extLst>
          </p:cNvPr>
          <p:cNvSpPr/>
          <p:nvPr/>
        </p:nvSpPr>
        <p:spPr>
          <a:xfrm>
            <a:off x="1283"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3"/>
            <a:stretch>
              <a:fillRect t="-9222" b="-9222"/>
            </a:stretch>
          </a:blipFill>
        </p:spPr>
        <p:txBody>
          <a:bodyPr/>
          <a:lstStyle/>
          <a:p>
            <a:endParaRPr lang="en-GB" sz="4400" dirty="0">
              <a:solidFill>
                <a:schemeClr val="bg1"/>
              </a:solidFill>
              <a:latin typeface="Comic Sans MS" panose="030F0702030302020204" pitchFamily="66" charset="0"/>
            </a:endParaRPr>
          </a:p>
        </p:txBody>
      </p:sp>
      <p:pic>
        <p:nvPicPr>
          <p:cNvPr id="18" name="Picture 17">
            <a:extLst>
              <a:ext uri="{FF2B5EF4-FFF2-40B4-BE49-F238E27FC236}">
                <a16:creationId xmlns:a16="http://schemas.microsoft.com/office/drawing/2014/main" id="{E76D8A47-1F75-80AA-742F-70CC6FDC3CC6}"/>
              </a:ext>
            </a:extLst>
          </p:cNvPr>
          <p:cNvPicPr>
            <a:picLocks noChangeAspect="1"/>
          </p:cNvPicPr>
          <p:nvPr/>
        </p:nvPicPr>
        <p:blipFill rotWithShape="1">
          <a:blip r:embed="rId4"/>
          <a:srcRect l="19756" t="18691" r="19454" b="41655"/>
          <a:stretch/>
        </p:blipFill>
        <p:spPr>
          <a:xfrm>
            <a:off x="16316104" y="381000"/>
            <a:ext cx="1812319" cy="760280"/>
          </a:xfrm>
          <a:prstGeom prst="roundRect">
            <a:avLst>
              <a:gd name="adj" fmla="val 8594"/>
            </a:avLst>
          </a:prstGeom>
          <a:solidFill>
            <a:srgbClr val="FFFFFF">
              <a:shade val="85000"/>
            </a:srgbClr>
          </a:solidFill>
          <a:ln>
            <a:noFill/>
          </a:ln>
          <a:effectLst>
            <a:reflection blurRad="12700" stA="38000" endPos="28000" dist="5000" dir="5400000" sy="-100000" algn="bl" rotWithShape="0"/>
          </a:effectLst>
        </p:spPr>
      </p:pic>
      <p:cxnSp>
        <p:nvCxnSpPr>
          <p:cNvPr id="21" name="Straight Connector 20">
            <a:extLst>
              <a:ext uri="{FF2B5EF4-FFF2-40B4-BE49-F238E27FC236}">
                <a16:creationId xmlns:a16="http://schemas.microsoft.com/office/drawing/2014/main" id="{052D4317-6DB1-2458-CE59-25703A99ECF6}"/>
              </a:ext>
            </a:extLst>
          </p:cNvPr>
          <p:cNvCxnSpPr>
            <a:cxnSpLocks/>
          </p:cNvCxnSpPr>
          <p:nvPr/>
        </p:nvCxnSpPr>
        <p:spPr>
          <a:xfrm flipV="1">
            <a:off x="1600200" y="1638300"/>
            <a:ext cx="14173200" cy="76200"/>
          </a:xfrm>
          <a:prstGeom prst="line">
            <a:avLst/>
          </a:prstGeom>
        </p:spPr>
        <p:style>
          <a:lnRef idx="3">
            <a:schemeClr val="dk1"/>
          </a:lnRef>
          <a:fillRef idx="0">
            <a:schemeClr val="dk1"/>
          </a:fillRef>
          <a:effectRef idx="2">
            <a:schemeClr val="dk1"/>
          </a:effectRef>
          <a:fontRef idx="minor">
            <a:schemeClr val="tx1"/>
          </a:fontRef>
        </p:style>
      </p:cxnSp>
      <p:sp>
        <p:nvSpPr>
          <p:cNvPr id="23" name="TextBox 22">
            <a:extLst>
              <a:ext uri="{FF2B5EF4-FFF2-40B4-BE49-F238E27FC236}">
                <a16:creationId xmlns:a16="http://schemas.microsoft.com/office/drawing/2014/main" id="{8D970FFE-B66A-7FA2-45FF-ECBD8A6E7D4B}"/>
              </a:ext>
            </a:extLst>
          </p:cNvPr>
          <p:cNvSpPr txBox="1"/>
          <p:nvPr/>
        </p:nvSpPr>
        <p:spPr>
          <a:xfrm>
            <a:off x="1572412" y="794703"/>
            <a:ext cx="12067388" cy="707886"/>
          </a:xfrm>
          <a:prstGeom prst="rect">
            <a:avLst/>
          </a:prstGeom>
          <a:noFill/>
        </p:spPr>
        <p:txBody>
          <a:bodyPr wrap="square" rtlCol="0">
            <a:spAutoFit/>
          </a:bodyPr>
          <a:lstStyle/>
          <a:p>
            <a:r>
              <a:rPr lang="en-GB" sz="4000" dirty="0">
                <a:solidFill>
                  <a:schemeClr val="bg1"/>
                </a:solidFill>
                <a:latin typeface="Segoe UI Semibold" panose="020B0702040204020203" pitchFamily="34" charset="0"/>
                <a:cs typeface="Segoe UI Semibold" panose="020B0702040204020203" pitchFamily="34" charset="0"/>
              </a:rPr>
              <a:t>Core Idea of </a:t>
            </a:r>
            <a:r>
              <a:rPr lang="en-GB" sz="4000" dirty="0" err="1">
                <a:solidFill>
                  <a:schemeClr val="bg1"/>
                </a:solidFill>
                <a:latin typeface="Segoe UI Semibold" panose="020B0702040204020203" pitchFamily="34" charset="0"/>
                <a:cs typeface="Segoe UI Semibold" panose="020B0702040204020203" pitchFamily="34" charset="0"/>
              </a:rPr>
              <a:t>SimpleNet</a:t>
            </a:r>
            <a:endParaRPr lang="en-GB" sz="4000" dirty="0">
              <a:solidFill>
                <a:schemeClr val="bg1"/>
              </a:solidFill>
              <a:latin typeface="Segoe UI Semibold" panose="020B0702040204020203" pitchFamily="34" charset="0"/>
              <a:cs typeface="Segoe UI Semibold" panose="020B0702040204020203" pitchFamily="34" charset="0"/>
            </a:endParaRPr>
          </a:p>
        </p:txBody>
      </p:sp>
      <p:sp>
        <p:nvSpPr>
          <p:cNvPr id="11" name="TextBox 10">
            <a:extLst>
              <a:ext uri="{FF2B5EF4-FFF2-40B4-BE49-F238E27FC236}">
                <a16:creationId xmlns:a16="http://schemas.microsoft.com/office/drawing/2014/main" id="{C5F6CCE0-B94B-2C67-521D-6CF52F16E201}"/>
              </a:ext>
            </a:extLst>
          </p:cNvPr>
          <p:cNvSpPr txBox="1"/>
          <p:nvPr/>
        </p:nvSpPr>
        <p:spPr>
          <a:xfrm>
            <a:off x="2813423" y="2312408"/>
            <a:ext cx="12045577" cy="1150828"/>
          </a:xfrm>
          <a:prstGeom prst="rect">
            <a:avLst/>
          </a:prstGeom>
          <a:solidFill>
            <a:schemeClr val="accent3">
              <a:alpha val="50000"/>
            </a:schemeClr>
          </a:solidFill>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style>
          <a:lnRef idx="0">
            <a:scrgbClr r="0" g="0" b="0"/>
          </a:lnRef>
          <a:fillRef idx="0">
            <a:scrgbClr r="0" g="0" b="0"/>
          </a:fillRef>
          <a:effectRef idx="0">
            <a:scrgbClr r="0" g="0" b="0"/>
          </a:effectRef>
          <a:fontRef idx="minor">
            <a:schemeClr val="lt1"/>
          </a:fontRef>
        </p:style>
        <p:txBody>
          <a:bodyPr wrap="square" rtlCol="0">
            <a:spAutoFit/>
          </a:bodyPr>
          <a:lstStyle/>
          <a:p>
            <a:pPr algn="ctr"/>
            <a:r>
              <a:rPr lang="en-GB" sz="3200" dirty="0">
                <a:solidFill>
                  <a:schemeClr val="bg1"/>
                </a:solidFill>
                <a:latin typeface="Segoe UI Semibold" panose="020B0702040204020203" pitchFamily="34" charset="0"/>
                <a:cs typeface="Segoe UI Semibold" panose="020B0702040204020203" pitchFamily="34" charset="0"/>
              </a:rPr>
              <a:t>99.6% I-AUROC &gt; (State-of-the-Art on </a:t>
            </a:r>
            <a:r>
              <a:rPr lang="en-GB" sz="3200" dirty="0" err="1">
                <a:solidFill>
                  <a:schemeClr val="bg1"/>
                </a:solidFill>
                <a:latin typeface="Segoe UI Semibold" panose="020B0702040204020203" pitchFamily="34" charset="0"/>
                <a:cs typeface="Segoe UI Semibold" panose="020B0702040204020203" pitchFamily="34" charset="0"/>
              </a:rPr>
              <a:t>MVTec</a:t>
            </a:r>
            <a:r>
              <a:rPr lang="en-GB" sz="3200" dirty="0">
                <a:solidFill>
                  <a:schemeClr val="bg1"/>
                </a:solidFill>
                <a:latin typeface="Segoe UI Semibold" panose="020B0702040204020203" pitchFamily="34" charset="0"/>
                <a:cs typeface="Segoe UI Semibold" panose="020B0702040204020203" pitchFamily="34" charset="0"/>
              </a:rPr>
              <a:t> AD)</a:t>
            </a:r>
          </a:p>
          <a:p>
            <a:pPr algn="ctr">
              <a:lnSpc>
                <a:spcPct val="150000"/>
              </a:lnSpc>
            </a:pPr>
            <a:r>
              <a:rPr lang="en-GB" sz="2800" dirty="0">
                <a:solidFill>
                  <a:schemeClr val="bg1"/>
                </a:solidFill>
                <a:latin typeface="Segoe UI Semibold" panose="020B0702040204020203" pitchFamily="34" charset="0"/>
                <a:cs typeface="Segoe UI Semibold" panose="020B0702040204020203" pitchFamily="34" charset="0"/>
              </a:rPr>
              <a:t>Reduces error by 55.5% vs. </a:t>
            </a:r>
            <a:r>
              <a:rPr lang="en-GB" sz="2800" dirty="0" err="1">
                <a:solidFill>
                  <a:schemeClr val="bg1"/>
                </a:solidFill>
                <a:latin typeface="Segoe UI Semibold" panose="020B0702040204020203" pitchFamily="34" charset="0"/>
                <a:cs typeface="Segoe UI Semibold" panose="020B0702040204020203" pitchFamily="34" charset="0"/>
              </a:rPr>
              <a:t>PatchCore</a:t>
            </a:r>
            <a:endParaRPr lang="en-GB" sz="2800" dirty="0">
              <a:solidFill>
                <a:schemeClr val="bg1"/>
              </a:solidFill>
              <a:latin typeface="Segoe UI Semibold" panose="020B0702040204020203" pitchFamily="34" charset="0"/>
              <a:cs typeface="Segoe UI Semibold" panose="020B0702040204020203" pitchFamily="34" charset="0"/>
            </a:endParaRPr>
          </a:p>
        </p:txBody>
      </p:sp>
      <p:sp>
        <p:nvSpPr>
          <p:cNvPr id="8" name="Rectangle: Rounded Corners 7">
            <a:extLst>
              <a:ext uri="{FF2B5EF4-FFF2-40B4-BE49-F238E27FC236}">
                <a16:creationId xmlns:a16="http://schemas.microsoft.com/office/drawing/2014/main" id="{825180D4-F1B7-55FC-B8D8-97F63BF21D61}"/>
              </a:ext>
            </a:extLst>
          </p:cNvPr>
          <p:cNvSpPr/>
          <p:nvPr/>
        </p:nvSpPr>
        <p:spPr>
          <a:xfrm>
            <a:off x="2209800" y="4533900"/>
            <a:ext cx="6172200" cy="4495800"/>
          </a:xfrm>
          <a:prstGeom prst="roundRect">
            <a:avLst/>
          </a:prstGeom>
          <a:solidFill>
            <a:schemeClr val="accent1">
              <a:alpha val="50000"/>
            </a:schemeClr>
          </a:solidFill>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style>
          <a:lnRef idx="0">
            <a:scrgbClr r="0" g="0" b="0"/>
          </a:lnRef>
          <a:fillRef idx="0">
            <a:scrgbClr r="0" g="0" b="0"/>
          </a:fillRef>
          <a:effectRef idx="0">
            <a:scrgbClr r="0" g="0" b="0"/>
          </a:effectRef>
          <a:fontRef idx="minor">
            <a:schemeClr val="lt1"/>
          </a:fontRef>
        </p:style>
        <p:txBody>
          <a:bodyPr rtlCol="0" anchor="ctr"/>
          <a:lstStyle/>
          <a:p>
            <a:pPr algn="ctr"/>
            <a:endParaRPr lang="en-GB"/>
          </a:p>
        </p:txBody>
      </p:sp>
      <p:sp>
        <p:nvSpPr>
          <p:cNvPr id="9" name="TextBox 8">
            <a:extLst>
              <a:ext uri="{FF2B5EF4-FFF2-40B4-BE49-F238E27FC236}">
                <a16:creationId xmlns:a16="http://schemas.microsoft.com/office/drawing/2014/main" id="{B2C20317-4217-A27F-7072-832BFD6C3C28}"/>
              </a:ext>
            </a:extLst>
          </p:cNvPr>
          <p:cNvSpPr txBox="1"/>
          <p:nvPr/>
        </p:nvSpPr>
        <p:spPr>
          <a:xfrm>
            <a:off x="2438400" y="5143500"/>
            <a:ext cx="5410200" cy="2954655"/>
          </a:xfrm>
          <a:prstGeom prst="rect">
            <a:avLst/>
          </a:prstGeom>
          <a:noFill/>
        </p:spPr>
        <p:txBody>
          <a:bodyPr wrap="square" rtlCol="0">
            <a:spAutoFit/>
          </a:bodyPr>
          <a:lstStyle/>
          <a:p>
            <a:r>
              <a:rPr lang="en-GB" sz="2400" dirty="0">
                <a:solidFill>
                  <a:schemeClr val="bg1"/>
                </a:solidFill>
                <a:latin typeface="Segoe UI Semibold" panose="020B0702040204020203" pitchFamily="34" charset="0"/>
                <a:cs typeface="Segoe UI Semibold" panose="020B0702040204020203" pitchFamily="34" charset="0"/>
              </a:rPr>
              <a:t>Reason 1: The Goldilocks Noise</a:t>
            </a:r>
          </a:p>
          <a:p>
            <a:endParaRPr lang="en-GB" sz="2400" dirty="0">
              <a:solidFill>
                <a:schemeClr val="bg1"/>
              </a:solidFill>
              <a:latin typeface="Segoe UI Semibold" panose="020B0702040204020203" pitchFamily="34" charset="0"/>
              <a:cs typeface="Segoe UI Semibold" panose="020B0702040204020203" pitchFamily="34" charset="0"/>
            </a:endParaRPr>
          </a:p>
          <a:p>
            <a:pPr marL="342900" indent="-342900">
              <a:buFont typeface="Arial" panose="020B0604020202020204" pitchFamily="34" charset="0"/>
              <a:buChar char="•"/>
            </a:pPr>
            <a:r>
              <a:rPr lang="en-GB" sz="2400" dirty="0">
                <a:solidFill>
                  <a:schemeClr val="bg1"/>
                </a:solidFill>
                <a:latin typeface="Segoe UI Semibold" panose="020B0702040204020203" pitchFamily="34" charset="0"/>
                <a:cs typeface="Segoe UI Semibold" panose="020B0702040204020203" pitchFamily="34" charset="0"/>
              </a:rPr>
              <a:t>Optimal Noise ( 𝜎 = 0.015 ) </a:t>
            </a:r>
          </a:p>
          <a:p>
            <a:endParaRPr lang="en-GB" sz="2400" dirty="0">
              <a:solidFill>
                <a:schemeClr val="bg1"/>
              </a:solidFill>
              <a:latin typeface="Segoe UI Semibold" panose="020B0702040204020203" pitchFamily="34" charset="0"/>
              <a:cs typeface="Segoe UI Semibold" panose="020B0702040204020203" pitchFamily="34" charset="0"/>
            </a:endParaRPr>
          </a:p>
          <a:p>
            <a:pPr marL="342900" indent="-342900">
              <a:lnSpc>
                <a:spcPct val="150000"/>
              </a:lnSpc>
              <a:buFont typeface="Arial" panose="020B0604020202020204" pitchFamily="34" charset="0"/>
              <a:buChar char="•"/>
            </a:pPr>
            <a:r>
              <a:rPr lang="en-GB" sz="2400" dirty="0">
                <a:solidFill>
                  <a:schemeClr val="bg1"/>
                </a:solidFill>
                <a:latin typeface="Segoe UI Semibold" panose="020B0702040204020203" pitchFamily="34" charset="0"/>
                <a:cs typeface="Segoe UI Semibold" panose="020B0702040204020203" pitchFamily="34" charset="0"/>
              </a:rPr>
              <a:t>Creates a sharp decision boundary without overlapping normal data</a:t>
            </a:r>
          </a:p>
          <a:p>
            <a:endParaRPr lang="en-GB" dirty="0"/>
          </a:p>
        </p:txBody>
      </p:sp>
      <p:sp>
        <p:nvSpPr>
          <p:cNvPr id="10" name="Rectangle: Rounded Corners 9">
            <a:extLst>
              <a:ext uri="{FF2B5EF4-FFF2-40B4-BE49-F238E27FC236}">
                <a16:creationId xmlns:a16="http://schemas.microsoft.com/office/drawing/2014/main" id="{B6DBBB78-0937-8782-D8E2-BA8BA9BD19E1}"/>
              </a:ext>
            </a:extLst>
          </p:cNvPr>
          <p:cNvSpPr/>
          <p:nvPr/>
        </p:nvSpPr>
        <p:spPr>
          <a:xfrm>
            <a:off x="9218916" y="4296532"/>
            <a:ext cx="6478284" cy="4580768"/>
          </a:xfrm>
          <a:prstGeom prst="roundRect">
            <a:avLst/>
          </a:prstGeom>
          <a:solidFill>
            <a:schemeClr val="accent1">
              <a:alpha val="50000"/>
            </a:schemeClr>
          </a:solidFill>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style>
          <a:lnRef idx="0">
            <a:scrgbClr r="0" g="0" b="0"/>
          </a:lnRef>
          <a:fillRef idx="0">
            <a:scrgbClr r="0" g="0" b="0"/>
          </a:fillRef>
          <a:effectRef idx="0">
            <a:scrgbClr r="0" g="0" b="0"/>
          </a:effectRef>
          <a:fontRef idx="minor">
            <a:schemeClr val="lt1"/>
          </a:fontRef>
        </p:style>
        <p:txBody>
          <a:bodyPr rtlCol="0" anchor="ctr"/>
          <a:lstStyle/>
          <a:p>
            <a:pPr algn="ctr"/>
            <a:endParaRPr lang="en-GB"/>
          </a:p>
        </p:txBody>
      </p:sp>
      <p:sp>
        <p:nvSpPr>
          <p:cNvPr id="12" name="TextBox 11">
            <a:extLst>
              <a:ext uri="{FF2B5EF4-FFF2-40B4-BE49-F238E27FC236}">
                <a16:creationId xmlns:a16="http://schemas.microsoft.com/office/drawing/2014/main" id="{E1085065-2A1E-401E-4541-2AC6A7E5646B}"/>
              </a:ext>
            </a:extLst>
          </p:cNvPr>
          <p:cNvSpPr txBox="1"/>
          <p:nvPr/>
        </p:nvSpPr>
        <p:spPr>
          <a:xfrm>
            <a:off x="9601200" y="5022494"/>
            <a:ext cx="5638800" cy="3600986"/>
          </a:xfrm>
          <a:prstGeom prst="rect">
            <a:avLst/>
          </a:prstGeom>
          <a:noFill/>
        </p:spPr>
        <p:txBody>
          <a:bodyPr wrap="square" rtlCol="0">
            <a:spAutoFit/>
          </a:bodyPr>
          <a:lstStyle/>
          <a:p>
            <a:r>
              <a:rPr lang="de-DE" sz="2400" b="1" dirty="0" err="1">
                <a:solidFill>
                  <a:schemeClr val="bg1"/>
                </a:solidFill>
                <a:latin typeface="Segoe UI Semibold" panose="020B0702040204020203" pitchFamily="34" charset="0"/>
                <a:cs typeface="Segoe UI Semibold" panose="020B0702040204020203" pitchFamily="34" charset="0"/>
              </a:rPr>
              <a:t>Reason</a:t>
            </a:r>
            <a:r>
              <a:rPr lang="de-DE" sz="2400" b="1" dirty="0">
                <a:solidFill>
                  <a:schemeClr val="bg1"/>
                </a:solidFill>
                <a:latin typeface="Segoe UI Semibold" panose="020B0702040204020203" pitchFamily="34" charset="0"/>
                <a:cs typeface="Segoe UI Semibold" panose="020B0702040204020203" pitchFamily="34" charset="0"/>
              </a:rPr>
              <a:t> 2: Strategic Feature </a:t>
            </a:r>
            <a:r>
              <a:rPr lang="de-DE" sz="2400" b="1" dirty="0" err="1">
                <a:solidFill>
                  <a:schemeClr val="bg1"/>
                </a:solidFill>
                <a:latin typeface="Segoe UI Semibold" panose="020B0702040204020203" pitchFamily="34" charset="0"/>
                <a:cs typeface="Segoe UI Semibold" panose="020B0702040204020203" pitchFamily="34" charset="0"/>
              </a:rPr>
              <a:t>Selection</a:t>
            </a:r>
            <a:endParaRPr lang="de-DE" sz="2400" b="1" dirty="0">
              <a:solidFill>
                <a:schemeClr val="bg1"/>
              </a:solidFill>
              <a:latin typeface="Segoe UI Semibold" panose="020B0702040204020203" pitchFamily="34" charset="0"/>
              <a:cs typeface="Segoe UI Semibold" panose="020B0702040204020203" pitchFamily="34" charset="0"/>
            </a:endParaRPr>
          </a:p>
          <a:p>
            <a:endParaRPr lang="de-DE" sz="2400" b="1" dirty="0">
              <a:solidFill>
                <a:schemeClr val="bg1"/>
              </a:solidFill>
              <a:latin typeface="Segoe UI Semibold" panose="020B0702040204020203" pitchFamily="34" charset="0"/>
              <a:cs typeface="Segoe UI Semibold" panose="020B0702040204020203" pitchFamily="34" charset="0"/>
            </a:endParaRPr>
          </a:p>
          <a:p>
            <a:pPr marL="457200" indent="-457200">
              <a:buFont typeface="Arial" panose="020B0604020202020204" pitchFamily="34" charset="0"/>
              <a:buChar char="•"/>
            </a:pPr>
            <a:r>
              <a:rPr lang="de-DE" sz="2400" b="1" dirty="0">
                <a:solidFill>
                  <a:schemeClr val="bg1"/>
                </a:solidFill>
                <a:latin typeface="Segoe UI Semibold" panose="020B0702040204020203" pitchFamily="34" charset="0"/>
                <a:cs typeface="Segoe UI Semibold" panose="020B0702040204020203" pitchFamily="34" charset="0"/>
              </a:rPr>
              <a:t> Intermediate Layers ( 2 &amp; 3 )</a:t>
            </a:r>
          </a:p>
          <a:p>
            <a:endParaRPr lang="de-DE" sz="2400" b="1" dirty="0">
              <a:solidFill>
                <a:schemeClr val="bg1"/>
              </a:solidFill>
              <a:latin typeface="Segoe UI Semibold" panose="020B0702040204020203" pitchFamily="34" charset="0"/>
              <a:cs typeface="Segoe UI Semibold" panose="020B0702040204020203" pitchFamily="34" charset="0"/>
            </a:endParaRPr>
          </a:p>
          <a:p>
            <a:pPr marL="457200" indent="-457200">
              <a:lnSpc>
                <a:spcPct val="150000"/>
              </a:lnSpc>
              <a:buFont typeface="Arial" panose="020B0604020202020204" pitchFamily="34" charset="0"/>
              <a:buChar char="•"/>
            </a:pPr>
            <a:r>
              <a:rPr lang="de-DE" sz="2400" b="1" dirty="0" err="1">
                <a:solidFill>
                  <a:schemeClr val="bg1"/>
                </a:solidFill>
                <a:latin typeface="Segoe UI Semibold" panose="020B0702040204020203" pitchFamily="34" charset="0"/>
                <a:cs typeface="Segoe UI Semibold" panose="020B0702040204020203" pitchFamily="34" charset="0"/>
              </a:rPr>
              <a:t>Captures</a:t>
            </a:r>
            <a:r>
              <a:rPr lang="de-DE" sz="2400" b="1" dirty="0">
                <a:solidFill>
                  <a:schemeClr val="bg1"/>
                </a:solidFill>
                <a:latin typeface="Segoe UI Semibold" panose="020B0702040204020203" pitchFamily="34" charset="0"/>
                <a:cs typeface="Segoe UI Semibold" panose="020B0702040204020203" pitchFamily="34" charset="0"/>
              </a:rPr>
              <a:t> </a:t>
            </a:r>
            <a:r>
              <a:rPr lang="de-DE" sz="2400" b="1" dirty="0" err="1">
                <a:solidFill>
                  <a:schemeClr val="bg1"/>
                </a:solidFill>
                <a:latin typeface="Segoe UI Semibold" panose="020B0702040204020203" pitchFamily="34" charset="0"/>
                <a:cs typeface="Segoe UI Semibold" panose="020B0702040204020203" pitchFamily="34" charset="0"/>
              </a:rPr>
              <a:t>textures</a:t>
            </a:r>
            <a:r>
              <a:rPr lang="de-DE" sz="2400" b="1" dirty="0">
                <a:solidFill>
                  <a:schemeClr val="bg1"/>
                </a:solidFill>
                <a:latin typeface="Segoe UI Semibold" panose="020B0702040204020203" pitchFamily="34" charset="0"/>
                <a:cs typeface="Segoe UI Semibold" panose="020B0702040204020203" pitchFamily="34" charset="0"/>
              </a:rPr>
              <a:t> and </a:t>
            </a:r>
            <a:r>
              <a:rPr lang="de-DE" sz="2400" b="1" dirty="0" err="1">
                <a:solidFill>
                  <a:schemeClr val="bg1"/>
                </a:solidFill>
                <a:latin typeface="Segoe UI Semibold" panose="020B0702040204020203" pitchFamily="34" charset="0"/>
                <a:cs typeface="Segoe UI Semibold" panose="020B0702040204020203" pitchFamily="34" charset="0"/>
              </a:rPr>
              <a:t>local</a:t>
            </a:r>
            <a:r>
              <a:rPr lang="de-DE" sz="2400" b="1" dirty="0">
                <a:solidFill>
                  <a:schemeClr val="bg1"/>
                </a:solidFill>
                <a:latin typeface="Segoe UI Semibold" panose="020B0702040204020203" pitchFamily="34" charset="0"/>
                <a:cs typeface="Segoe UI Semibold" panose="020B0702040204020203" pitchFamily="34" charset="0"/>
              </a:rPr>
              <a:t> </a:t>
            </a:r>
            <a:r>
              <a:rPr lang="de-DE" sz="2400" b="1" dirty="0" err="1">
                <a:solidFill>
                  <a:schemeClr val="bg1"/>
                </a:solidFill>
                <a:latin typeface="Segoe UI Semibold" panose="020B0702040204020203" pitchFamily="34" charset="0"/>
                <a:cs typeface="Segoe UI Semibold" panose="020B0702040204020203" pitchFamily="34" charset="0"/>
              </a:rPr>
              <a:t>geometry</a:t>
            </a:r>
            <a:r>
              <a:rPr lang="de-DE" sz="2400" b="1" dirty="0">
                <a:solidFill>
                  <a:schemeClr val="bg1"/>
                </a:solidFill>
                <a:latin typeface="Segoe UI Semibold" panose="020B0702040204020203" pitchFamily="34" charset="0"/>
                <a:cs typeface="Segoe UI Semibold" panose="020B0702040204020203" pitchFamily="34" charset="0"/>
              </a:rPr>
              <a:t> </a:t>
            </a:r>
            <a:r>
              <a:rPr lang="de-DE" sz="2400" b="1" dirty="0" err="1">
                <a:solidFill>
                  <a:schemeClr val="bg1"/>
                </a:solidFill>
                <a:latin typeface="Segoe UI Semibold" panose="020B0702040204020203" pitchFamily="34" charset="0"/>
                <a:cs typeface="Segoe UI Semibold" panose="020B0702040204020203" pitchFamily="34" charset="0"/>
              </a:rPr>
              <a:t>instead</a:t>
            </a:r>
            <a:r>
              <a:rPr lang="de-DE" sz="2400" b="1" dirty="0">
                <a:solidFill>
                  <a:schemeClr val="bg1"/>
                </a:solidFill>
                <a:latin typeface="Segoe UI Semibold" panose="020B0702040204020203" pitchFamily="34" charset="0"/>
                <a:cs typeface="Segoe UI Semibold" panose="020B0702040204020203" pitchFamily="34" charset="0"/>
              </a:rPr>
              <a:t> of high </a:t>
            </a:r>
            <a:r>
              <a:rPr lang="de-DE" sz="2400" b="1" dirty="0" err="1">
                <a:solidFill>
                  <a:schemeClr val="bg1"/>
                </a:solidFill>
                <a:latin typeface="Segoe UI Semibold" panose="020B0702040204020203" pitchFamily="34" charset="0"/>
                <a:cs typeface="Segoe UI Semibold" panose="020B0702040204020203" pitchFamily="34" charset="0"/>
              </a:rPr>
              <a:t>level</a:t>
            </a:r>
            <a:r>
              <a:rPr lang="de-DE" sz="2400" b="1" dirty="0">
                <a:solidFill>
                  <a:schemeClr val="bg1"/>
                </a:solidFill>
                <a:latin typeface="Segoe UI Semibold" panose="020B0702040204020203" pitchFamily="34" charset="0"/>
                <a:cs typeface="Segoe UI Semibold" panose="020B0702040204020203" pitchFamily="34" charset="0"/>
              </a:rPr>
              <a:t> </a:t>
            </a:r>
            <a:r>
              <a:rPr lang="de-DE" sz="2400" b="1" dirty="0" err="1">
                <a:solidFill>
                  <a:schemeClr val="bg1"/>
                </a:solidFill>
                <a:latin typeface="Segoe UI Semibold" panose="020B0702040204020203" pitchFamily="34" charset="0"/>
                <a:cs typeface="Segoe UI Semibold" panose="020B0702040204020203" pitchFamily="34" charset="0"/>
              </a:rPr>
              <a:t>objects</a:t>
            </a:r>
            <a:r>
              <a:rPr lang="de-DE" sz="2400" b="1" dirty="0">
                <a:solidFill>
                  <a:schemeClr val="bg1"/>
                </a:solidFill>
                <a:latin typeface="Segoe UI Semibold" panose="020B0702040204020203" pitchFamily="34" charset="0"/>
                <a:cs typeface="Segoe UI Semibold" panose="020B0702040204020203" pitchFamily="34" charset="0"/>
              </a:rPr>
              <a:t> </a:t>
            </a:r>
          </a:p>
          <a:p>
            <a:endParaRPr lang="en-GB" sz="2400" dirty="0"/>
          </a:p>
        </p:txBody>
      </p:sp>
    </p:spTree>
    <p:extLst>
      <p:ext uri="{BB962C8B-B14F-4D97-AF65-F5344CB8AC3E}">
        <p14:creationId xmlns:p14="http://schemas.microsoft.com/office/powerpoint/2010/main" val="98382432"/>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0DF4D6F-A43C-F588-1F3A-0840B10FBA39}"/>
            </a:ext>
          </a:extLst>
        </p:cNvPr>
        <p:cNvGrpSpPr/>
        <p:nvPr/>
      </p:nvGrpSpPr>
      <p:grpSpPr>
        <a:xfrm>
          <a:off x="0" y="0"/>
          <a:ext cx="0" cy="0"/>
          <a:chOff x="0" y="0"/>
          <a:chExt cx="0" cy="0"/>
        </a:xfrm>
      </p:grpSpPr>
      <p:sp>
        <p:nvSpPr>
          <p:cNvPr id="2" name="Freeform 2">
            <a:extLst>
              <a:ext uri="{FF2B5EF4-FFF2-40B4-BE49-F238E27FC236}">
                <a16:creationId xmlns:a16="http://schemas.microsoft.com/office/drawing/2014/main" id="{AC42E5E1-9ABC-82DB-E04A-90143E5ADCBA}"/>
              </a:ext>
            </a:extLst>
          </p:cNvPr>
          <p:cNvSpPr/>
          <p:nvPr/>
        </p:nvSpPr>
        <p:spPr>
          <a:xfrm>
            <a:off x="0" y="-10026"/>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3"/>
            <a:stretch>
              <a:fillRect t="-9222" b="-9222"/>
            </a:stretch>
          </a:blipFill>
        </p:spPr>
        <p:txBody>
          <a:bodyPr/>
          <a:lstStyle/>
          <a:p>
            <a:endParaRPr lang="en-GB" sz="4400" dirty="0">
              <a:solidFill>
                <a:schemeClr val="bg1"/>
              </a:solidFill>
              <a:latin typeface="Comic Sans MS" panose="030F0702030302020204" pitchFamily="66" charset="0"/>
            </a:endParaRPr>
          </a:p>
        </p:txBody>
      </p:sp>
      <p:pic>
        <p:nvPicPr>
          <p:cNvPr id="18" name="Picture 17">
            <a:extLst>
              <a:ext uri="{FF2B5EF4-FFF2-40B4-BE49-F238E27FC236}">
                <a16:creationId xmlns:a16="http://schemas.microsoft.com/office/drawing/2014/main" id="{5CB168B5-749C-9299-5267-BA556E80DF2E}"/>
              </a:ext>
            </a:extLst>
          </p:cNvPr>
          <p:cNvPicPr>
            <a:picLocks noChangeAspect="1"/>
          </p:cNvPicPr>
          <p:nvPr/>
        </p:nvPicPr>
        <p:blipFill rotWithShape="1">
          <a:blip r:embed="rId4"/>
          <a:srcRect l="19756" t="18691" r="19454" b="41655"/>
          <a:stretch/>
        </p:blipFill>
        <p:spPr>
          <a:xfrm>
            <a:off x="16316104" y="381000"/>
            <a:ext cx="1812319" cy="760280"/>
          </a:xfrm>
          <a:prstGeom prst="roundRect">
            <a:avLst>
              <a:gd name="adj" fmla="val 8594"/>
            </a:avLst>
          </a:prstGeom>
          <a:solidFill>
            <a:srgbClr val="FFFFFF">
              <a:shade val="85000"/>
            </a:srgbClr>
          </a:solidFill>
          <a:ln>
            <a:noFill/>
          </a:ln>
          <a:effectLst>
            <a:reflection blurRad="12700" stA="38000" endPos="28000" dist="5000" dir="5400000" sy="-100000" algn="bl" rotWithShape="0"/>
          </a:effectLst>
        </p:spPr>
      </p:pic>
      <p:cxnSp>
        <p:nvCxnSpPr>
          <p:cNvPr id="21" name="Straight Connector 20">
            <a:extLst>
              <a:ext uri="{FF2B5EF4-FFF2-40B4-BE49-F238E27FC236}">
                <a16:creationId xmlns:a16="http://schemas.microsoft.com/office/drawing/2014/main" id="{16A9FEC3-7BC8-995A-B8B2-B55C581A849A}"/>
              </a:ext>
            </a:extLst>
          </p:cNvPr>
          <p:cNvCxnSpPr>
            <a:cxnSpLocks/>
          </p:cNvCxnSpPr>
          <p:nvPr/>
        </p:nvCxnSpPr>
        <p:spPr>
          <a:xfrm flipV="1">
            <a:off x="1600200" y="1638300"/>
            <a:ext cx="14173200" cy="76200"/>
          </a:xfrm>
          <a:prstGeom prst="line">
            <a:avLst/>
          </a:prstGeom>
        </p:spPr>
        <p:style>
          <a:lnRef idx="3">
            <a:schemeClr val="dk1"/>
          </a:lnRef>
          <a:fillRef idx="0">
            <a:schemeClr val="dk1"/>
          </a:fillRef>
          <a:effectRef idx="2">
            <a:schemeClr val="dk1"/>
          </a:effectRef>
          <a:fontRef idx="minor">
            <a:schemeClr val="tx1"/>
          </a:fontRef>
        </p:style>
      </p:cxnSp>
      <p:sp>
        <p:nvSpPr>
          <p:cNvPr id="23" name="TextBox 22">
            <a:extLst>
              <a:ext uri="{FF2B5EF4-FFF2-40B4-BE49-F238E27FC236}">
                <a16:creationId xmlns:a16="http://schemas.microsoft.com/office/drawing/2014/main" id="{E9911A35-67D1-9274-5F99-F9F5C1CFF919}"/>
              </a:ext>
            </a:extLst>
          </p:cNvPr>
          <p:cNvSpPr txBox="1"/>
          <p:nvPr/>
        </p:nvSpPr>
        <p:spPr>
          <a:xfrm>
            <a:off x="1572412" y="794703"/>
            <a:ext cx="12067388" cy="707886"/>
          </a:xfrm>
          <a:prstGeom prst="rect">
            <a:avLst/>
          </a:prstGeom>
          <a:noFill/>
        </p:spPr>
        <p:txBody>
          <a:bodyPr wrap="square" rtlCol="0">
            <a:spAutoFit/>
          </a:bodyPr>
          <a:lstStyle/>
          <a:p>
            <a:pPr lvl="0"/>
            <a:r>
              <a:rPr lang="en-GB" sz="4000" b="1" dirty="0">
                <a:solidFill>
                  <a:srgbClr val="F0F6FC"/>
                </a:solidFill>
                <a:latin typeface="Inter"/>
                <a:ea typeface="Inter"/>
                <a:cs typeface="Inter"/>
                <a:sym typeface="Inter"/>
              </a:rPr>
              <a:t>Implementation: Bridging Industry and Medicine</a:t>
            </a:r>
            <a:endParaRPr lang="en-GB" sz="4000" dirty="0"/>
          </a:p>
        </p:txBody>
      </p:sp>
      <p:pic>
        <p:nvPicPr>
          <p:cNvPr id="109" name="Google Shape;109;p15" descr="image.png"/>
          <p:cNvPicPr preferRelativeResize="0"/>
          <p:nvPr/>
        </p:nvPicPr>
        <p:blipFill rotWithShape="1">
          <a:blip r:embed="rId5">
            <a:alphaModFix amt="50000"/>
          </a:blip>
          <a:srcRect/>
          <a:stretch/>
        </p:blipFill>
        <p:spPr>
          <a:xfrm>
            <a:off x="857251" y="2321718"/>
            <a:ext cx="8072438" cy="3314700"/>
          </a:xfrm>
          <a:prstGeom prst="rect">
            <a:avLst/>
          </a:prstGeom>
          <a:noFill/>
          <a:ln>
            <a:noFill/>
          </a:ln>
        </p:spPr>
      </p:pic>
      <p:pic>
        <p:nvPicPr>
          <p:cNvPr id="113" name="Google Shape;113;p15" descr="image.png"/>
          <p:cNvPicPr preferRelativeResize="0"/>
          <p:nvPr/>
        </p:nvPicPr>
        <p:blipFill rotWithShape="1">
          <a:blip r:embed="rId6">
            <a:alphaModFix/>
          </a:blip>
          <a:srcRect/>
          <a:stretch/>
        </p:blipFill>
        <p:spPr>
          <a:xfrm>
            <a:off x="1300163" y="2764631"/>
            <a:ext cx="571500" cy="571500"/>
          </a:xfrm>
          <a:prstGeom prst="rect">
            <a:avLst/>
          </a:prstGeom>
          <a:noFill/>
          <a:ln>
            <a:noFill/>
          </a:ln>
        </p:spPr>
      </p:pic>
      <p:sp>
        <p:nvSpPr>
          <p:cNvPr id="120" name="Google Shape;120;p15"/>
          <p:cNvSpPr txBox="1"/>
          <p:nvPr/>
        </p:nvSpPr>
        <p:spPr>
          <a:xfrm>
            <a:off x="1300163" y="3621881"/>
            <a:ext cx="7186500" cy="1038746"/>
          </a:xfrm>
          <a:prstGeom prst="rect">
            <a:avLst/>
          </a:prstGeom>
          <a:noFill/>
          <a:ln>
            <a:noFill/>
          </a:ln>
        </p:spPr>
        <p:txBody>
          <a:bodyPr spcFirstLastPara="1" wrap="square" lIns="0" tIns="0" rIns="0" bIns="0" anchor="t" anchorCtr="0">
            <a:spAutoFit/>
          </a:bodyPr>
          <a:lstStyle/>
          <a:p>
            <a:pPr>
              <a:lnSpc>
                <a:spcPct val="150000"/>
              </a:lnSpc>
            </a:pPr>
            <a:r>
              <a:rPr lang="en-US" sz="2250" dirty="0">
                <a:solidFill>
                  <a:schemeClr val="bg1"/>
                </a:solidFill>
                <a:latin typeface="Segoe UI Semibold" panose="020B0702040204020203" pitchFamily="34" charset="0"/>
                <a:ea typeface="Inter"/>
                <a:cs typeface="Segoe UI Semibold" panose="020B0702040204020203" pitchFamily="34" charset="0"/>
                <a:sym typeface="Inter"/>
              </a:rPr>
              <a:t>Trained ONLY on "Normal" scans (1,341 images) to learn the anatomical manifold of a healthy chest.</a:t>
            </a:r>
            <a:endParaRPr sz="2700" dirty="0">
              <a:solidFill>
                <a:schemeClr val="bg1"/>
              </a:solidFill>
              <a:latin typeface="Segoe UI Semibold" panose="020B0702040204020203" pitchFamily="34" charset="0"/>
              <a:cs typeface="Segoe UI Semibold" panose="020B0702040204020203" pitchFamily="34" charset="0"/>
            </a:endParaRPr>
          </a:p>
        </p:txBody>
      </p:sp>
      <p:sp>
        <p:nvSpPr>
          <p:cNvPr id="123" name="Google Shape;123;p15"/>
          <p:cNvSpPr txBox="1"/>
          <p:nvPr/>
        </p:nvSpPr>
        <p:spPr>
          <a:xfrm>
            <a:off x="2157413" y="2843213"/>
            <a:ext cx="2655450" cy="415498"/>
          </a:xfrm>
          <a:prstGeom prst="rect">
            <a:avLst/>
          </a:prstGeom>
          <a:noFill/>
          <a:ln>
            <a:noFill/>
          </a:ln>
        </p:spPr>
        <p:txBody>
          <a:bodyPr spcFirstLastPara="1" wrap="square" lIns="0" tIns="0" rIns="0" bIns="0" anchor="t" anchorCtr="0">
            <a:spAutoFit/>
          </a:bodyPr>
          <a:lstStyle/>
          <a:p>
            <a:r>
              <a:rPr lang="en-US" sz="2700" b="1" dirty="0">
                <a:solidFill>
                  <a:srgbClr val="58A6FF"/>
                </a:solidFill>
                <a:latin typeface="Segoe UI Semibold" panose="020B0702040204020203" pitchFamily="34" charset="0"/>
                <a:ea typeface="Inter"/>
                <a:cs typeface="Segoe UI Semibold" panose="020B0702040204020203" pitchFamily="34" charset="0"/>
                <a:sym typeface="Inter"/>
              </a:rPr>
              <a:t>Task Definition</a:t>
            </a:r>
            <a:endParaRPr sz="2700" dirty="0">
              <a:latin typeface="Segoe UI Semibold" panose="020B0702040204020203" pitchFamily="34" charset="0"/>
              <a:cs typeface="Segoe UI Semibold" panose="020B0702040204020203" pitchFamily="34" charset="0"/>
            </a:endParaRPr>
          </a:p>
        </p:txBody>
      </p:sp>
      <p:pic>
        <p:nvPicPr>
          <p:cNvPr id="110" name="Google Shape;110;p15" descr="image.png"/>
          <p:cNvPicPr preferRelativeResize="0"/>
          <p:nvPr/>
        </p:nvPicPr>
        <p:blipFill rotWithShape="1">
          <a:blip r:embed="rId7">
            <a:alphaModFix amt="70000"/>
          </a:blip>
          <a:srcRect/>
          <a:stretch/>
        </p:blipFill>
        <p:spPr>
          <a:xfrm>
            <a:off x="9358313" y="2321718"/>
            <a:ext cx="8072438" cy="3314700"/>
          </a:xfrm>
          <a:prstGeom prst="rect">
            <a:avLst/>
          </a:prstGeom>
          <a:noFill/>
          <a:ln>
            <a:noFill/>
          </a:ln>
        </p:spPr>
      </p:pic>
      <p:pic>
        <p:nvPicPr>
          <p:cNvPr id="114" name="Google Shape;114;p15" descr="image.png"/>
          <p:cNvPicPr preferRelativeResize="0"/>
          <p:nvPr/>
        </p:nvPicPr>
        <p:blipFill rotWithShape="1">
          <a:blip r:embed="rId8">
            <a:alphaModFix/>
          </a:blip>
          <a:srcRect/>
          <a:stretch/>
        </p:blipFill>
        <p:spPr>
          <a:xfrm>
            <a:off x="9801226" y="2764631"/>
            <a:ext cx="642938" cy="571500"/>
          </a:xfrm>
          <a:prstGeom prst="rect">
            <a:avLst/>
          </a:prstGeom>
          <a:noFill/>
          <a:ln>
            <a:noFill/>
          </a:ln>
        </p:spPr>
      </p:pic>
      <p:sp>
        <p:nvSpPr>
          <p:cNvPr id="119" name="Google Shape;119;p15"/>
          <p:cNvSpPr txBox="1"/>
          <p:nvPr/>
        </p:nvSpPr>
        <p:spPr>
          <a:xfrm>
            <a:off x="9801226" y="3621881"/>
            <a:ext cx="7186613" cy="1558119"/>
          </a:xfrm>
          <a:prstGeom prst="rect">
            <a:avLst/>
          </a:prstGeom>
          <a:noFill/>
          <a:ln>
            <a:noFill/>
          </a:ln>
        </p:spPr>
        <p:txBody>
          <a:bodyPr spcFirstLastPara="1" wrap="square" lIns="0" tIns="0" rIns="0" bIns="0" anchor="t" anchorCtr="0">
            <a:spAutoFit/>
          </a:bodyPr>
          <a:lstStyle/>
          <a:p>
            <a:pPr>
              <a:lnSpc>
                <a:spcPct val="150000"/>
              </a:lnSpc>
            </a:pPr>
            <a:r>
              <a:rPr lang="en-US" sz="2250" dirty="0">
                <a:solidFill>
                  <a:schemeClr val="bg1"/>
                </a:solidFill>
                <a:latin typeface="Segoe UI Semibold" panose="020B0702040204020203" pitchFamily="34" charset="0"/>
                <a:ea typeface="Inter"/>
                <a:cs typeface="Segoe UI Semibold" panose="020B0702040204020203" pitchFamily="34" charset="0"/>
                <a:sym typeface="Inter"/>
              </a:rPr>
              <a:t>Utilizing Layer 3 features to capture textural information for medical pathologies superior to Layer 4.</a:t>
            </a:r>
            <a:endParaRPr sz="2700" dirty="0">
              <a:solidFill>
                <a:schemeClr val="bg1"/>
              </a:solidFill>
              <a:latin typeface="Segoe UI Semibold" panose="020B0702040204020203" pitchFamily="34" charset="0"/>
              <a:cs typeface="Segoe UI Semibold" panose="020B0702040204020203" pitchFamily="34" charset="0"/>
            </a:endParaRPr>
          </a:p>
        </p:txBody>
      </p:sp>
      <p:sp>
        <p:nvSpPr>
          <p:cNvPr id="124" name="Google Shape;124;p15"/>
          <p:cNvSpPr txBox="1"/>
          <p:nvPr/>
        </p:nvSpPr>
        <p:spPr>
          <a:xfrm>
            <a:off x="10729913" y="2843213"/>
            <a:ext cx="3615452" cy="415498"/>
          </a:xfrm>
          <a:prstGeom prst="rect">
            <a:avLst/>
          </a:prstGeom>
          <a:noFill/>
          <a:ln>
            <a:noFill/>
          </a:ln>
        </p:spPr>
        <p:txBody>
          <a:bodyPr spcFirstLastPara="1" wrap="square" lIns="0" tIns="0" rIns="0" bIns="0" anchor="t" anchorCtr="0">
            <a:spAutoFit/>
          </a:bodyPr>
          <a:lstStyle/>
          <a:p>
            <a:r>
              <a:rPr lang="en-US" sz="2700" b="1" dirty="0">
                <a:solidFill>
                  <a:srgbClr val="58A6FF"/>
                </a:solidFill>
                <a:latin typeface="Segoe UI Semibold" panose="020B0702040204020203" pitchFamily="34" charset="0"/>
                <a:ea typeface="Inter"/>
                <a:cs typeface="Segoe UI Semibold" panose="020B0702040204020203" pitchFamily="34" charset="0"/>
                <a:sym typeface="Inter"/>
              </a:rPr>
              <a:t>Backbone: ResNet18</a:t>
            </a:r>
            <a:endParaRPr sz="2700" dirty="0">
              <a:latin typeface="Segoe UI Semibold" panose="020B0702040204020203" pitchFamily="34" charset="0"/>
              <a:cs typeface="Segoe UI Semibold" panose="020B0702040204020203" pitchFamily="34" charset="0"/>
            </a:endParaRPr>
          </a:p>
        </p:txBody>
      </p:sp>
      <p:pic>
        <p:nvPicPr>
          <p:cNvPr id="111" name="Google Shape;111;p15" descr="image.png"/>
          <p:cNvPicPr preferRelativeResize="0"/>
          <p:nvPr/>
        </p:nvPicPr>
        <p:blipFill rotWithShape="1">
          <a:blip r:embed="rId9">
            <a:alphaModFix amt="50000"/>
          </a:blip>
          <a:srcRect/>
          <a:stretch/>
        </p:blipFill>
        <p:spPr>
          <a:xfrm>
            <a:off x="857251" y="6065043"/>
            <a:ext cx="8072438" cy="3314700"/>
          </a:xfrm>
          <a:prstGeom prst="rect">
            <a:avLst/>
          </a:prstGeom>
          <a:noFill/>
          <a:ln>
            <a:noFill/>
          </a:ln>
        </p:spPr>
      </p:pic>
      <p:pic>
        <p:nvPicPr>
          <p:cNvPr id="115" name="Google Shape;115;p15" descr="image.png"/>
          <p:cNvPicPr preferRelativeResize="0"/>
          <p:nvPr/>
        </p:nvPicPr>
        <p:blipFill rotWithShape="1">
          <a:blip r:embed="rId10">
            <a:alphaModFix/>
          </a:blip>
          <a:srcRect/>
          <a:stretch/>
        </p:blipFill>
        <p:spPr>
          <a:xfrm>
            <a:off x="1300163" y="6507956"/>
            <a:ext cx="714375" cy="571500"/>
          </a:xfrm>
          <a:prstGeom prst="rect">
            <a:avLst/>
          </a:prstGeom>
          <a:noFill/>
          <a:ln>
            <a:noFill/>
          </a:ln>
        </p:spPr>
      </p:pic>
      <mc:AlternateContent xmlns:mc="http://schemas.openxmlformats.org/markup-compatibility/2006">
        <mc:Choice xmlns:a14="http://schemas.microsoft.com/office/drawing/2010/main" Requires="a14">
          <p:sp>
            <p:nvSpPr>
              <p:cNvPr id="121" name="Google Shape;121;p15"/>
              <p:cNvSpPr txBox="1"/>
              <p:nvPr/>
            </p:nvSpPr>
            <p:spPr>
              <a:xfrm>
                <a:off x="1300163" y="7365206"/>
                <a:ext cx="7186613" cy="1384995"/>
              </a:xfrm>
              <a:prstGeom prst="rect">
                <a:avLst/>
              </a:prstGeom>
              <a:noFill/>
              <a:ln>
                <a:noFill/>
              </a:ln>
            </p:spPr>
            <p:txBody>
              <a:bodyPr spcFirstLastPara="1" wrap="square" lIns="0" tIns="0" rIns="0" bIns="0" anchor="t" anchorCtr="0">
                <a:spAutoFit/>
              </a:bodyPr>
              <a:lstStyle/>
              <a:p>
                <a:pPr>
                  <a:lnSpc>
                    <a:spcPct val="125000"/>
                  </a:lnSpc>
                </a:pPr>
                <a:r>
                  <a:rPr lang="en-US" sz="2400" b="1" dirty="0">
                    <a:solidFill>
                      <a:schemeClr val="bg1"/>
                    </a:solidFill>
                    <a:latin typeface="Segoe UI Semibold" panose="020B0702040204020203" pitchFamily="34" charset="0"/>
                    <a:ea typeface="Inter"/>
                    <a:cs typeface="Segoe UI Semibold" panose="020B0702040204020203" pitchFamily="34" charset="0"/>
                    <a:sym typeface="Inter"/>
                  </a:rPr>
                  <a:t>Noise Scale (</a:t>
                </a:r>
                <a14:m>
                  <m:oMath xmlns:m="http://schemas.openxmlformats.org/officeDocument/2006/math">
                    <m:r>
                      <a:rPr lang="en-US" sz="2400" b="1" i="1" smtClean="0">
                        <a:solidFill>
                          <a:schemeClr val="bg1"/>
                        </a:solidFill>
                        <a:latin typeface="Cambria Math" panose="02040503050406030204" pitchFamily="18" charset="0"/>
                        <a:ea typeface="Cambria Math" panose="02040503050406030204" pitchFamily="18" charset="0"/>
                        <a:cs typeface="Inter"/>
                        <a:sym typeface="Inter"/>
                      </a:rPr>
                      <m:t>𝝈</m:t>
                    </m:r>
                  </m:oMath>
                </a14:m>
                <a:r>
                  <a:rPr lang="en-US" sz="2400" b="1" dirty="0">
                    <a:solidFill>
                      <a:schemeClr val="bg1"/>
                    </a:solidFill>
                    <a:latin typeface="Segoe UI Semibold" panose="020B0702040204020203" pitchFamily="34" charset="0"/>
                    <a:ea typeface="Inter"/>
                    <a:cs typeface="Segoe UI Semibold" panose="020B0702040204020203" pitchFamily="34" charset="0"/>
                    <a:sym typeface="Inter"/>
                  </a:rPr>
                  <a:t>):</a:t>
                </a:r>
                <a:r>
                  <a:rPr lang="en-US" sz="2400" dirty="0">
                    <a:solidFill>
                      <a:schemeClr val="bg1"/>
                    </a:solidFill>
                    <a:latin typeface="Segoe UI Semibold" panose="020B0702040204020203" pitchFamily="34" charset="0"/>
                    <a:ea typeface="Inter"/>
                    <a:cs typeface="Segoe UI Semibold" panose="020B0702040204020203" pitchFamily="34" charset="0"/>
                    <a:sym typeface="Inter"/>
                  </a:rPr>
                  <a:t> 0.015 (Standard) vs. 0.005 (Ablation).</a:t>
                </a:r>
                <a:br>
                  <a:rPr lang="en-US" sz="2400" dirty="0">
                    <a:solidFill>
                      <a:schemeClr val="bg1"/>
                    </a:solidFill>
                    <a:latin typeface="Segoe UI Semibold" panose="020B0702040204020203" pitchFamily="34" charset="0"/>
                    <a:ea typeface="Calibri"/>
                    <a:cs typeface="Segoe UI Semibold" panose="020B0702040204020203" pitchFamily="34" charset="0"/>
                    <a:sym typeface="Calibri"/>
                  </a:rPr>
                </a:br>
                <a:r>
                  <a:rPr lang="en-US" sz="2400" b="1" dirty="0">
                    <a:solidFill>
                      <a:schemeClr val="bg1"/>
                    </a:solidFill>
                    <a:latin typeface="Segoe UI Semibold" panose="020B0702040204020203" pitchFamily="34" charset="0"/>
                    <a:ea typeface="Inter"/>
                    <a:cs typeface="Segoe UI Semibold" panose="020B0702040204020203" pitchFamily="34" charset="0"/>
                    <a:sym typeface="Inter"/>
                  </a:rPr>
                  <a:t>Capacity:</a:t>
                </a:r>
                <a:r>
                  <a:rPr lang="en-US" sz="2400" dirty="0">
                    <a:solidFill>
                      <a:schemeClr val="bg1"/>
                    </a:solidFill>
                    <a:latin typeface="Segoe UI Semibold" panose="020B0702040204020203" pitchFamily="34" charset="0"/>
                    <a:ea typeface="Inter"/>
                    <a:cs typeface="Segoe UI Semibold" panose="020B0702040204020203" pitchFamily="34" charset="0"/>
                    <a:sym typeface="Inter"/>
                  </a:rPr>
                  <a:t> 3-layer Discriminator (512 units).</a:t>
                </a:r>
                <a:endParaRPr lang="en-US" sz="2400" dirty="0">
                  <a:solidFill>
                    <a:schemeClr val="bg1"/>
                  </a:solidFill>
                  <a:latin typeface="Segoe UI Semibold" panose="020B0702040204020203" pitchFamily="34" charset="0"/>
                  <a:cs typeface="Segoe UI Semibold" panose="020B0702040204020203" pitchFamily="34" charset="0"/>
                </a:endParaRPr>
              </a:p>
            </p:txBody>
          </p:sp>
        </mc:Choice>
        <mc:Fallback>
          <p:sp>
            <p:nvSpPr>
              <p:cNvPr id="121" name="Google Shape;121;p15"/>
              <p:cNvSpPr txBox="1">
                <a:spLocks noRot="1" noChangeAspect="1" noMove="1" noResize="1" noEditPoints="1" noAdjustHandles="1" noChangeArrowheads="1" noChangeShapeType="1" noTextEdit="1"/>
              </p:cNvSpPr>
              <p:nvPr/>
            </p:nvSpPr>
            <p:spPr>
              <a:xfrm>
                <a:off x="1300163" y="7365206"/>
                <a:ext cx="7186613" cy="1384995"/>
              </a:xfrm>
              <a:prstGeom prst="rect">
                <a:avLst/>
              </a:prstGeom>
              <a:blipFill>
                <a:blip r:embed="rId11"/>
                <a:stretch>
                  <a:fillRect l="-2545" t="-3084" b="-9692"/>
                </a:stretch>
              </a:blipFill>
              <a:ln>
                <a:noFill/>
              </a:ln>
            </p:spPr>
            <p:txBody>
              <a:bodyPr/>
              <a:lstStyle/>
              <a:p>
                <a:r>
                  <a:rPr lang="en-GB">
                    <a:noFill/>
                  </a:rPr>
                  <a:t> </a:t>
                </a:r>
              </a:p>
            </p:txBody>
          </p:sp>
        </mc:Fallback>
      </mc:AlternateContent>
      <p:sp>
        <p:nvSpPr>
          <p:cNvPr id="125" name="Google Shape;125;p15"/>
          <p:cNvSpPr txBox="1"/>
          <p:nvPr/>
        </p:nvSpPr>
        <p:spPr>
          <a:xfrm>
            <a:off x="2300288" y="6586538"/>
            <a:ext cx="3585447" cy="415498"/>
          </a:xfrm>
          <a:prstGeom prst="rect">
            <a:avLst/>
          </a:prstGeom>
          <a:noFill/>
          <a:ln>
            <a:noFill/>
          </a:ln>
        </p:spPr>
        <p:txBody>
          <a:bodyPr spcFirstLastPara="1" wrap="square" lIns="0" tIns="0" rIns="0" bIns="0" anchor="t" anchorCtr="0">
            <a:spAutoFit/>
          </a:bodyPr>
          <a:lstStyle/>
          <a:p>
            <a:r>
              <a:rPr lang="en-US" sz="2700" b="1">
                <a:solidFill>
                  <a:srgbClr val="58A6FF"/>
                </a:solidFill>
                <a:latin typeface="Inter"/>
                <a:ea typeface="Inter"/>
                <a:cs typeface="Inter"/>
                <a:sym typeface="Inter"/>
              </a:rPr>
              <a:t>Variable Experiment</a:t>
            </a:r>
            <a:endParaRPr sz="2700"/>
          </a:p>
        </p:txBody>
      </p:sp>
      <p:pic>
        <p:nvPicPr>
          <p:cNvPr id="10" name="Google Shape;112;p15" descr="image.png">
            <a:extLst>
              <a:ext uri="{FF2B5EF4-FFF2-40B4-BE49-F238E27FC236}">
                <a16:creationId xmlns:a16="http://schemas.microsoft.com/office/drawing/2014/main" id="{C0563026-CF75-48CE-2F25-8FCA23887361}"/>
              </a:ext>
            </a:extLst>
          </p:cNvPr>
          <p:cNvPicPr preferRelativeResize="0"/>
          <p:nvPr/>
        </p:nvPicPr>
        <p:blipFill rotWithShape="1">
          <a:blip r:embed="rId12">
            <a:alphaModFix amt="35000"/>
          </a:blip>
          <a:srcRect/>
          <a:stretch/>
        </p:blipFill>
        <p:spPr>
          <a:xfrm>
            <a:off x="9358313" y="6065043"/>
            <a:ext cx="8072438" cy="3314700"/>
          </a:xfrm>
          <a:prstGeom prst="rect">
            <a:avLst/>
          </a:prstGeom>
          <a:noFill/>
          <a:ln>
            <a:noFill/>
          </a:ln>
        </p:spPr>
      </p:pic>
      <p:pic>
        <p:nvPicPr>
          <p:cNvPr id="12" name="Google Shape;116;p15" descr="image.png">
            <a:extLst>
              <a:ext uri="{FF2B5EF4-FFF2-40B4-BE49-F238E27FC236}">
                <a16:creationId xmlns:a16="http://schemas.microsoft.com/office/drawing/2014/main" id="{3857275A-91F5-C4D4-3AE1-31FF42F3F155}"/>
              </a:ext>
            </a:extLst>
          </p:cNvPr>
          <p:cNvPicPr preferRelativeResize="0"/>
          <p:nvPr/>
        </p:nvPicPr>
        <p:blipFill rotWithShape="1">
          <a:blip r:embed="rId13">
            <a:alphaModFix/>
          </a:blip>
          <a:srcRect/>
          <a:stretch/>
        </p:blipFill>
        <p:spPr>
          <a:xfrm>
            <a:off x="9801225" y="6507956"/>
            <a:ext cx="571500" cy="571500"/>
          </a:xfrm>
          <a:prstGeom prst="rect">
            <a:avLst/>
          </a:prstGeom>
          <a:noFill/>
          <a:ln>
            <a:noFill/>
          </a:ln>
        </p:spPr>
      </p:pic>
      <p:sp>
        <p:nvSpPr>
          <p:cNvPr id="14" name="Google Shape;122;p15">
            <a:extLst>
              <a:ext uri="{FF2B5EF4-FFF2-40B4-BE49-F238E27FC236}">
                <a16:creationId xmlns:a16="http://schemas.microsoft.com/office/drawing/2014/main" id="{1CDD3F34-8CCA-AE6A-5B81-EC0478C67BA6}"/>
              </a:ext>
            </a:extLst>
          </p:cNvPr>
          <p:cNvSpPr txBox="1"/>
          <p:nvPr/>
        </p:nvSpPr>
        <p:spPr>
          <a:xfrm>
            <a:off x="9801226" y="7365206"/>
            <a:ext cx="7186613" cy="1107996"/>
          </a:xfrm>
          <a:prstGeom prst="rect">
            <a:avLst/>
          </a:prstGeom>
          <a:noFill/>
          <a:ln>
            <a:noFill/>
          </a:ln>
        </p:spPr>
        <p:txBody>
          <a:bodyPr spcFirstLastPara="1" wrap="square" lIns="0" tIns="0" rIns="0" bIns="0" anchor="t" anchorCtr="0">
            <a:spAutoFit/>
          </a:bodyPr>
          <a:lstStyle/>
          <a:p>
            <a:pPr>
              <a:lnSpc>
                <a:spcPct val="150000"/>
              </a:lnSpc>
            </a:pPr>
            <a:r>
              <a:rPr lang="en-US" sz="2400" dirty="0">
                <a:solidFill>
                  <a:schemeClr val="bg1"/>
                </a:solidFill>
                <a:latin typeface="Segoe UI Semibold" panose="020B0702040204020203" pitchFamily="34" charset="0"/>
                <a:ea typeface="Inter"/>
                <a:cs typeface="Segoe UI Semibold" panose="020B0702040204020203" pitchFamily="34" charset="0"/>
                <a:sym typeface="Inter"/>
              </a:rPr>
              <a:t>Batch Size: 16 (Reduced for GPU stability on 11GB VRAM cluster during full dataset runs).</a:t>
            </a:r>
            <a:endParaRPr sz="2400" dirty="0">
              <a:solidFill>
                <a:schemeClr val="bg1"/>
              </a:solidFill>
              <a:latin typeface="Segoe UI Semibold" panose="020B0702040204020203" pitchFamily="34" charset="0"/>
              <a:cs typeface="Segoe UI Semibold" panose="020B0702040204020203" pitchFamily="34" charset="0"/>
            </a:endParaRPr>
          </a:p>
        </p:txBody>
      </p:sp>
      <p:sp>
        <p:nvSpPr>
          <p:cNvPr id="16" name="Google Shape;126;p15">
            <a:extLst>
              <a:ext uri="{FF2B5EF4-FFF2-40B4-BE49-F238E27FC236}">
                <a16:creationId xmlns:a16="http://schemas.microsoft.com/office/drawing/2014/main" id="{F3FC7D6D-19EF-A7AF-ACE8-6CBE8DE86225}"/>
              </a:ext>
            </a:extLst>
          </p:cNvPr>
          <p:cNvSpPr txBox="1"/>
          <p:nvPr/>
        </p:nvSpPr>
        <p:spPr>
          <a:xfrm>
            <a:off x="10658476" y="6586538"/>
            <a:ext cx="2460308" cy="415498"/>
          </a:xfrm>
          <a:prstGeom prst="rect">
            <a:avLst/>
          </a:prstGeom>
          <a:noFill/>
          <a:ln>
            <a:noFill/>
          </a:ln>
        </p:spPr>
        <p:txBody>
          <a:bodyPr spcFirstLastPara="1" wrap="square" lIns="0" tIns="0" rIns="0" bIns="0" anchor="t" anchorCtr="0">
            <a:spAutoFit/>
          </a:bodyPr>
          <a:lstStyle/>
          <a:p>
            <a:r>
              <a:rPr lang="en-US" sz="2700" b="1" dirty="0">
                <a:solidFill>
                  <a:srgbClr val="58A6FF"/>
                </a:solidFill>
                <a:latin typeface="Inter"/>
                <a:ea typeface="Inter"/>
                <a:cs typeface="Inter"/>
                <a:sym typeface="Inter"/>
              </a:rPr>
              <a:t>Infrastructure</a:t>
            </a:r>
            <a:endParaRPr sz="2700" dirty="0"/>
          </a:p>
        </p:txBody>
      </p:sp>
    </p:spTree>
    <p:extLst>
      <p:ext uri="{BB962C8B-B14F-4D97-AF65-F5344CB8AC3E}">
        <p14:creationId xmlns:p14="http://schemas.microsoft.com/office/powerpoint/2010/main" val="657001387"/>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72376A9-77C1-27FD-D8F2-0C79F73C8D92}"/>
            </a:ext>
          </a:extLst>
        </p:cNvPr>
        <p:cNvGrpSpPr/>
        <p:nvPr/>
      </p:nvGrpSpPr>
      <p:grpSpPr>
        <a:xfrm>
          <a:off x="0" y="0"/>
          <a:ext cx="0" cy="0"/>
          <a:chOff x="0" y="0"/>
          <a:chExt cx="0" cy="0"/>
        </a:xfrm>
      </p:grpSpPr>
      <p:sp>
        <p:nvSpPr>
          <p:cNvPr id="2" name="Freeform 2">
            <a:extLst>
              <a:ext uri="{FF2B5EF4-FFF2-40B4-BE49-F238E27FC236}">
                <a16:creationId xmlns:a16="http://schemas.microsoft.com/office/drawing/2014/main" id="{7E284962-4751-0F33-29BC-8D88A1188B1A}"/>
              </a:ext>
            </a:extLst>
          </p:cNvPr>
          <p:cNvSpPr/>
          <p:nvPr/>
        </p:nvSpPr>
        <p:spPr>
          <a:xfrm>
            <a:off x="-137806" y="-5443"/>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3"/>
            <a:stretch>
              <a:fillRect t="-9222" b="-9222"/>
            </a:stretch>
          </a:blipFill>
        </p:spPr>
        <p:txBody>
          <a:bodyPr/>
          <a:lstStyle/>
          <a:p>
            <a:endParaRPr lang="en-GB" sz="2000" dirty="0">
              <a:solidFill>
                <a:schemeClr val="bg1"/>
              </a:solidFill>
              <a:latin typeface="Segoe UI Semibold" panose="020B0702040204020203" pitchFamily="34" charset="0"/>
              <a:cs typeface="Segoe UI Semibold" panose="020B0702040204020203" pitchFamily="34" charset="0"/>
            </a:endParaRPr>
          </a:p>
        </p:txBody>
      </p:sp>
      <p:pic>
        <p:nvPicPr>
          <p:cNvPr id="18" name="Picture 17">
            <a:extLst>
              <a:ext uri="{FF2B5EF4-FFF2-40B4-BE49-F238E27FC236}">
                <a16:creationId xmlns:a16="http://schemas.microsoft.com/office/drawing/2014/main" id="{D741D348-4630-4055-7E73-2A190B87F2DC}"/>
              </a:ext>
            </a:extLst>
          </p:cNvPr>
          <p:cNvPicPr>
            <a:picLocks noChangeAspect="1"/>
          </p:cNvPicPr>
          <p:nvPr/>
        </p:nvPicPr>
        <p:blipFill rotWithShape="1">
          <a:blip r:embed="rId4"/>
          <a:srcRect l="19756" t="18691" r="19454" b="41655"/>
          <a:stretch/>
        </p:blipFill>
        <p:spPr>
          <a:xfrm>
            <a:off x="16316104" y="381000"/>
            <a:ext cx="1812319" cy="760280"/>
          </a:xfrm>
          <a:prstGeom prst="roundRect">
            <a:avLst>
              <a:gd name="adj" fmla="val 8594"/>
            </a:avLst>
          </a:prstGeom>
          <a:solidFill>
            <a:srgbClr val="FFFFFF">
              <a:shade val="85000"/>
            </a:srgbClr>
          </a:solidFill>
          <a:ln>
            <a:noFill/>
          </a:ln>
          <a:effectLst>
            <a:reflection blurRad="12700" stA="38000" endPos="28000" dist="5000" dir="5400000" sy="-100000" algn="bl" rotWithShape="0"/>
          </a:effectLst>
        </p:spPr>
      </p:pic>
      <p:cxnSp>
        <p:nvCxnSpPr>
          <p:cNvPr id="21" name="Straight Connector 20">
            <a:extLst>
              <a:ext uri="{FF2B5EF4-FFF2-40B4-BE49-F238E27FC236}">
                <a16:creationId xmlns:a16="http://schemas.microsoft.com/office/drawing/2014/main" id="{014AD492-FBE9-67EB-53AE-2E6A82C5FCC2}"/>
              </a:ext>
            </a:extLst>
          </p:cNvPr>
          <p:cNvCxnSpPr>
            <a:cxnSpLocks/>
          </p:cNvCxnSpPr>
          <p:nvPr/>
        </p:nvCxnSpPr>
        <p:spPr>
          <a:xfrm flipV="1">
            <a:off x="1600200" y="1638300"/>
            <a:ext cx="14173200" cy="76200"/>
          </a:xfrm>
          <a:prstGeom prst="line">
            <a:avLst/>
          </a:prstGeom>
        </p:spPr>
        <p:style>
          <a:lnRef idx="3">
            <a:schemeClr val="dk1"/>
          </a:lnRef>
          <a:fillRef idx="0">
            <a:schemeClr val="dk1"/>
          </a:fillRef>
          <a:effectRef idx="2">
            <a:schemeClr val="dk1"/>
          </a:effectRef>
          <a:fontRef idx="minor">
            <a:schemeClr val="tx1"/>
          </a:fontRef>
        </p:style>
      </p:cxnSp>
      <p:sp>
        <p:nvSpPr>
          <p:cNvPr id="23" name="TextBox 22">
            <a:extLst>
              <a:ext uri="{FF2B5EF4-FFF2-40B4-BE49-F238E27FC236}">
                <a16:creationId xmlns:a16="http://schemas.microsoft.com/office/drawing/2014/main" id="{4BE1C3F5-76A4-3ED4-5588-AC6D956C9F21}"/>
              </a:ext>
            </a:extLst>
          </p:cNvPr>
          <p:cNvSpPr txBox="1"/>
          <p:nvPr/>
        </p:nvSpPr>
        <p:spPr>
          <a:xfrm>
            <a:off x="1572412" y="794703"/>
            <a:ext cx="12067388" cy="646331"/>
          </a:xfrm>
          <a:prstGeom prst="rect">
            <a:avLst/>
          </a:prstGeom>
          <a:noFill/>
        </p:spPr>
        <p:txBody>
          <a:bodyPr wrap="square" rtlCol="0">
            <a:spAutoFit/>
          </a:bodyPr>
          <a:lstStyle/>
          <a:p>
            <a:pPr lvl="0"/>
            <a:r>
              <a:rPr lang="de-DE" sz="3600" b="1" dirty="0">
                <a:solidFill>
                  <a:srgbClr val="F0F6FC"/>
                </a:solidFill>
                <a:latin typeface="Segoe UI Semibold" panose="020B0702040204020203" pitchFamily="34" charset="0"/>
                <a:cs typeface="Segoe UI Semibold" panose="020B0702040204020203" pitchFamily="34" charset="0"/>
                <a:sym typeface="Inter"/>
              </a:rPr>
              <a:t>E</a:t>
            </a:r>
            <a:r>
              <a:rPr lang="en-GB" sz="3600" b="1" dirty="0" err="1">
                <a:solidFill>
                  <a:srgbClr val="F0F6FC"/>
                </a:solidFill>
                <a:latin typeface="Segoe UI Semibold" panose="020B0702040204020203" pitchFamily="34" charset="0"/>
                <a:cs typeface="Segoe UI Semibold" panose="020B0702040204020203" pitchFamily="34" charset="0"/>
                <a:sym typeface="Inter"/>
              </a:rPr>
              <a:t>xperimentation</a:t>
            </a:r>
            <a:r>
              <a:rPr lang="en-GB" sz="3600" b="1" dirty="0">
                <a:solidFill>
                  <a:srgbClr val="F0F6FC"/>
                </a:solidFill>
                <a:latin typeface="Segoe UI Semibold" panose="020B0702040204020203" pitchFamily="34" charset="0"/>
                <a:cs typeface="Segoe UI Semibold" panose="020B0702040204020203" pitchFamily="34" charset="0"/>
                <a:sym typeface="Inter"/>
              </a:rPr>
              <a:t> Comparison</a:t>
            </a:r>
            <a:endParaRPr lang="en-GB" sz="3600" dirty="0">
              <a:latin typeface="Segoe UI Semibold" panose="020B0702040204020203" pitchFamily="34" charset="0"/>
              <a:cs typeface="Segoe UI Semibold" panose="020B0702040204020203" pitchFamily="34" charset="0"/>
            </a:endParaRPr>
          </a:p>
        </p:txBody>
      </p:sp>
      <p:sp>
        <p:nvSpPr>
          <p:cNvPr id="100" name="Google Shape;100;p14">
            <a:extLst>
              <a:ext uri="{FF2B5EF4-FFF2-40B4-BE49-F238E27FC236}">
                <a16:creationId xmlns:a16="http://schemas.microsoft.com/office/drawing/2014/main" id="{DAFA46F2-E251-4D35-76CE-7D007F8DF4CF}"/>
              </a:ext>
            </a:extLst>
          </p:cNvPr>
          <p:cNvSpPr txBox="1"/>
          <p:nvPr/>
        </p:nvSpPr>
        <p:spPr>
          <a:xfrm>
            <a:off x="1547012" y="3402054"/>
            <a:ext cx="4648200" cy="461665"/>
          </a:xfrm>
          <a:prstGeom prst="rect">
            <a:avLst/>
          </a:prstGeom>
          <a:noFill/>
          <a:ln>
            <a:noFill/>
          </a:ln>
        </p:spPr>
        <p:txBody>
          <a:bodyPr spcFirstLastPara="1" wrap="square" lIns="0" tIns="0" rIns="0" bIns="0" anchor="t" anchorCtr="0">
            <a:spAutoFit/>
          </a:bodyPr>
          <a:lstStyle/>
          <a:p>
            <a:pPr marL="0" marR="0" lvl="0" indent="0" algn="l" rtl="0">
              <a:lnSpc>
                <a:spcPct val="150000"/>
              </a:lnSpc>
              <a:spcBef>
                <a:spcPts val="0"/>
              </a:spcBef>
              <a:spcAft>
                <a:spcPts val="0"/>
              </a:spcAft>
              <a:buNone/>
            </a:pPr>
            <a:r>
              <a:rPr lang="en-US" sz="2000" b="0" i="0" u="none" strike="noStrike" cap="none" dirty="0">
                <a:solidFill>
                  <a:srgbClr val="8B949E"/>
                </a:solidFill>
                <a:latin typeface="Segoe UI Semibold" panose="020B0702040204020203" pitchFamily="34" charset="0"/>
                <a:ea typeface="Inter"/>
                <a:cs typeface="Segoe UI Semibold" panose="020B0702040204020203" pitchFamily="34" charset="0"/>
                <a:sym typeface="Inter"/>
              </a:rPr>
              <a:t>.</a:t>
            </a:r>
            <a:endParaRPr sz="2000" dirty="0">
              <a:latin typeface="Segoe UI Semibold" panose="020B0702040204020203" pitchFamily="34" charset="0"/>
              <a:cs typeface="Segoe UI Semibold" panose="020B0702040204020203" pitchFamily="34" charset="0"/>
            </a:endParaRPr>
          </a:p>
        </p:txBody>
      </p:sp>
      <p:pic>
        <p:nvPicPr>
          <p:cNvPr id="116" name="Google Shape;116;p16" descr="image.png"/>
          <p:cNvPicPr preferRelativeResize="0"/>
          <p:nvPr/>
        </p:nvPicPr>
        <p:blipFill rotWithShape="1">
          <a:blip r:embed="rId5">
            <a:duotone>
              <a:prstClr val="black"/>
              <a:schemeClr val="accent1">
                <a:tint val="45000"/>
                <a:satMod val="400000"/>
              </a:schemeClr>
            </a:duotone>
            <a:alphaModFix amt="50000"/>
            <a:extLst>
              <a:ext uri="{BEBA8EAE-BF5A-486C-A8C5-ECC9F3942E4B}">
                <a14:imgProps xmlns:a14="http://schemas.microsoft.com/office/drawing/2010/main">
                  <a14:imgLayer r:embed="rId6">
                    <a14:imgEffect>
                      <a14:colorTemperature colorTemp="7200"/>
                    </a14:imgEffect>
                  </a14:imgLayer>
                </a14:imgProps>
              </a:ext>
            </a:extLst>
          </a:blip>
          <a:srcRect/>
          <a:stretch/>
        </p:blipFill>
        <p:spPr>
          <a:xfrm>
            <a:off x="1193751" y="3516854"/>
            <a:ext cx="4216449" cy="5208045"/>
          </a:xfrm>
          <a:prstGeom prst="rect">
            <a:avLst/>
          </a:prstGeom>
          <a:noFill/>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pic>
      <p:sp>
        <p:nvSpPr>
          <p:cNvPr id="119" name="Google Shape;119;p16"/>
          <p:cNvSpPr txBox="1"/>
          <p:nvPr/>
        </p:nvSpPr>
        <p:spPr>
          <a:xfrm>
            <a:off x="1416476" y="4669380"/>
            <a:ext cx="3047099" cy="430887"/>
          </a:xfrm>
          <a:prstGeom prst="rect">
            <a:avLst/>
          </a:prstGeom>
          <a:noFill/>
          <a:ln>
            <a:noFill/>
          </a:ln>
        </p:spPr>
        <p:txBody>
          <a:bodyPr spcFirstLastPara="1" wrap="square" lIns="0" tIns="0" rIns="0" bIns="0" anchor="t" anchorCtr="0">
            <a:spAutoFit/>
          </a:bodyPr>
          <a:lstStyle/>
          <a:p>
            <a:pPr marL="0" marR="0" lvl="0" indent="0" algn="ctr" rtl="0">
              <a:spcBef>
                <a:spcPts val="0"/>
              </a:spcBef>
              <a:spcAft>
                <a:spcPts val="0"/>
              </a:spcAft>
              <a:buNone/>
            </a:pPr>
            <a:r>
              <a:rPr lang="en-US" sz="2800" b="1" i="0" u="none" strike="noStrike" cap="none" dirty="0">
                <a:latin typeface="Segoe UI Semibold" panose="020B0702040204020203" pitchFamily="34" charset="0"/>
                <a:ea typeface="Lato"/>
                <a:cs typeface="Segoe UI Semibold" panose="020B0702040204020203" pitchFamily="34" charset="0"/>
                <a:sym typeface="Lato"/>
              </a:rPr>
              <a:t>The RGB Gap</a:t>
            </a:r>
            <a:endParaRPr sz="2800" dirty="0">
              <a:latin typeface="Segoe UI Semibold" panose="020B0702040204020203" pitchFamily="34" charset="0"/>
              <a:cs typeface="Segoe UI Semibold" panose="020B0702040204020203" pitchFamily="34" charset="0"/>
            </a:endParaRPr>
          </a:p>
        </p:txBody>
      </p:sp>
      <p:sp>
        <p:nvSpPr>
          <p:cNvPr id="120" name="Google Shape;120;p16"/>
          <p:cNvSpPr txBox="1"/>
          <p:nvPr/>
        </p:nvSpPr>
        <p:spPr>
          <a:xfrm>
            <a:off x="1683911" y="5515086"/>
            <a:ext cx="2901999" cy="2769989"/>
          </a:xfrm>
          <a:prstGeom prst="rect">
            <a:avLst/>
          </a:prstGeom>
          <a:noFill/>
          <a:ln>
            <a:noFill/>
          </a:ln>
        </p:spPr>
        <p:txBody>
          <a:bodyPr spcFirstLastPara="1" wrap="square" lIns="0" tIns="0" rIns="0" bIns="0" anchor="t" anchorCtr="0">
            <a:spAutoFit/>
          </a:bodyPr>
          <a:lstStyle/>
          <a:p>
            <a:pPr marL="0" marR="0" lvl="0" indent="0" algn="ctr" rtl="0">
              <a:lnSpc>
                <a:spcPct val="150000"/>
              </a:lnSpc>
              <a:spcBef>
                <a:spcPts val="0"/>
              </a:spcBef>
              <a:spcAft>
                <a:spcPts val="0"/>
              </a:spcAft>
              <a:buNone/>
            </a:pPr>
            <a:r>
              <a:rPr lang="en-US" sz="2000" b="0" i="0" u="none" strike="noStrike" cap="none" dirty="0" err="1">
                <a:solidFill>
                  <a:schemeClr val="bg1"/>
                </a:solidFill>
                <a:latin typeface="Segoe UI Semibold" panose="020B0702040204020203" pitchFamily="34" charset="0"/>
                <a:ea typeface="Lato"/>
                <a:cs typeface="Segoe UI Semibold" panose="020B0702040204020203" pitchFamily="34" charset="0"/>
                <a:sym typeface="Lato"/>
              </a:rPr>
              <a:t>SimpleNet</a:t>
            </a:r>
            <a:r>
              <a:rPr lang="en-US" sz="2000" b="0" i="0" u="none" strike="noStrike" cap="none" dirty="0">
                <a:solidFill>
                  <a:schemeClr val="bg1"/>
                </a:solidFill>
                <a:latin typeface="Segoe UI Semibold" panose="020B0702040204020203" pitchFamily="34" charset="0"/>
                <a:ea typeface="Lato"/>
                <a:cs typeface="Segoe UI Semibold" panose="020B0702040204020203" pitchFamily="34" charset="0"/>
                <a:sym typeface="Lato"/>
              </a:rPr>
              <a:t> is hard-coded for 3-channel RGB. I modified the data loader to perform 1-to-3 channel expansion for grayscale X-rays.</a:t>
            </a:r>
            <a:endParaRPr sz="2000" dirty="0">
              <a:solidFill>
                <a:schemeClr val="bg1"/>
              </a:solidFill>
              <a:latin typeface="Segoe UI Semibold" panose="020B0702040204020203" pitchFamily="34" charset="0"/>
              <a:cs typeface="Segoe UI Semibold" panose="020B0702040204020203" pitchFamily="34" charset="0"/>
            </a:endParaRPr>
          </a:p>
        </p:txBody>
      </p:sp>
      <p:pic>
        <p:nvPicPr>
          <p:cNvPr id="125" name="Google Shape;125;p16" descr="image.png"/>
          <p:cNvPicPr preferRelativeResize="0"/>
          <p:nvPr/>
        </p:nvPicPr>
        <p:blipFill rotWithShape="1">
          <a:blip r:embed="rId7">
            <a:alphaModFix/>
            <a:biLevel thresh="50000"/>
          </a:blip>
          <a:srcRect/>
          <a:stretch/>
        </p:blipFill>
        <p:spPr>
          <a:xfrm>
            <a:off x="2701826" y="3859755"/>
            <a:ext cx="476250" cy="476250"/>
          </a:xfrm>
          <a:prstGeom prst="rect">
            <a:avLst/>
          </a:prstGeom>
          <a:noFill/>
          <a:ln>
            <a:noFill/>
          </a:ln>
        </p:spPr>
      </p:pic>
      <p:pic>
        <p:nvPicPr>
          <p:cNvPr id="3" name="Google Shape;117;p16" descr="image.png">
            <a:extLst>
              <a:ext uri="{FF2B5EF4-FFF2-40B4-BE49-F238E27FC236}">
                <a16:creationId xmlns:a16="http://schemas.microsoft.com/office/drawing/2014/main" id="{17F3C7B2-3812-CE50-2E51-D72A74909E2B}"/>
              </a:ext>
            </a:extLst>
          </p:cNvPr>
          <p:cNvPicPr preferRelativeResize="0"/>
          <p:nvPr/>
        </p:nvPicPr>
        <p:blipFill rotWithShape="1">
          <a:blip r:embed="rId8">
            <a:duotone>
              <a:prstClr val="black"/>
              <a:schemeClr val="tx2">
                <a:tint val="45000"/>
                <a:satMod val="400000"/>
              </a:schemeClr>
            </a:duotone>
            <a:alphaModFix amt="50000"/>
          </a:blip>
          <a:srcRect/>
          <a:stretch/>
        </p:blipFill>
        <p:spPr>
          <a:xfrm>
            <a:off x="6507571" y="3506674"/>
            <a:ext cx="4669539" cy="5142026"/>
          </a:xfrm>
          <a:prstGeom prst="rect">
            <a:avLst/>
          </a:prstGeom>
          <a:noFill/>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pic>
      <p:sp>
        <p:nvSpPr>
          <p:cNvPr id="4" name="Google Shape;121;p16">
            <a:extLst>
              <a:ext uri="{FF2B5EF4-FFF2-40B4-BE49-F238E27FC236}">
                <a16:creationId xmlns:a16="http://schemas.microsoft.com/office/drawing/2014/main" id="{A3E729A1-DDBC-A122-0CCF-80A40F735D38}"/>
              </a:ext>
            </a:extLst>
          </p:cNvPr>
          <p:cNvSpPr txBox="1"/>
          <p:nvPr/>
        </p:nvSpPr>
        <p:spPr>
          <a:xfrm>
            <a:off x="6730296" y="4659200"/>
            <a:ext cx="3937704" cy="430887"/>
          </a:xfrm>
          <a:prstGeom prst="rect">
            <a:avLst/>
          </a:prstGeom>
          <a:noFill/>
          <a:ln>
            <a:noFill/>
          </a:ln>
        </p:spPr>
        <p:txBody>
          <a:bodyPr spcFirstLastPara="1" wrap="square" lIns="0" tIns="0" rIns="0" bIns="0" anchor="t" anchorCtr="0">
            <a:spAutoFit/>
          </a:bodyPr>
          <a:lstStyle/>
          <a:p>
            <a:pPr marL="0" marR="0" lvl="0" indent="0" algn="ctr" rtl="0">
              <a:spcBef>
                <a:spcPts val="0"/>
              </a:spcBef>
              <a:spcAft>
                <a:spcPts val="0"/>
              </a:spcAft>
              <a:buNone/>
            </a:pPr>
            <a:r>
              <a:rPr lang="en-US" sz="2800" b="1" i="0" u="none" strike="noStrike" cap="none" dirty="0">
                <a:latin typeface="Segoe UI Semibold" panose="020B0702040204020203" pitchFamily="34" charset="0"/>
                <a:ea typeface="Lato"/>
                <a:cs typeface="Segoe UI Semibold" panose="020B0702040204020203" pitchFamily="34" charset="0"/>
                <a:sym typeface="Lato"/>
              </a:rPr>
              <a:t>Computational Cost</a:t>
            </a:r>
            <a:endParaRPr sz="2800" dirty="0">
              <a:latin typeface="Segoe UI Semibold" panose="020B0702040204020203" pitchFamily="34" charset="0"/>
              <a:cs typeface="Segoe UI Semibold" panose="020B0702040204020203" pitchFamily="34" charset="0"/>
            </a:endParaRPr>
          </a:p>
        </p:txBody>
      </p:sp>
      <p:sp>
        <p:nvSpPr>
          <p:cNvPr id="5" name="Google Shape;122;p16">
            <a:extLst>
              <a:ext uri="{FF2B5EF4-FFF2-40B4-BE49-F238E27FC236}">
                <a16:creationId xmlns:a16="http://schemas.microsoft.com/office/drawing/2014/main" id="{52A97C14-451E-7EE5-EE82-B4C769E9CACF}"/>
              </a:ext>
            </a:extLst>
          </p:cNvPr>
          <p:cNvSpPr txBox="1"/>
          <p:nvPr/>
        </p:nvSpPr>
        <p:spPr>
          <a:xfrm>
            <a:off x="7119935" y="5654940"/>
            <a:ext cx="2901999" cy="2308324"/>
          </a:xfrm>
          <a:prstGeom prst="rect">
            <a:avLst/>
          </a:prstGeom>
          <a:noFill/>
          <a:ln>
            <a:noFill/>
          </a:ln>
        </p:spPr>
        <p:txBody>
          <a:bodyPr spcFirstLastPara="1" wrap="square" lIns="0" tIns="0" rIns="0" bIns="0" anchor="t" anchorCtr="0">
            <a:spAutoFit/>
          </a:bodyPr>
          <a:lstStyle/>
          <a:p>
            <a:pPr marL="0" marR="0" lvl="0" indent="0" algn="ctr" rtl="0">
              <a:lnSpc>
                <a:spcPct val="150000"/>
              </a:lnSpc>
              <a:spcBef>
                <a:spcPts val="0"/>
              </a:spcBef>
              <a:spcAft>
                <a:spcPts val="0"/>
              </a:spcAft>
              <a:buNone/>
            </a:pPr>
            <a:r>
              <a:rPr lang="en-US" sz="2000" b="0" i="0" u="none" strike="noStrike" cap="none" dirty="0">
                <a:solidFill>
                  <a:schemeClr val="bg1"/>
                </a:solidFill>
                <a:latin typeface="Segoe UI Semibold" panose="020B0702040204020203" pitchFamily="34" charset="0"/>
                <a:ea typeface="Lato"/>
                <a:cs typeface="Segoe UI Semibold" panose="020B0702040204020203" pitchFamily="34" charset="0"/>
                <a:sym typeface="Lato"/>
              </a:rPr>
              <a:t>Utilized High-Resolution (256x256) processing to capture pneumonia textures, increasing GPU memory overhead.</a:t>
            </a:r>
            <a:endParaRPr sz="2000" dirty="0">
              <a:solidFill>
                <a:schemeClr val="bg1"/>
              </a:solidFill>
              <a:latin typeface="Segoe UI Semibold" panose="020B0702040204020203" pitchFamily="34" charset="0"/>
              <a:cs typeface="Segoe UI Semibold" panose="020B0702040204020203" pitchFamily="34" charset="0"/>
            </a:endParaRPr>
          </a:p>
        </p:txBody>
      </p:sp>
      <p:pic>
        <p:nvPicPr>
          <p:cNvPr id="6" name="Google Shape;126;p16" descr="image.png">
            <a:extLst>
              <a:ext uri="{FF2B5EF4-FFF2-40B4-BE49-F238E27FC236}">
                <a16:creationId xmlns:a16="http://schemas.microsoft.com/office/drawing/2014/main" id="{41252F6D-96BE-B612-3EF1-0423E9B79268}"/>
              </a:ext>
            </a:extLst>
          </p:cNvPr>
          <p:cNvPicPr preferRelativeResize="0"/>
          <p:nvPr/>
        </p:nvPicPr>
        <p:blipFill rotWithShape="1">
          <a:blip r:embed="rId9">
            <a:alphaModFix/>
            <a:biLevel thresh="50000"/>
          </a:blip>
          <a:srcRect/>
          <a:stretch/>
        </p:blipFill>
        <p:spPr>
          <a:xfrm>
            <a:off x="8366090" y="3900524"/>
            <a:ext cx="476250" cy="476250"/>
          </a:xfrm>
          <a:prstGeom prst="rect">
            <a:avLst/>
          </a:prstGeom>
          <a:noFill/>
          <a:ln>
            <a:noFill/>
          </a:ln>
        </p:spPr>
      </p:pic>
      <p:pic>
        <p:nvPicPr>
          <p:cNvPr id="118" name="Google Shape;118;p16" descr="image.png"/>
          <p:cNvPicPr preferRelativeResize="0"/>
          <p:nvPr/>
        </p:nvPicPr>
        <p:blipFill rotWithShape="1">
          <a:blip r:embed="rId10">
            <a:duotone>
              <a:prstClr val="black"/>
              <a:schemeClr val="accent1">
                <a:tint val="45000"/>
                <a:satMod val="400000"/>
              </a:schemeClr>
            </a:duotone>
            <a:alphaModFix amt="50000"/>
          </a:blip>
          <a:srcRect/>
          <a:stretch/>
        </p:blipFill>
        <p:spPr>
          <a:xfrm>
            <a:off x="12344400" y="3533774"/>
            <a:ext cx="4396588" cy="5114925"/>
          </a:xfrm>
          <a:prstGeom prst="rect">
            <a:avLst/>
          </a:prstGeom>
          <a:noFill/>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pic>
      <p:sp>
        <p:nvSpPr>
          <p:cNvPr id="123" name="Google Shape;123;p16"/>
          <p:cNvSpPr txBox="1"/>
          <p:nvPr/>
        </p:nvSpPr>
        <p:spPr>
          <a:xfrm>
            <a:off x="13064423" y="4686300"/>
            <a:ext cx="3047099" cy="430887"/>
          </a:xfrm>
          <a:prstGeom prst="rect">
            <a:avLst/>
          </a:prstGeom>
          <a:noFill/>
          <a:ln>
            <a:noFill/>
          </a:ln>
        </p:spPr>
        <p:txBody>
          <a:bodyPr spcFirstLastPara="1" wrap="square" lIns="0" tIns="0" rIns="0" bIns="0" anchor="t" anchorCtr="0">
            <a:spAutoFit/>
          </a:bodyPr>
          <a:lstStyle/>
          <a:p>
            <a:pPr marL="0" marR="0" lvl="0" indent="0" algn="ctr" rtl="0">
              <a:spcBef>
                <a:spcPts val="0"/>
              </a:spcBef>
              <a:spcAft>
                <a:spcPts val="0"/>
              </a:spcAft>
              <a:buNone/>
            </a:pPr>
            <a:r>
              <a:rPr lang="en-US" sz="2800" b="1" i="0" u="none" strike="noStrike" cap="none" dirty="0">
                <a:latin typeface="Segoe UI Semibold" panose="020B0702040204020203" pitchFamily="34" charset="0"/>
                <a:ea typeface="Lato"/>
                <a:cs typeface="Segoe UI Semibold" panose="020B0702040204020203" pitchFamily="34" charset="0"/>
                <a:sym typeface="Lato"/>
              </a:rPr>
              <a:t>VRAM Stability</a:t>
            </a:r>
            <a:endParaRPr sz="2800" dirty="0">
              <a:latin typeface="Segoe UI Semibold" panose="020B0702040204020203" pitchFamily="34" charset="0"/>
              <a:cs typeface="Segoe UI Semibold" panose="020B0702040204020203" pitchFamily="34" charset="0"/>
            </a:endParaRPr>
          </a:p>
        </p:txBody>
      </p:sp>
      <p:sp>
        <p:nvSpPr>
          <p:cNvPr id="124" name="Google Shape;124;p16"/>
          <p:cNvSpPr txBox="1"/>
          <p:nvPr/>
        </p:nvSpPr>
        <p:spPr>
          <a:xfrm>
            <a:off x="13253396" y="5667226"/>
            <a:ext cx="2901999" cy="2308324"/>
          </a:xfrm>
          <a:prstGeom prst="rect">
            <a:avLst/>
          </a:prstGeom>
          <a:noFill/>
          <a:ln>
            <a:noFill/>
          </a:ln>
        </p:spPr>
        <p:txBody>
          <a:bodyPr spcFirstLastPara="1" wrap="square" lIns="0" tIns="0" rIns="0" bIns="0" anchor="t" anchorCtr="0">
            <a:spAutoFit/>
          </a:bodyPr>
          <a:lstStyle/>
          <a:p>
            <a:pPr marL="0" marR="0" lvl="0" indent="0" algn="ctr" rtl="0">
              <a:lnSpc>
                <a:spcPct val="150000"/>
              </a:lnSpc>
              <a:spcBef>
                <a:spcPts val="0"/>
              </a:spcBef>
              <a:spcAft>
                <a:spcPts val="0"/>
              </a:spcAft>
              <a:buNone/>
            </a:pPr>
            <a:r>
              <a:rPr lang="en-US" sz="2000" b="0" i="0" u="none" strike="noStrike" cap="none" dirty="0">
                <a:solidFill>
                  <a:schemeClr val="bg1"/>
                </a:solidFill>
                <a:latin typeface="Segoe UI Semibold" panose="020B0702040204020203" pitchFamily="34" charset="0"/>
                <a:ea typeface="Lato"/>
                <a:cs typeface="Segoe UI Semibold" panose="020B0702040204020203" pitchFamily="34" charset="0"/>
                <a:sym typeface="Lato"/>
              </a:rPr>
              <a:t>Batch size was reduced to 16 to maintain cluster stability on the 11GB VRAM hardware during full-dataset runs.</a:t>
            </a:r>
            <a:endParaRPr sz="2000" dirty="0">
              <a:solidFill>
                <a:schemeClr val="bg1"/>
              </a:solidFill>
              <a:latin typeface="Segoe UI Semibold" panose="020B0702040204020203" pitchFamily="34" charset="0"/>
              <a:cs typeface="Segoe UI Semibold" panose="020B0702040204020203" pitchFamily="34" charset="0"/>
            </a:endParaRPr>
          </a:p>
        </p:txBody>
      </p:sp>
      <p:pic>
        <p:nvPicPr>
          <p:cNvPr id="127" name="Google Shape;127;p16" descr="image.png"/>
          <p:cNvPicPr preferRelativeResize="0"/>
          <p:nvPr/>
        </p:nvPicPr>
        <p:blipFill rotWithShape="1">
          <a:blip r:embed="rId11">
            <a:alphaModFix/>
            <a:biLevel thresh="50000"/>
          </a:blip>
          <a:srcRect/>
          <a:stretch/>
        </p:blipFill>
        <p:spPr>
          <a:xfrm>
            <a:off x="14321198" y="3876675"/>
            <a:ext cx="533400" cy="476250"/>
          </a:xfrm>
          <a:prstGeom prst="rect">
            <a:avLst/>
          </a:prstGeom>
          <a:noFill/>
          <a:ln>
            <a:noFill/>
          </a:ln>
        </p:spPr>
      </p:pic>
    </p:spTree>
    <p:extLst>
      <p:ext uri="{BB962C8B-B14F-4D97-AF65-F5344CB8AC3E}">
        <p14:creationId xmlns:p14="http://schemas.microsoft.com/office/powerpoint/2010/main" val="3062416984"/>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7D9FE3B-DB00-5331-6BAE-BD6897B6896F}"/>
            </a:ext>
          </a:extLst>
        </p:cNvPr>
        <p:cNvGrpSpPr/>
        <p:nvPr/>
      </p:nvGrpSpPr>
      <p:grpSpPr>
        <a:xfrm>
          <a:off x="0" y="0"/>
          <a:ext cx="0" cy="0"/>
          <a:chOff x="0" y="0"/>
          <a:chExt cx="0" cy="0"/>
        </a:xfrm>
      </p:grpSpPr>
      <p:sp>
        <p:nvSpPr>
          <p:cNvPr id="2" name="Freeform 2">
            <a:extLst>
              <a:ext uri="{FF2B5EF4-FFF2-40B4-BE49-F238E27FC236}">
                <a16:creationId xmlns:a16="http://schemas.microsoft.com/office/drawing/2014/main" id="{C5456435-12CC-F7AD-A686-A9220C392C3F}"/>
              </a:ext>
            </a:extLst>
          </p:cNvPr>
          <p:cNvSpPr/>
          <p:nvPr/>
        </p:nvSpPr>
        <p:spPr>
          <a:xfrm>
            <a:off x="0" y="-16329"/>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3"/>
            <a:stretch>
              <a:fillRect t="-9222" b="-9222"/>
            </a:stretch>
          </a:blipFill>
        </p:spPr>
        <p:txBody>
          <a:bodyPr/>
          <a:lstStyle/>
          <a:p>
            <a:endParaRPr lang="en-GB" sz="4400" dirty="0">
              <a:solidFill>
                <a:schemeClr val="bg1"/>
              </a:solidFill>
              <a:latin typeface="Comic Sans MS" panose="030F0702030302020204" pitchFamily="66" charset="0"/>
            </a:endParaRPr>
          </a:p>
        </p:txBody>
      </p:sp>
      <p:pic>
        <p:nvPicPr>
          <p:cNvPr id="18" name="Picture 17">
            <a:extLst>
              <a:ext uri="{FF2B5EF4-FFF2-40B4-BE49-F238E27FC236}">
                <a16:creationId xmlns:a16="http://schemas.microsoft.com/office/drawing/2014/main" id="{CB7C0A2D-0252-0C19-7EF9-2F83A832F005}"/>
              </a:ext>
            </a:extLst>
          </p:cNvPr>
          <p:cNvPicPr>
            <a:picLocks noChangeAspect="1"/>
          </p:cNvPicPr>
          <p:nvPr/>
        </p:nvPicPr>
        <p:blipFill rotWithShape="1">
          <a:blip r:embed="rId4"/>
          <a:srcRect l="19756" t="18691" r="19454" b="41655"/>
          <a:stretch/>
        </p:blipFill>
        <p:spPr>
          <a:xfrm>
            <a:off x="16316104" y="381000"/>
            <a:ext cx="1812319" cy="760280"/>
          </a:xfrm>
          <a:prstGeom prst="roundRect">
            <a:avLst>
              <a:gd name="adj" fmla="val 8594"/>
            </a:avLst>
          </a:prstGeom>
          <a:solidFill>
            <a:srgbClr val="FFFFFF">
              <a:shade val="85000"/>
            </a:srgbClr>
          </a:solidFill>
          <a:ln>
            <a:noFill/>
          </a:ln>
          <a:effectLst>
            <a:reflection blurRad="12700" stA="38000" endPos="28000" dist="5000" dir="5400000" sy="-100000" algn="bl" rotWithShape="0"/>
          </a:effectLst>
        </p:spPr>
      </p:pic>
      <p:cxnSp>
        <p:nvCxnSpPr>
          <p:cNvPr id="21" name="Straight Connector 20">
            <a:extLst>
              <a:ext uri="{FF2B5EF4-FFF2-40B4-BE49-F238E27FC236}">
                <a16:creationId xmlns:a16="http://schemas.microsoft.com/office/drawing/2014/main" id="{FBF0E7A2-09B4-F762-4873-9C847715F795}"/>
              </a:ext>
            </a:extLst>
          </p:cNvPr>
          <p:cNvCxnSpPr>
            <a:cxnSpLocks/>
          </p:cNvCxnSpPr>
          <p:nvPr/>
        </p:nvCxnSpPr>
        <p:spPr>
          <a:xfrm flipV="1">
            <a:off x="1600200" y="1638300"/>
            <a:ext cx="14173200" cy="76200"/>
          </a:xfrm>
          <a:prstGeom prst="line">
            <a:avLst/>
          </a:prstGeom>
        </p:spPr>
        <p:style>
          <a:lnRef idx="3">
            <a:schemeClr val="dk1"/>
          </a:lnRef>
          <a:fillRef idx="0">
            <a:schemeClr val="dk1"/>
          </a:fillRef>
          <a:effectRef idx="2">
            <a:schemeClr val="dk1"/>
          </a:effectRef>
          <a:fontRef idx="minor">
            <a:schemeClr val="tx1"/>
          </a:fontRef>
        </p:style>
      </p:cxnSp>
      <p:sp>
        <p:nvSpPr>
          <p:cNvPr id="23" name="TextBox 22">
            <a:extLst>
              <a:ext uri="{FF2B5EF4-FFF2-40B4-BE49-F238E27FC236}">
                <a16:creationId xmlns:a16="http://schemas.microsoft.com/office/drawing/2014/main" id="{F4324923-3423-345A-152F-BEBA0E1BE343}"/>
              </a:ext>
            </a:extLst>
          </p:cNvPr>
          <p:cNvSpPr txBox="1"/>
          <p:nvPr/>
        </p:nvSpPr>
        <p:spPr>
          <a:xfrm>
            <a:off x="1572412" y="794703"/>
            <a:ext cx="12067388" cy="707886"/>
          </a:xfrm>
          <a:prstGeom prst="rect">
            <a:avLst/>
          </a:prstGeom>
          <a:noFill/>
        </p:spPr>
        <p:txBody>
          <a:bodyPr wrap="square" rtlCol="0">
            <a:spAutoFit/>
          </a:bodyPr>
          <a:lstStyle/>
          <a:p>
            <a:pPr lvl="0"/>
            <a:r>
              <a:rPr lang="en-GB" sz="4000" b="1" dirty="0">
                <a:solidFill>
                  <a:srgbClr val="F0F6FC"/>
                </a:solidFill>
                <a:latin typeface="Inter"/>
                <a:ea typeface="Inter"/>
                <a:cs typeface="Inter"/>
                <a:sym typeface="Inter"/>
              </a:rPr>
              <a:t>Implementation: Bridging Industry and Medicine</a:t>
            </a:r>
            <a:endParaRPr lang="en-GB" sz="4000" dirty="0"/>
          </a:p>
        </p:txBody>
      </p:sp>
      <p:pic>
        <p:nvPicPr>
          <p:cNvPr id="94" name="Google Shape;94;p14" descr="image.png">
            <a:extLst>
              <a:ext uri="{FF2B5EF4-FFF2-40B4-BE49-F238E27FC236}">
                <a16:creationId xmlns:a16="http://schemas.microsoft.com/office/drawing/2014/main" id="{52501DF7-AF09-3E47-A1D5-B2C63BFE7BE4}"/>
              </a:ext>
            </a:extLst>
          </p:cNvPr>
          <p:cNvPicPr preferRelativeResize="0"/>
          <p:nvPr/>
        </p:nvPicPr>
        <p:blipFill rotWithShape="1">
          <a:blip r:embed="rId5">
            <a:alphaModFix/>
          </a:blip>
          <a:srcRect/>
          <a:stretch/>
        </p:blipFill>
        <p:spPr>
          <a:xfrm>
            <a:off x="1232534" y="2631050"/>
            <a:ext cx="7530465" cy="5941450"/>
          </a:xfrm>
          <a:prstGeom prst="rect">
            <a:avLst/>
          </a:prstGeom>
          <a:noFill/>
          <a:ln>
            <a:noFill/>
          </a:ln>
        </p:spPr>
      </p:pic>
      <p:sp>
        <p:nvSpPr>
          <p:cNvPr id="6" name="TextBox 5">
            <a:extLst>
              <a:ext uri="{FF2B5EF4-FFF2-40B4-BE49-F238E27FC236}">
                <a16:creationId xmlns:a16="http://schemas.microsoft.com/office/drawing/2014/main" id="{405E717A-F43C-F25A-7BDD-D5DB9085CCE1}"/>
              </a:ext>
            </a:extLst>
          </p:cNvPr>
          <p:cNvSpPr txBox="1"/>
          <p:nvPr/>
        </p:nvSpPr>
        <p:spPr>
          <a:xfrm>
            <a:off x="1759266" y="3097018"/>
            <a:ext cx="6546534" cy="4455515"/>
          </a:xfrm>
          <a:prstGeom prst="rect">
            <a:avLst/>
          </a:prstGeom>
          <a:noFill/>
        </p:spPr>
        <p:txBody>
          <a:bodyPr wrap="square" rtlCol="0">
            <a:spAutoFit/>
          </a:bodyPr>
          <a:lstStyle/>
          <a:p>
            <a:pPr lvl="0">
              <a:lnSpc>
                <a:spcPct val="150000"/>
              </a:lnSpc>
            </a:pPr>
            <a:r>
              <a:rPr lang="en-GB" sz="2400" i="1" dirty="0">
                <a:solidFill>
                  <a:schemeClr val="bg1"/>
                </a:solidFill>
                <a:latin typeface="Segoe UI Semibold" panose="020B0702040204020203" pitchFamily="34" charset="0"/>
                <a:ea typeface="Lato"/>
                <a:cs typeface="Segoe UI Semibold" panose="020B0702040204020203" pitchFamily="34" charset="0"/>
                <a:sym typeface="Lato"/>
              </a:rPr>
              <a:t>The </a:t>
            </a:r>
            <a:r>
              <a:rPr lang="en-GB" sz="2400" i="1" dirty="0" err="1">
                <a:solidFill>
                  <a:schemeClr val="bg1"/>
                </a:solidFill>
                <a:latin typeface="Segoe UI Semibold" panose="020B0702040204020203" pitchFamily="34" charset="0"/>
                <a:ea typeface="Lato"/>
                <a:cs typeface="Segoe UI Semibold" panose="020B0702040204020203" pitchFamily="34" charset="0"/>
                <a:sym typeface="Lato"/>
              </a:rPr>
              <a:t>GroundTruth</a:t>
            </a:r>
            <a:r>
              <a:rPr lang="en-GB" sz="2400" i="1" dirty="0">
                <a:solidFill>
                  <a:schemeClr val="bg1"/>
                </a:solidFill>
                <a:latin typeface="Segoe UI Semibold" panose="020B0702040204020203" pitchFamily="34" charset="0"/>
                <a:ea typeface="Lato"/>
                <a:cs typeface="Segoe UI Semibold" panose="020B0702040204020203" pitchFamily="34" charset="0"/>
                <a:sym typeface="Lato"/>
              </a:rPr>
              <a:t> Problem : </a:t>
            </a:r>
            <a:r>
              <a:rPr lang="en-GB" sz="2400" dirty="0" err="1">
                <a:solidFill>
                  <a:schemeClr val="bg1"/>
                </a:solidFill>
                <a:latin typeface="Segoe UI Semibold" panose="020B0702040204020203" pitchFamily="34" charset="0"/>
                <a:ea typeface="Lato"/>
                <a:cs typeface="Segoe UI Semibold" panose="020B0702040204020203" pitchFamily="34" charset="0"/>
                <a:sym typeface="Lato"/>
              </a:rPr>
              <a:t>MVTec</a:t>
            </a:r>
            <a:r>
              <a:rPr lang="en-GB" sz="2400" dirty="0">
                <a:solidFill>
                  <a:schemeClr val="bg1"/>
                </a:solidFill>
                <a:latin typeface="Segoe UI Semibold" panose="020B0702040204020203" pitchFamily="34" charset="0"/>
                <a:ea typeface="Lato"/>
                <a:cs typeface="Segoe UI Semibold" panose="020B0702040204020203" pitchFamily="34" charset="0"/>
                <a:sym typeface="Lato"/>
              </a:rPr>
              <a:t> typically expects pixel-level masks for P-AUROC. Our medical dataset provided only image-level labels.</a:t>
            </a:r>
          </a:p>
          <a:p>
            <a:pPr lvl="0">
              <a:lnSpc>
                <a:spcPct val="150000"/>
              </a:lnSpc>
            </a:pPr>
            <a:endParaRPr lang="en-GB" sz="2400" dirty="0">
              <a:solidFill>
                <a:schemeClr val="bg1"/>
              </a:solidFill>
              <a:latin typeface="Segoe UI Semibold" panose="020B0702040204020203" pitchFamily="34" charset="0"/>
              <a:ea typeface="Lato"/>
              <a:cs typeface="Segoe UI Semibold" panose="020B0702040204020203" pitchFamily="34" charset="0"/>
              <a:sym typeface="Lato"/>
            </a:endParaRPr>
          </a:p>
          <a:p>
            <a:pPr lvl="0">
              <a:lnSpc>
                <a:spcPct val="150000"/>
              </a:lnSpc>
            </a:pPr>
            <a:r>
              <a:rPr lang="en-GB" sz="2400" i="1" dirty="0">
                <a:solidFill>
                  <a:schemeClr val="bg1"/>
                </a:solidFill>
                <a:latin typeface="Segoe UI Semibold" panose="020B0702040204020203" pitchFamily="34" charset="0"/>
                <a:ea typeface="Lato"/>
                <a:cs typeface="Segoe UI Semibold" panose="020B0702040204020203" pitchFamily="34" charset="0"/>
                <a:sym typeface="Lato"/>
              </a:rPr>
              <a:t>The Solution : </a:t>
            </a:r>
            <a:r>
              <a:rPr lang="en-US" sz="2400" dirty="0">
                <a:solidFill>
                  <a:schemeClr val="bg1"/>
                </a:solidFill>
                <a:latin typeface="Segoe UI Semibold" panose="020B0702040204020203" pitchFamily="34" charset="0"/>
                <a:ea typeface="Lato"/>
                <a:cs typeface="Segoe UI Semibold" panose="020B0702040204020203" pitchFamily="34" charset="0"/>
                <a:sym typeface="Lato"/>
              </a:rPr>
              <a:t>Dummy Masks" (Zero-Tensors). This allowed training scripts to focus purely on </a:t>
            </a:r>
            <a:r>
              <a:rPr lang="en-US" sz="2400" b="1" dirty="0">
                <a:solidFill>
                  <a:schemeClr val="bg1"/>
                </a:solidFill>
                <a:latin typeface="Segoe UI Semibold" panose="020B0702040204020203" pitchFamily="34" charset="0"/>
                <a:ea typeface="Lato"/>
                <a:cs typeface="Segoe UI Semibold" panose="020B0702040204020203" pitchFamily="34" charset="0"/>
                <a:sym typeface="Lato"/>
              </a:rPr>
              <a:t>Image-level AUROC</a:t>
            </a:r>
            <a:r>
              <a:rPr lang="en-US" sz="2400" dirty="0">
                <a:solidFill>
                  <a:schemeClr val="bg1"/>
                </a:solidFill>
                <a:latin typeface="Segoe UI Semibold" panose="020B0702040204020203" pitchFamily="34" charset="0"/>
                <a:ea typeface="Lato"/>
                <a:cs typeface="Segoe UI Semibold" panose="020B0702040204020203" pitchFamily="34" charset="0"/>
                <a:sym typeface="Lato"/>
              </a:rPr>
              <a:t> as the success metric</a:t>
            </a:r>
            <a:endParaRPr lang="en-GB" sz="2400" dirty="0">
              <a:solidFill>
                <a:schemeClr val="bg1"/>
              </a:solidFill>
              <a:latin typeface="Segoe UI Semibold" panose="020B0702040204020203" pitchFamily="34" charset="0"/>
              <a:cs typeface="Segoe UI Semibold" panose="020B0702040204020203" pitchFamily="34" charset="0"/>
            </a:endParaRPr>
          </a:p>
        </p:txBody>
      </p:sp>
      <p:pic>
        <p:nvPicPr>
          <p:cNvPr id="8" name="Picture 7" descr="A x-ray of a person's chest&#10;&#10;AI-generated content may be incorrect.">
            <a:extLst>
              <a:ext uri="{FF2B5EF4-FFF2-40B4-BE49-F238E27FC236}">
                <a16:creationId xmlns:a16="http://schemas.microsoft.com/office/drawing/2014/main" id="{92FC5774-3C5E-8568-C58A-BF8090487EBE}"/>
              </a:ext>
            </a:extLst>
          </p:cNvPr>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10591800" y="2629895"/>
            <a:ext cx="3375358" cy="2734467"/>
          </a:xfrm>
          <a:prstGeom prst="rect">
            <a:avLst/>
          </a:prstGeom>
        </p:spPr>
      </p:pic>
      <p:pic>
        <p:nvPicPr>
          <p:cNvPr id="10" name="Picture 9" descr="A x-ray of a person's chest&#10;&#10;AI-generated content may be incorrect.">
            <a:extLst>
              <a:ext uri="{FF2B5EF4-FFF2-40B4-BE49-F238E27FC236}">
                <a16:creationId xmlns:a16="http://schemas.microsoft.com/office/drawing/2014/main" id="{A346CBD8-75B8-823D-F9B7-D3A2E8B3998E}"/>
              </a:ext>
            </a:extLst>
          </p:cNvPr>
          <p:cNvPicPr>
            <a:picLocks noChangeAspect="1"/>
          </p:cNvPicPr>
          <p:nvPr/>
        </p:nvPicPr>
        <p:blipFill>
          <a:blip r:embed="rId7" cstate="print">
            <a:extLst>
              <a:ext uri="{28A0092B-C50C-407E-A947-70E740481C1C}">
                <a14:useLocalDpi xmlns:a14="http://schemas.microsoft.com/office/drawing/2010/main" val="0"/>
              </a:ext>
            </a:extLst>
          </a:blip>
          <a:stretch>
            <a:fillRect/>
          </a:stretch>
        </p:blipFill>
        <p:spPr>
          <a:xfrm>
            <a:off x="13967158" y="5818908"/>
            <a:ext cx="3375358" cy="2829791"/>
          </a:xfrm>
          <a:prstGeom prst="rect">
            <a:avLst/>
          </a:prstGeom>
        </p:spPr>
      </p:pic>
    </p:spTree>
    <p:extLst>
      <p:ext uri="{BB962C8B-B14F-4D97-AF65-F5344CB8AC3E}">
        <p14:creationId xmlns:p14="http://schemas.microsoft.com/office/powerpoint/2010/main" val="2517606810"/>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289333C-C2E9-9917-969A-A2B7650A9820}"/>
            </a:ext>
          </a:extLst>
        </p:cNvPr>
        <p:cNvGrpSpPr/>
        <p:nvPr/>
      </p:nvGrpSpPr>
      <p:grpSpPr>
        <a:xfrm>
          <a:off x="0" y="0"/>
          <a:ext cx="0" cy="0"/>
          <a:chOff x="0" y="0"/>
          <a:chExt cx="0" cy="0"/>
        </a:xfrm>
      </p:grpSpPr>
      <p:sp>
        <p:nvSpPr>
          <p:cNvPr id="2" name="Freeform 2">
            <a:extLst>
              <a:ext uri="{FF2B5EF4-FFF2-40B4-BE49-F238E27FC236}">
                <a16:creationId xmlns:a16="http://schemas.microsoft.com/office/drawing/2014/main" id="{46940565-2D42-2B54-C41B-7AB046180EBB}"/>
              </a:ext>
            </a:extLst>
          </p:cNvPr>
          <p:cNvSpPr/>
          <p:nvPr/>
        </p:nvSpPr>
        <p:spPr>
          <a:xfrm>
            <a:off x="0" y="-10026"/>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3"/>
            <a:stretch>
              <a:fillRect t="-9222" b="-9222"/>
            </a:stretch>
          </a:blipFill>
        </p:spPr>
        <p:txBody>
          <a:bodyPr/>
          <a:lstStyle/>
          <a:p>
            <a:endParaRPr lang="en-GB" sz="4400" dirty="0">
              <a:solidFill>
                <a:schemeClr val="bg1"/>
              </a:solidFill>
              <a:latin typeface="Comic Sans MS" panose="030F0702030302020204" pitchFamily="66" charset="0"/>
            </a:endParaRPr>
          </a:p>
        </p:txBody>
      </p:sp>
      <p:pic>
        <p:nvPicPr>
          <p:cNvPr id="18" name="Picture 17">
            <a:extLst>
              <a:ext uri="{FF2B5EF4-FFF2-40B4-BE49-F238E27FC236}">
                <a16:creationId xmlns:a16="http://schemas.microsoft.com/office/drawing/2014/main" id="{90D8EDDB-7185-D6C4-2C5D-0FD98673849E}"/>
              </a:ext>
            </a:extLst>
          </p:cNvPr>
          <p:cNvPicPr>
            <a:picLocks noChangeAspect="1"/>
          </p:cNvPicPr>
          <p:nvPr/>
        </p:nvPicPr>
        <p:blipFill rotWithShape="1">
          <a:blip r:embed="rId4"/>
          <a:srcRect l="19756" t="18691" r="19454" b="41655"/>
          <a:stretch/>
        </p:blipFill>
        <p:spPr>
          <a:xfrm>
            <a:off x="16316104" y="381000"/>
            <a:ext cx="1812319" cy="760280"/>
          </a:xfrm>
          <a:prstGeom prst="roundRect">
            <a:avLst>
              <a:gd name="adj" fmla="val 8594"/>
            </a:avLst>
          </a:prstGeom>
          <a:solidFill>
            <a:srgbClr val="FFFFFF">
              <a:shade val="85000"/>
            </a:srgbClr>
          </a:solidFill>
          <a:ln>
            <a:noFill/>
          </a:ln>
          <a:effectLst>
            <a:reflection blurRad="12700" stA="38000" endPos="28000" dist="5000" dir="5400000" sy="-100000" algn="bl" rotWithShape="0"/>
          </a:effectLst>
        </p:spPr>
      </p:pic>
      <p:cxnSp>
        <p:nvCxnSpPr>
          <p:cNvPr id="21" name="Straight Connector 20">
            <a:extLst>
              <a:ext uri="{FF2B5EF4-FFF2-40B4-BE49-F238E27FC236}">
                <a16:creationId xmlns:a16="http://schemas.microsoft.com/office/drawing/2014/main" id="{DDFDCD09-6672-E9A6-EF94-5526FFFCFA86}"/>
              </a:ext>
            </a:extLst>
          </p:cNvPr>
          <p:cNvCxnSpPr>
            <a:cxnSpLocks/>
          </p:cNvCxnSpPr>
          <p:nvPr/>
        </p:nvCxnSpPr>
        <p:spPr>
          <a:xfrm flipV="1">
            <a:off x="1600200" y="1638300"/>
            <a:ext cx="14173200" cy="76200"/>
          </a:xfrm>
          <a:prstGeom prst="line">
            <a:avLst/>
          </a:prstGeom>
        </p:spPr>
        <p:style>
          <a:lnRef idx="3">
            <a:schemeClr val="dk1"/>
          </a:lnRef>
          <a:fillRef idx="0">
            <a:schemeClr val="dk1"/>
          </a:fillRef>
          <a:effectRef idx="2">
            <a:schemeClr val="dk1"/>
          </a:effectRef>
          <a:fontRef idx="minor">
            <a:schemeClr val="tx1"/>
          </a:fontRef>
        </p:style>
      </p:cxnSp>
      <p:sp>
        <p:nvSpPr>
          <p:cNvPr id="23" name="TextBox 22">
            <a:extLst>
              <a:ext uri="{FF2B5EF4-FFF2-40B4-BE49-F238E27FC236}">
                <a16:creationId xmlns:a16="http://schemas.microsoft.com/office/drawing/2014/main" id="{CD6871AB-8E16-41E1-267C-B2662C63727E}"/>
              </a:ext>
            </a:extLst>
          </p:cNvPr>
          <p:cNvSpPr txBox="1"/>
          <p:nvPr/>
        </p:nvSpPr>
        <p:spPr>
          <a:xfrm>
            <a:off x="1572412" y="794703"/>
            <a:ext cx="12067388" cy="707886"/>
          </a:xfrm>
          <a:prstGeom prst="rect">
            <a:avLst/>
          </a:prstGeom>
          <a:noFill/>
        </p:spPr>
        <p:txBody>
          <a:bodyPr wrap="square" rtlCol="0">
            <a:spAutoFit/>
          </a:bodyPr>
          <a:lstStyle/>
          <a:p>
            <a:r>
              <a:rPr lang="de-DE" sz="4000" dirty="0">
                <a:solidFill>
                  <a:schemeClr val="bg1"/>
                </a:solidFill>
                <a:latin typeface="Segoe UI Semibold" panose="020B0702040204020203" pitchFamily="34" charset="0"/>
                <a:cs typeface="Segoe UI Semibold" panose="020B0702040204020203" pitchFamily="34" charset="0"/>
              </a:rPr>
              <a:t>Visual Insight : The Noise Gap</a:t>
            </a:r>
            <a:endParaRPr lang="en-GB" sz="4000" dirty="0">
              <a:solidFill>
                <a:schemeClr val="bg1"/>
              </a:solidFill>
              <a:latin typeface="Segoe UI Semibold" panose="020B0702040204020203" pitchFamily="34" charset="0"/>
              <a:cs typeface="Segoe UI Semibold" panose="020B0702040204020203" pitchFamily="34" charset="0"/>
            </a:endParaRPr>
          </a:p>
        </p:txBody>
      </p:sp>
      <p:pic>
        <p:nvPicPr>
          <p:cNvPr id="4" name="Picture 3" descr="A graph showing the difference between noise and noise&#10;&#10;AI-generated content may be incorrect.">
            <a:extLst>
              <a:ext uri="{FF2B5EF4-FFF2-40B4-BE49-F238E27FC236}">
                <a16:creationId xmlns:a16="http://schemas.microsoft.com/office/drawing/2014/main" id="{E71C24A9-0027-7A37-3388-31A65063DB78}"/>
              </a:ext>
            </a:extLst>
          </p:cNvPr>
          <p:cNvPicPr>
            <a:picLocks noChangeAspect="1"/>
          </p:cNvPicPr>
          <p:nvPr/>
        </p:nvPicPr>
        <p:blipFill>
          <a:blip r:embed="rId5"/>
          <a:srcRect t="5518"/>
          <a:stretch>
            <a:fillRect/>
          </a:stretch>
        </p:blipFill>
        <p:spPr>
          <a:xfrm>
            <a:off x="1346563" y="3472902"/>
            <a:ext cx="6863686" cy="4467950"/>
          </a:xfrm>
          <a:prstGeom prst="rect">
            <a:avLst/>
          </a:prstGeom>
        </p:spPr>
      </p:pic>
      <p:pic>
        <p:nvPicPr>
          <p:cNvPr id="6" name="Picture 5" descr="A graph showing different noise levels&#10;&#10;AI-generated content may be incorrect.">
            <a:extLst>
              <a:ext uri="{FF2B5EF4-FFF2-40B4-BE49-F238E27FC236}">
                <a16:creationId xmlns:a16="http://schemas.microsoft.com/office/drawing/2014/main" id="{AB57D619-85E3-0ADD-002F-201C8E6CEFD9}"/>
              </a:ext>
            </a:extLst>
          </p:cNvPr>
          <p:cNvPicPr>
            <a:picLocks noChangeAspect="1"/>
          </p:cNvPicPr>
          <p:nvPr/>
        </p:nvPicPr>
        <p:blipFill>
          <a:blip r:embed="rId6"/>
          <a:srcRect t="6176" b="-2471"/>
          <a:stretch>
            <a:fillRect/>
          </a:stretch>
        </p:blipFill>
        <p:spPr>
          <a:xfrm>
            <a:off x="9817281" y="3439505"/>
            <a:ext cx="6641919" cy="4613946"/>
          </a:xfrm>
          <a:prstGeom prst="rect">
            <a:avLst/>
          </a:prstGeom>
        </p:spPr>
      </p:pic>
      <mc:AlternateContent xmlns:mc="http://schemas.openxmlformats.org/markup-compatibility/2006">
        <mc:Choice xmlns:a14="http://schemas.microsoft.com/office/drawing/2010/main" Requires="a14">
          <p:sp>
            <p:nvSpPr>
              <p:cNvPr id="8" name="TextBox 7">
                <a:extLst>
                  <a:ext uri="{FF2B5EF4-FFF2-40B4-BE49-F238E27FC236}">
                    <a16:creationId xmlns:a16="http://schemas.microsoft.com/office/drawing/2014/main" id="{8045CE5D-6BE9-285D-77A8-E721DC4520D9}"/>
                  </a:ext>
                </a:extLst>
              </p:cNvPr>
              <p:cNvSpPr txBox="1"/>
              <p:nvPr/>
            </p:nvSpPr>
            <p:spPr>
              <a:xfrm>
                <a:off x="2057400" y="8306018"/>
                <a:ext cx="5181600" cy="1384995"/>
              </a:xfrm>
              <a:prstGeom prst="rect">
                <a:avLst/>
              </a:prstGeom>
              <a:noFill/>
            </p:spPr>
            <p:txBody>
              <a:bodyPr wrap="square" rtlCol="0">
                <a:spAutoFit/>
              </a:bodyPr>
              <a:lstStyle/>
              <a:p>
                <a:pPr algn="ctr"/>
                <a:r>
                  <a:rPr lang="de-DE" sz="2800" dirty="0" err="1">
                    <a:solidFill>
                      <a:schemeClr val="bg1"/>
                    </a:solidFill>
                    <a:latin typeface="Segoe UI Semibold" panose="020B0702040204020203" pitchFamily="34" charset="0"/>
                    <a:cs typeface="Segoe UI Semibold" panose="020B0702040204020203" pitchFamily="34" charset="0"/>
                  </a:rPr>
                  <a:t>Trained</a:t>
                </a:r>
                <a:r>
                  <a:rPr lang="de-DE" sz="2800" dirty="0">
                    <a:solidFill>
                      <a:schemeClr val="bg1"/>
                    </a:solidFill>
                    <a:latin typeface="Segoe UI Semibold" panose="020B0702040204020203" pitchFamily="34" charset="0"/>
                    <a:cs typeface="Segoe UI Semibold" panose="020B0702040204020203" pitchFamily="34" charset="0"/>
                  </a:rPr>
                  <a:t> on </a:t>
                </a:r>
                <a:r>
                  <a:rPr lang="de-DE" sz="2800" dirty="0" err="1">
                    <a:solidFill>
                      <a:schemeClr val="bg1"/>
                    </a:solidFill>
                    <a:latin typeface="Segoe UI Semibold" panose="020B0702040204020203" pitchFamily="34" charset="0"/>
                    <a:cs typeface="Segoe UI Semibold" panose="020B0702040204020203" pitchFamily="34" charset="0"/>
                  </a:rPr>
                  <a:t>only</a:t>
                </a:r>
                <a:r>
                  <a:rPr lang="de-DE" sz="2800" dirty="0">
                    <a:solidFill>
                      <a:schemeClr val="bg1"/>
                    </a:solidFill>
                    <a:latin typeface="Segoe UI Semibold" panose="020B0702040204020203" pitchFamily="34" charset="0"/>
                    <a:cs typeface="Segoe UI Semibold" panose="020B0702040204020203" pitchFamily="34" charset="0"/>
                  </a:rPr>
                  <a:t> 100 normal </a:t>
                </a:r>
                <a:r>
                  <a:rPr lang="de-DE" sz="2800" dirty="0" err="1">
                    <a:solidFill>
                      <a:schemeClr val="bg1"/>
                    </a:solidFill>
                    <a:latin typeface="Segoe UI Semibold" panose="020B0702040204020203" pitchFamily="34" charset="0"/>
                    <a:cs typeface="Segoe UI Semibold" panose="020B0702040204020203" pitchFamily="34" charset="0"/>
                  </a:rPr>
                  <a:t>images</a:t>
                </a:r>
                <a:r>
                  <a:rPr lang="de-DE" sz="2800" dirty="0">
                    <a:solidFill>
                      <a:schemeClr val="bg1"/>
                    </a:solidFill>
                    <a:latin typeface="Segoe UI Semibold" panose="020B0702040204020203" pitchFamily="34" charset="0"/>
                    <a:cs typeface="Segoe UI Semibold" panose="020B0702040204020203" pitchFamily="34" charset="0"/>
                  </a:rPr>
                  <a:t> </a:t>
                </a:r>
                <a:r>
                  <a:rPr lang="de-DE" sz="2800" dirty="0" err="1">
                    <a:solidFill>
                      <a:schemeClr val="bg1"/>
                    </a:solidFill>
                    <a:latin typeface="Segoe UI Semibold" panose="020B0702040204020203" pitchFamily="34" charset="0"/>
                    <a:cs typeface="Segoe UI Semibold" panose="020B0702040204020203" pitchFamily="34" charset="0"/>
                  </a:rPr>
                  <a:t>with</a:t>
                </a:r>
                <a:r>
                  <a:rPr lang="de-DE" sz="2800" dirty="0">
                    <a:solidFill>
                      <a:schemeClr val="bg1"/>
                    </a:solidFill>
                    <a:latin typeface="Segoe UI Semibold" panose="020B0702040204020203" pitchFamily="34" charset="0"/>
                    <a:cs typeface="Segoe UI Semibold" panose="020B0702040204020203" pitchFamily="34" charset="0"/>
                  </a:rPr>
                  <a:t> </a:t>
                </a:r>
                <a14:m>
                  <m:oMath xmlns:m="http://schemas.openxmlformats.org/officeDocument/2006/math">
                    <m:r>
                      <a:rPr lang="de-DE" sz="2800" i="1" smtClean="0">
                        <a:solidFill>
                          <a:schemeClr val="bg1"/>
                        </a:solidFill>
                        <a:latin typeface="Cambria Math" panose="02040503050406030204" pitchFamily="18" charset="0"/>
                        <a:ea typeface="Cambria Math" panose="02040503050406030204" pitchFamily="18" charset="0"/>
                        <a:cs typeface="Segoe UI Semibold" panose="020B0702040204020203" pitchFamily="34" charset="0"/>
                      </a:rPr>
                      <m:t>𝜎</m:t>
                    </m:r>
                  </m:oMath>
                </a14:m>
                <a:r>
                  <a:rPr lang="de-DE" sz="2800" dirty="0">
                    <a:solidFill>
                      <a:schemeClr val="bg1"/>
                    </a:solidFill>
                    <a:latin typeface="Segoe UI Semibold" panose="020B0702040204020203" pitchFamily="34" charset="0"/>
                    <a:cs typeface="Segoe UI Semibold" panose="020B0702040204020203" pitchFamily="34" charset="0"/>
                  </a:rPr>
                  <a:t> = 0.005 and 0.015</a:t>
                </a:r>
                <a:endParaRPr lang="en-GB" sz="2800" dirty="0">
                  <a:solidFill>
                    <a:schemeClr val="bg1"/>
                  </a:solidFill>
                  <a:latin typeface="Segoe UI Semibold" panose="020B0702040204020203" pitchFamily="34" charset="0"/>
                  <a:cs typeface="Segoe UI Semibold" panose="020B0702040204020203" pitchFamily="34" charset="0"/>
                </a:endParaRPr>
              </a:p>
            </p:txBody>
          </p:sp>
        </mc:Choice>
        <mc:Fallback>
          <p:sp>
            <p:nvSpPr>
              <p:cNvPr id="8" name="TextBox 7">
                <a:extLst>
                  <a:ext uri="{FF2B5EF4-FFF2-40B4-BE49-F238E27FC236}">
                    <a16:creationId xmlns:a16="http://schemas.microsoft.com/office/drawing/2014/main" id="{8045CE5D-6BE9-285D-77A8-E721DC4520D9}"/>
                  </a:ext>
                </a:extLst>
              </p:cNvPr>
              <p:cNvSpPr txBox="1">
                <a:spLocks noRot="1" noChangeAspect="1" noMove="1" noResize="1" noEditPoints="1" noAdjustHandles="1" noChangeArrowheads="1" noChangeShapeType="1" noTextEdit="1"/>
              </p:cNvSpPr>
              <p:nvPr/>
            </p:nvSpPr>
            <p:spPr>
              <a:xfrm>
                <a:off x="2057400" y="8306018"/>
                <a:ext cx="5181600" cy="1384995"/>
              </a:xfrm>
              <a:prstGeom prst="rect">
                <a:avLst/>
              </a:prstGeom>
              <a:blipFill>
                <a:blip r:embed="rId7"/>
                <a:stretch>
                  <a:fillRect t="-4846" b="-11454"/>
                </a:stretch>
              </a:blipFill>
            </p:spPr>
            <p:txBody>
              <a:bodyPr/>
              <a:lstStyle/>
              <a:p>
                <a:r>
                  <a:rPr lang="en-GB">
                    <a:noFill/>
                  </a:rPr>
                  <a:t> </a:t>
                </a:r>
              </a:p>
            </p:txBody>
          </p:sp>
        </mc:Fallback>
      </mc:AlternateContent>
      <mc:AlternateContent xmlns:mc="http://schemas.openxmlformats.org/markup-compatibility/2006">
        <mc:Choice xmlns:a14="http://schemas.microsoft.com/office/drawing/2010/main" Requires="a14">
          <p:sp>
            <p:nvSpPr>
              <p:cNvPr id="9" name="TextBox 8">
                <a:extLst>
                  <a:ext uri="{FF2B5EF4-FFF2-40B4-BE49-F238E27FC236}">
                    <a16:creationId xmlns:a16="http://schemas.microsoft.com/office/drawing/2014/main" id="{86D9FDB7-5223-EC78-B035-112D6D049804}"/>
                  </a:ext>
                </a:extLst>
              </p:cNvPr>
              <p:cNvSpPr txBox="1"/>
              <p:nvPr/>
            </p:nvSpPr>
            <p:spPr>
              <a:xfrm>
                <a:off x="10896600" y="8020555"/>
                <a:ext cx="4677228" cy="1661993"/>
              </a:xfrm>
              <a:prstGeom prst="rect">
                <a:avLst/>
              </a:prstGeom>
              <a:noFill/>
            </p:spPr>
            <p:txBody>
              <a:bodyPr wrap="square" rtlCol="0">
                <a:spAutoFit/>
              </a:bodyPr>
              <a:lstStyle/>
              <a:p>
                <a:pPr algn="ctr"/>
                <a:r>
                  <a:rPr lang="de-DE" sz="2800" dirty="0">
                    <a:solidFill>
                      <a:schemeClr val="bg1"/>
                    </a:solidFill>
                    <a:latin typeface="Segoe UI Semibold" panose="020B0702040204020203" pitchFamily="34" charset="0"/>
                    <a:cs typeface="Segoe UI Semibold" panose="020B0702040204020203" pitchFamily="34" charset="0"/>
                  </a:rPr>
                  <a:t>Trained on </a:t>
                </a:r>
                <a:r>
                  <a:rPr lang="de-DE" sz="2800" dirty="0" err="1">
                    <a:solidFill>
                      <a:schemeClr val="bg1"/>
                    </a:solidFill>
                    <a:latin typeface="Segoe UI Semibold" panose="020B0702040204020203" pitchFamily="34" charset="0"/>
                    <a:cs typeface="Segoe UI Semibold" panose="020B0702040204020203" pitchFamily="34" charset="0"/>
                  </a:rPr>
                  <a:t>full</a:t>
                </a:r>
                <a:r>
                  <a:rPr lang="de-DE" sz="2800" dirty="0">
                    <a:solidFill>
                      <a:schemeClr val="bg1"/>
                    </a:solidFill>
                    <a:latin typeface="Segoe UI Semibold" panose="020B0702040204020203" pitchFamily="34" charset="0"/>
                    <a:cs typeface="Segoe UI Semibold" panose="020B0702040204020203" pitchFamily="34" charset="0"/>
                  </a:rPr>
                  <a:t> </a:t>
                </a:r>
                <a:r>
                  <a:rPr lang="de-DE" sz="2800" dirty="0" err="1">
                    <a:solidFill>
                      <a:schemeClr val="bg1"/>
                    </a:solidFill>
                    <a:latin typeface="Segoe UI Semibold" panose="020B0702040204020203" pitchFamily="34" charset="0"/>
                    <a:cs typeface="Segoe UI Semibold" panose="020B0702040204020203" pitchFamily="34" charset="0"/>
                  </a:rPr>
                  <a:t>datset</a:t>
                </a:r>
                <a:r>
                  <a:rPr lang="de-DE" sz="2800" dirty="0">
                    <a:solidFill>
                      <a:schemeClr val="bg1"/>
                    </a:solidFill>
                    <a:latin typeface="Segoe UI Semibold" panose="020B0702040204020203" pitchFamily="34" charset="0"/>
                    <a:cs typeface="Segoe UI Semibold" panose="020B0702040204020203" pitchFamily="34" charset="0"/>
                  </a:rPr>
                  <a:t> </a:t>
                </a:r>
                <a:r>
                  <a:rPr lang="de-DE" sz="2800" dirty="0" err="1">
                    <a:solidFill>
                      <a:schemeClr val="bg1"/>
                    </a:solidFill>
                    <a:latin typeface="Segoe UI Semibold" panose="020B0702040204020203" pitchFamily="34" charset="0"/>
                    <a:cs typeface="Segoe UI Semibold" panose="020B0702040204020203" pitchFamily="34" charset="0"/>
                  </a:rPr>
                  <a:t>around</a:t>
                </a:r>
                <a:r>
                  <a:rPr lang="de-DE" sz="2800" dirty="0">
                    <a:solidFill>
                      <a:schemeClr val="bg1"/>
                    </a:solidFill>
                    <a:latin typeface="Segoe UI Semibold" panose="020B0702040204020203" pitchFamily="34" charset="0"/>
                    <a:cs typeface="Segoe UI Semibold" panose="020B0702040204020203" pitchFamily="34" charset="0"/>
                  </a:rPr>
                  <a:t> 1340 normal </a:t>
                </a:r>
                <a:r>
                  <a:rPr lang="de-DE" sz="2800" dirty="0" err="1">
                    <a:solidFill>
                      <a:schemeClr val="bg1"/>
                    </a:solidFill>
                    <a:latin typeface="Segoe UI Semibold" panose="020B0702040204020203" pitchFamily="34" charset="0"/>
                    <a:cs typeface="Segoe UI Semibold" panose="020B0702040204020203" pitchFamily="34" charset="0"/>
                  </a:rPr>
                  <a:t>images</a:t>
                </a:r>
                <a:r>
                  <a:rPr lang="de-DE" sz="2800" dirty="0">
                    <a:solidFill>
                      <a:schemeClr val="bg1"/>
                    </a:solidFill>
                    <a:latin typeface="Segoe UI Semibold" panose="020B0702040204020203" pitchFamily="34" charset="0"/>
                    <a:cs typeface="Segoe UI Semibold" panose="020B0702040204020203" pitchFamily="34" charset="0"/>
                  </a:rPr>
                  <a:t> </a:t>
                </a:r>
                <a:r>
                  <a:rPr lang="de-DE" sz="2800" dirty="0" err="1">
                    <a:solidFill>
                      <a:schemeClr val="bg1"/>
                    </a:solidFill>
                    <a:latin typeface="Segoe UI Semibold" panose="020B0702040204020203" pitchFamily="34" charset="0"/>
                    <a:cs typeface="Segoe UI Semibold" panose="020B0702040204020203" pitchFamily="34" charset="0"/>
                  </a:rPr>
                  <a:t>with</a:t>
                </a:r>
                <a:r>
                  <a:rPr lang="de-DE" sz="2800" dirty="0">
                    <a:solidFill>
                      <a:schemeClr val="bg1"/>
                    </a:solidFill>
                    <a:latin typeface="Segoe UI Semibold" panose="020B0702040204020203" pitchFamily="34" charset="0"/>
                    <a:cs typeface="Segoe UI Semibold" panose="020B0702040204020203" pitchFamily="34" charset="0"/>
                  </a:rPr>
                  <a:t> </a:t>
                </a:r>
                <a14:m>
                  <m:oMath xmlns:m="http://schemas.openxmlformats.org/officeDocument/2006/math">
                    <m:r>
                      <a:rPr lang="de-DE" sz="2800" b="0" i="0" smtClean="0">
                        <a:solidFill>
                          <a:schemeClr val="bg1"/>
                        </a:solidFill>
                        <a:latin typeface="Cambria Math" panose="02040503050406030204" pitchFamily="18" charset="0"/>
                        <a:ea typeface="Cambria Math" panose="02040503050406030204" pitchFamily="18" charset="0"/>
                        <a:cs typeface="Segoe UI Semibold" panose="020B0702040204020203" pitchFamily="34" charset="0"/>
                      </a:rPr>
                      <m:t> </m:t>
                    </m:r>
                    <m:r>
                      <a:rPr lang="de-DE" sz="2800" i="1">
                        <a:solidFill>
                          <a:schemeClr val="bg1"/>
                        </a:solidFill>
                        <a:latin typeface="Cambria Math" panose="02040503050406030204" pitchFamily="18" charset="0"/>
                        <a:ea typeface="Cambria Math" panose="02040503050406030204" pitchFamily="18" charset="0"/>
                        <a:cs typeface="Segoe UI Semibold" panose="020B0702040204020203" pitchFamily="34" charset="0"/>
                      </a:rPr>
                      <m:t>𝜎</m:t>
                    </m:r>
                  </m:oMath>
                </a14:m>
                <a:r>
                  <a:rPr lang="de-DE" sz="2800" dirty="0">
                    <a:solidFill>
                      <a:schemeClr val="bg1"/>
                    </a:solidFill>
                    <a:latin typeface="Segoe UI Semibold" panose="020B0702040204020203" pitchFamily="34" charset="0"/>
                    <a:cs typeface="Segoe UI Semibold" panose="020B0702040204020203" pitchFamily="34" charset="0"/>
                  </a:rPr>
                  <a:t> = 0.005 and 0.015</a:t>
                </a:r>
                <a:endParaRPr lang="en-GB" sz="2800" dirty="0">
                  <a:solidFill>
                    <a:schemeClr val="bg1"/>
                  </a:solidFill>
                  <a:latin typeface="Segoe UI Semibold" panose="020B0702040204020203" pitchFamily="34" charset="0"/>
                  <a:cs typeface="Segoe UI Semibold" panose="020B0702040204020203" pitchFamily="34" charset="0"/>
                </a:endParaRPr>
              </a:p>
              <a:p>
                <a:endParaRPr lang="en-GB" dirty="0"/>
              </a:p>
            </p:txBody>
          </p:sp>
        </mc:Choice>
        <mc:Fallback>
          <p:sp>
            <p:nvSpPr>
              <p:cNvPr id="9" name="TextBox 8">
                <a:extLst>
                  <a:ext uri="{FF2B5EF4-FFF2-40B4-BE49-F238E27FC236}">
                    <a16:creationId xmlns:a16="http://schemas.microsoft.com/office/drawing/2014/main" id="{86D9FDB7-5223-EC78-B035-112D6D049804}"/>
                  </a:ext>
                </a:extLst>
              </p:cNvPr>
              <p:cNvSpPr txBox="1">
                <a:spLocks noRot="1" noChangeAspect="1" noMove="1" noResize="1" noEditPoints="1" noAdjustHandles="1" noChangeArrowheads="1" noChangeShapeType="1" noTextEdit="1"/>
              </p:cNvSpPr>
              <p:nvPr/>
            </p:nvSpPr>
            <p:spPr>
              <a:xfrm>
                <a:off x="10896600" y="8020555"/>
                <a:ext cx="4677228" cy="1661993"/>
              </a:xfrm>
              <a:prstGeom prst="rect">
                <a:avLst/>
              </a:prstGeom>
              <a:blipFill>
                <a:blip r:embed="rId8"/>
                <a:stretch>
                  <a:fillRect l="-2608" t="-4044" r="-2477"/>
                </a:stretch>
              </a:blipFill>
            </p:spPr>
            <p:txBody>
              <a:bodyPr/>
              <a:lstStyle/>
              <a:p>
                <a:r>
                  <a:rPr lang="en-GB">
                    <a:noFill/>
                  </a:rPr>
                  <a:t> </a:t>
                </a:r>
              </a:p>
            </p:txBody>
          </p:sp>
        </mc:Fallback>
      </mc:AlternateContent>
      <p:sp>
        <p:nvSpPr>
          <p:cNvPr id="11" name="TextBox 10">
            <a:extLst>
              <a:ext uri="{FF2B5EF4-FFF2-40B4-BE49-F238E27FC236}">
                <a16:creationId xmlns:a16="http://schemas.microsoft.com/office/drawing/2014/main" id="{BD7F7090-FD9D-2D71-15DF-E733C41CA287}"/>
              </a:ext>
            </a:extLst>
          </p:cNvPr>
          <p:cNvSpPr txBox="1"/>
          <p:nvPr/>
        </p:nvSpPr>
        <p:spPr>
          <a:xfrm>
            <a:off x="5600700" y="2230320"/>
            <a:ext cx="7086600" cy="769441"/>
          </a:xfrm>
          <a:prstGeom prst="rect">
            <a:avLst/>
          </a:prstGeom>
          <a:solidFill>
            <a:schemeClr val="accent3">
              <a:lumMod val="60000"/>
              <a:lumOff val="40000"/>
            </a:schemeClr>
          </a:solidFill>
        </p:spPr>
        <p:txBody>
          <a:bodyPr wrap="square" rtlCol="0">
            <a:spAutoFit/>
          </a:bodyPr>
          <a:lstStyle/>
          <a:p>
            <a:r>
              <a:rPr lang="de-DE" sz="4400" dirty="0">
                <a:latin typeface="Segoe UI Semibold" panose="020B0702040204020203" pitchFamily="34" charset="0"/>
                <a:cs typeface="Segoe UI Semibold" panose="020B0702040204020203" pitchFamily="34" charset="0"/>
              </a:rPr>
              <a:t>0.764 Best I-AUROC Score </a:t>
            </a:r>
            <a:endParaRPr lang="en-GB" sz="4400" dirty="0">
              <a:latin typeface="Segoe UI Semibold" panose="020B0702040204020203" pitchFamily="34" charset="0"/>
              <a:cs typeface="Segoe UI Semibold" panose="020B0702040204020203" pitchFamily="34" charset="0"/>
            </a:endParaRPr>
          </a:p>
        </p:txBody>
      </p:sp>
    </p:spTree>
    <p:extLst>
      <p:ext uri="{BB962C8B-B14F-4D97-AF65-F5344CB8AC3E}">
        <p14:creationId xmlns:p14="http://schemas.microsoft.com/office/powerpoint/2010/main" val="2059479750"/>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302D170-43C7-050A-72DF-2F4B26E81CF3}"/>
            </a:ext>
          </a:extLst>
        </p:cNvPr>
        <p:cNvGrpSpPr/>
        <p:nvPr/>
      </p:nvGrpSpPr>
      <p:grpSpPr>
        <a:xfrm>
          <a:off x="0" y="0"/>
          <a:ext cx="0" cy="0"/>
          <a:chOff x="0" y="0"/>
          <a:chExt cx="0" cy="0"/>
        </a:xfrm>
      </p:grpSpPr>
      <p:sp>
        <p:nvSpPr>
          <p:cNvPr id="2" name="Freeform 2">
            <a:extLst>
              <a:ext uri="{FF2B5EF4-FFF2-40B4-BE49-F238E27FC236}">
                <a16:creationId xmlns:a16="http://schemas.microsoft.com/office/drawing/2014/main" id="{090504A8-F92A-4913-D8D6-49158B0DC87E}"/>
              </a:ext>
            </a:extLst>
          </p:cNvPr>
          <p:cNvSpPr/>
          <p:nvPr/>
        </p:nvSpPr>
        <p:spPr>
          <a:xfrm>
            <a:off x="0" y="-10026"/>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3"/>
            <a:stretch>
              <a:fillRect t="-9222" b="-9222"/>
            </a:stretch>
          </a:blipFill>
        </p:spPr>
        <p:txBody>
          <a:bodyPr/>
          <a:lstStyle/>
          <a:p>
            <a:endParaRPr lang="en-GB" sz="4400" dirty="0">
              <a:solidFill>
                <a:schemeClr val="bg1"/>
              </a:solidFill>
              <a:latin typeface="Comic Sans MS" panose="030F0702030302020204" pitchFamily="66" charset="0"/>
            </a:endParaRPr>
          </a:p>
        </p:txBody>
      </p:sp>
      <p:pic>
        <p:nvPicPr>
          <p:cNvPr id="18" name="Picture 17">
            <a:extLst>
              <a:ext uri="{FF2B5EF4-FFF2-40B4-BE49-F238E27FC236}">
                <a16:creationId xmlns:a16="http://schemas.microsoft.com/office/drawing/2014/main" id="{405781EB-0DA6-4845-E585-74961E746804}"/>
              </a:ext>
            </a:extLst>
          </p:cNvPr>
          <p:cNvPicPr>
            <a:picLocks noChangeAspect="1"/>
          </p:cNvPicPr>
          <p:nvPr/>
        </p:nvPicPr>
        <p:blipFill rotWithShape="1">
          <a:blip r:embed="rId4"/>
          <a:srcRect l="19756" t="18691" r="19454" b="41655"/>
          <a:stretch/>
        </p:blipFill>
        <p:spPr>
          <a:xfrm>
            <a:off x="16316104" y="381000"/>
            <a:ext cx="1812319" cy="760280"/>
          </a:xfrm>
          <a:prstGeom prst="roundRect">
            <a:avLst>
              <a:gd name="adj" fmla="val 8594"/>
            </a:avLst>
          </a:prstGeom>
          <a:solidFill>
            <a:srgbClr val="FFFFFF">
              <a:shade val="85000"/>
            </a:srgbClr>
          </a:solidFill>
          <a:ln>
            <a:noFill/>
          </a:ln>
          <a:effectLst>
            <a:reflection blurRad="12700" stA="38000" endPos="28000" dist="5000" dir="5400000" sy="-100000" algn="bl" rotWithShape="0"/>
          </a:effectLst>
        </p:spPr>
      </p:pic>
      <p:cxnSp>
        <p:nvCxnSpPr>
          <p:cNvPr id="21" name="Straight Connector 20">
            <a:extLst>
              <a:ext uri="{FF2B5EF4-FFF2-40B4-BE49-F238E27FC236}">
                <a16:creationId xmlns:a16="http://schemas.microsoft.com/office/drawing/2014/main" id="{CD47DC1D-AE2E-F1C7-7274-BE930FA83CAB}"/>
              </a:ext>
            </a:extLst>
          </p:cNvPr>
          <p:cNvCxnSpPr>
            <a:cxnSpLocks/>
          </p:cNvCxnSpPr>
          <p:nvPr/>
        </p:nvCxnSpPr>
        <p:spPr>
          <a:xfrm flipV="1">
            <a:off x="1600200" y="1638300"/>
            <a:ext cx="14173200" cy="76200"/>
          </a:xfrm>
          <a:prstGeom prst="line">
            <a:avLst/>
          </a:prstGeom>
        </p:spPr>
        <p:style>
          <a:lnRef idx="3">
            <a:schemeClr val="dk1"/>
          </a:lnRef>
          <a:fillRef idx="0">
            <a:schemeClr val="dk1"/>
          </a:fillRef>
          <a:effectRef idx="2">
            <a:schemeClr val="dk1"/>
          </a:effectRef>
          <a:fontRef idx="minor">
            <a:schemeClr val="tx1"/>
          </a:fontRef>
        </p:style>
      </p:cxnSp>
      <p:sp>
        <p:nvSpPr>
          <p:cNvPr id="23" name="TextBox 22">
            <a:extLst>
              <a:ext uri="{FF2B5EF4-FFF2-40B4-BE49-F238E27FC236}">
                <a16:creationId xmlns:a16="http://schemas.microsoft.com/office/drawing/2014/main" id="{293BABCA-CCD2-CF2B-441A-F82AD07C91E7}"/>
              </a:ext>
            </a:extLst>
          </p:cNvPr>
          <p:cNvSpPr txBox="1"/>
          <p:nvPr/>
        </p:nvSpPr>
        <p:spPr>
          <a:xfrm>
            <a:off x="1572412" y="794703"/>
            <a:ext cx="12067388" cy="707886"/>
          </a:xfrm>
          <a:prstGeom prst="rect">
            <a:avLst/>
          </a:prstGeom>
          <a:noFill/>
        </p:spPr>
        <p:txBody>
          <a:bodyPr wrap="square" rtlCol="0">
            <a:spAutoFit/>
          </a:bodyPr>
          <a:lstStyle/>
          <a:p>
            <a:r>
              <a:rPr lang="de-DE" sz="4000" dirty="0">
                <a:solidFill>
                  <a:schemeClr val="bg1"/>
                </a:solidFill>
                <a:latin typeface="Segoe UI Semibold" panose="020B0702040204020203" pitchFamily="34" charset="0"/>
                <a:cs typeface="Segoe UI Semibold" panose="020B0702040204020203" pitchFamily="34" charset="0"/>
              </a:rPr>
              <a:t>Final </a:t>
            </a:r>
            <a:r>
              <a:rPr lang="de-DE" sz="4000" dirty="0" err="1">
                <a:solidFill>
                  <a:schemeClr val="bg1"/>
                </a:solidFill>
                <a:latin typeface="Segoe UI Semibold" panose="020B0702040204020203" pitchFamily="34" charset="0"/>
                <a:cs typeface="Segoe UI Semibold" panose="020B0702040204020203" pitchFamily="34" charset="0"/>
              </a:rPr>
              <a:t>Verdict</a:t>
            </a:r>
            <a:r>
              <a:rPr lang="de-DE" sz="4000" dirty="0">
                <a:solidFill>
                  <a:schemeClr val="bg1"/>
                </a:solidFill>
                <a:latin typeface="Segoe UI Semibold" panose="020B0702040204020203" pitchFamily="34" charset="0"/>
                <a:cs typeface="Segoe UI Semibold" panose="020B0702040204020203" pitchFamily="34" charset="0"/>
              </a:rPr>
              <a:t> : </a:t>
            </a:r>
            <a:r>
              <a:rPr lang="de-DE" sz="4000" dirty="0" err="1">
                <a:solidFill>
                  <a:schemeClr val="bg1"/>
                </a:solidFill>
                <a:latin typeface="Segoe UI Semibold" panose="020B0702040204020203" pitchFamily="34" charset="0"/>
                <a:cs typeface="Segoe UI Semibold" panose="020B0702040204020203" pitchFamily="34" charset="0"/>
              </a:rPr>
              <a:t>Simplicity</a:t>
            </a:r>
            <a:r>
              <a:rPr lang="de-DE" sz="4000" dirty="0">
                <a:solidFill>
                  <a:schemeClr val="bg1"/>
                </a:solidFill>
                <a:latin typeface="Segoe UI Semibold" panose="020B0702040204020203" pitchFamily="34" charset="0"/>
                <a:cs typeface="Segoe UI Semibold" panose="020B0702040204020203" pitchFamily="34" charset="0"/>
              </a:rPr>
              <a:t> </a:t>
            </a:r>
            <a:r>
              <a:rPr lang="de-DE" sz="4000" dirty="0" err="1">
                <a:solidFill>
                  <a:schemeClr val="bg1"/>
                </a:solidFill>
                <a:latin typeface="Segoe UI Semibold" panose="020B0702040204020203" pitchFamily="34" charset="0"/>
                <a:cs typeface="Segoe UI Semibold" panose="020B0702040204020203" pitchFamily="34" charset="0"/>
              </a:rPr>
              <a:t>is</a:t>
            </a:r>
            <a:r>
              <a:rPr lang="de-DE" sz="4000" dirty="0">
                <a:solidFill>
                  <a:schemeClr val="bg1"/>
                </a:solidFill>
                <a:latin typeface="Segoe UI Semibold" panose="020B0702040204020203" pitchFamily="34" charset="0"/>
                <a:cs typeface="Segoe UI Semibold" panose="020B0702040204020203" pitchFamily="34" charset="0"/>
              </a:rPr>
              <a:t> </a:t>
            </a:r>
            <a:r>
              <a:rPr lang="de-DE" sz="4000" dirty="0" err="1">
                <a:solidFill>
                  <a:schemeClr val="bg1"/>
                </a:solidFill>
                <a:latin typeface="Segoe UI Semibold" panose="020B0702040204020203" pitchFamily="34" charset="0"/>
                <a:cs typeface="Segoe UI Semibold" panose="020B0702040204020203" pitchFamily="34" charset="0"/>
              </a:rPr>
              <a:t>Sophistication</a:t>
            </a:r>
            <a:r>
              <a:rPr lang="de-DE" sz="4000" dirty="0">
                <a:solidFill>
                  <a:schemeClr val="bg1"/>
                </a:solidFill>
                <a:latin typeface="Segoe UI Semibold" panose="020B0702040204020203" pitchFamily="34" charset="0"/>
                <a:cs typeface="Segoe UI Semibold" panose="020B0702040204020203" pitchFamily="34" charset="0"/>
              </a:rPr>
              <a:t> </a:t>
            </a:r>
            <a:endParaRPr lang="en-GB" sz="4000" dirty="0">
              <a:solidFill>
                <a:schemeClr val="bg1"/>
              </a:solidFill>
              <a:latin typeface="Segoe UI Semibold" panose="020B0702040204020203" pitchFamily="34" charset="0"/>
              <a:cs typeface="Segoe UI Semibold" panose="020B0702040204020203" pitchFamily="34" charset="0"/>
            </a:endParaRPr>
          </a:p>
        </p:txBody>
      </p:sp>
      <p:grpSp>
        <p:nvGrpSpPr>
          <p:cNvPr id="19" name="Group 18">
            <a:extLst>
              <a:ext uri="{FF2B5EF4-FFF2-40B4-BE49-F238E27FC236}">
                <a16:creationId xmlns:a16="http://schemas.microsoft.com/office/drawing/2014/main" id="{66CDBF19-CB43-36F2-61E9-65C1DB19839A}"/>
              </a:ext>
            </a:extLst>
          </p:cNvPr>
          <p:cNvGrpSpPr/>
          <p:nvPr/>
        </p:nvGrpSpPr>
        <p:grpSpPr>
          <a:xfrm>
            <a:off x="2319731" y="2387117"/>
            <a:ext cx="5286375" cy="6124576"/>
            <a:chOff x="1249430" y="2371724"/>
            <a:chExt cx="5286375" cy="6124576"/>
          </a:xfrm>
        </p:grpSpPr>
        <p:pic>
          <p:nvPicPr>
            <p:cNvPr id="187" name="Google Shape;187;p21" descr="image.png"/>
            <p:cNvPicPr preferRelativeResize="0"/>
            <p:nvPr/>
          </p:nvPicPr>
          <p:blipFill rotWithShape="1">
            <a:blip r:embed="rId5">
              <a:duotone>
                <a:prstClr val="black"/>
                <a:schemeClr val="accent1">
                  <a:tint val="45000"/>
                  <a:satMod val="400000"/>
                </a:schemeClr>
              </a:duotone>
              <a:alphaModFix amt="50000"/>
            </a:blip>
            <a:srcRect/>
            <a:stretch/>
          </p:blipFill>
          <p:spPr>
            <a:xfrm>
              <a:off x="1249430" y="2371724"/>
              <a:ext cx="5286375" cy="6124576"/>
            </a:xfrm>
            <a:prstGeom prst="rect">
              <a:avLst/>
            </a:prstGeom>
            <a:noFill/>
            <a:ln>
              <a:noFill/>
            </a:ln>
          </p:spPr>
        </p:pic>
        <p:sp>
          <p:nvSpPr>
            <p:cNvPr id="191" name="Google Shape;191;p21"/>
            <p:cNvSpPr txBox="1"/>
            <p:nvPr/>
          </p:nvSpPr>
          <p:spPr>
            <a:xfrm>
              <a:off x="1572412" y="2957647"/>
              <a:ext cx="4930616" cy="492443"/>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3200" b="1" i="0" u="none" strike="noStrike" cap="none" dirty="0">
                  <a:latin typeface="Segoe UI Semibold" panose="020B0702040204020203" pitchFamily="34" charset="0"/>
                  <a:ea typeface="Lato"/>
                  <a:cs typeface="Segoe UI Semibold" panose="020B0702040204020203" pitchFamily="34" charset="0"/>
                  <a:sym typeface="Lato"/>
                </a:rPr>
                <a:t>Core Takeaways</a:t>
              </a:r>
              <a:endParaRPr sz="3200" dirty="0">
                <a:latin typeface="Segoe UI Semibold" panose="020B0702040204020203" pitchFamily="34" charset="0"/>
                <a:cs typeface="Segoe UI Semibold" panose="020B0702040204020203" pitchFamily="34" charset="0"/>
              </a:endParaRPr>
            </a:p>
          </p:txBody>
        </p:sp>
        <p:sp>
          <p:nvSpPr>
            <p:cNvPr id="194" name="Google Shape;194;p21"/>
            <p:cNvSpPr txBox="1"/>
            <p:nvPr/>
          </p:nvSpPr>
          <p:spPr>
            <a:xfrm>
              <a:off x="1781175" y="3857625"/>
              <a:ext cx="4505325" cy="2215991"/>
            </a:xfrm>
            <a:prstGeom prst="rect">
              <a:avLst/>
            </a:prstGeom>
            <a:noFill/>
            <a:ln>
              <a:noFill/>
            </a:ln>
          </p:spPr>
          <p:txBody>
            <a:bodyPr spcFirstLastPara="1" wrap="square" lIns="114300" tIns="0" rIns="0" bIns="0" anchor="t" anchorCtr="0">
              <a:spAutoFit/>
            </a:bodyPr>
            <a:lstStyle/>
            <a:p>
              <a:pPr marL="342900" marR="0" lvl="0" indent="-342900" algn="l" rtl="0">
                <a:lnSpc>
                  <a:spcPct val="150000"/>
                </a:lnSpc>
                <a:spcBef>
                  <a:spcPts val="0"/>
                </a:spcBef>
                <a:spcAft>
                  <a:spcPts val="0"/>
                </a:spcAft>
                <a:buFont typeface="Arial" panose="020B0604020202020204" pitchFamily="34" charset="0"/>
                <a:buChar char="•"/>
              </a:pPr>
              <a:r>
                <a:rPr lang="en-US" sz="2400" b="1" i="0" u="none" strike="noStrike" cap="none" dirty="0">
                  <a:solidFill>
                    <a:schemeClr val="bg1"/>
                  </a:solidFill>
                  <a:latin typeface="Segoe UI Semibold" panose="020B0702040204020203" pitchFamily="34" charset="0"/>
                  <a:ea typeface="Lato"/>
                  <a:cs typeface="Segoe UI Semibold" panose="020B0702040204020203" pitchFamily="34" charset="0"/>
                  <a:sym typeface="Lato"/>
                </a:rPr>
                <a:t>High Versatility:</a:t>
              </a:r>
              <a:r>
                <a:rPr lang="en-US" sz="2400" b="0" i="0" u="none" strike="noStrike" cap="none" dirty="0">
                  <a:solidFill>
                    <a:schemeClr val="bg1"/>
                  </a:solidFill>
                  <a:latin typeface="Segoe UI Semibold" panose="020B0702040204020203" pitchFamily="34" charset="0"/>
                  <a:ea typeface="Lato"/>
                  <a:cs typeface="Segoe UI Semibold" panose="020B0702040204020203" pitchFamily="34" charset="0"/>
                  <a:sym typeface="Lato"/>
                </a:rPr>
                <a:t> Minimal architectural changes to move from </a:t>
              </a:r>
              <a:r>
                <a:rPr lang="en-US" sz="2400" dirty="0">
                  <a:solidFill>
                    <a:schemeClr val="bg1"/>
                  </a:solidFill>
                  <a:latin typeface="Segoe UI Semibold" panose="020B0702040204020203" pitchFamily="34" charset="0"/>
                  <a:ea typeface="Lato"/>
                  <a:cs typeface="Segoe UI Semibold" panose="020B0702040204020203" pitchFamily="34" charset="0"/>
                  <a:sym typeface="Lato"/>
                </a:rPr>
                <a:t>Industry to Medical data</a:t>
              </a:r>
              <a:endParaRPr sz="2400" dirty="0">
                <a:solidFill>
                  <a:schemeClr val="bg1"/>
                </a:solidFill>
                <a:latin typeface="Segoe UI Semibold" panose="020B0702040204020203" pitchFamily="34" charset="0"/>
                <a:cs typeface="Segoe UI Semibold" panose="020B0702040204020203" pitchFamily="34" charset="0"/>
              </a:endParaRPr>
            </a:p>
          </p:txBody>
        </p:sp>
        <p:sp>
          <p:nvSpPr>
            <p:cNvPr id="196" name="Google Shape;196;p21"/>
            <p:cNvSpPr txBox="1"/>
            <p:nvPr/>
          </p:nvSpPr>
          <p:spPr>
            <a:xfrm>
              <a:off x="1639954" y="6219851"/>
              <a:ext cx="4505325" cy="1661993"/>
            </a:xfrm>
            <a:prstGeom prst="rect">
              <a:avLst/>
            </a:prstGeom>
            <a:noFill/>
            <a:ln>
              <a:noFill/>
            </a:ln>
          </p:spPr>
          <p:txBody>
            <a:bodyPr spcFirstLastPara="1" wrap="square" lIns="114300" tIns="0" rIns="0" bIns="0" anchor="t" anchorCtr="0">
              <a:spAutoFit/>
            </a:bodyPr>
            <a:lstStyle/>
            <a:p>
              <a:pPr marL="342900" marR="0" lvl="0" indent="-342900" algn="l" rtl="0">
                <a:lnSpc>
                  <a:spcPct val="150000"/>
                </a:lnSpc>
                <a:spcBef>
                  <a:spcPts val="0"/>
                </a:spcBef>
                <a:spcAft>
                  <a:spcPts val="0"/>
                </a:spcAft>
                <a:buFont typeface="Arial" panose="020B0604020202020204" pitchFamily="34" charset="0"/>
                <a:buChar char="•"/>
              </a:pPr>
              <a:r>
                <a:rPr lang="en-US" sz="2400" b="1" i="0" u="none" strike="noStrike" cap="none" dirty="0">
                  <a:solidFill>
                    <a:schemeClr val="bg1"/>
                  </a:solidFill>
                  <a:latin typeface="Segoe UI Semibold" panose="020B0702040204020203" pitchFamily="34" charset="0"/>
                  <a:ea typeface="Lato"/>
                  <a:cs typeface="Segoe UI Semibold" panose="020B0702040204020203" pitchFamily="34" charset="0"/>
                  <a:sym typeface="Lato"/>
                </a:rPr>
                <a:t>Rapid Deployment:</a:t>
              </a:r>
              <a:r>
                <a:rPr lang="en-US" sz="2400" b="0" i="0" u="none" strike="noStrike" cap="none" dirty="0">
                  <a:solidFill>
                    <a:schemeClr val="bg1"/>
                  </a:solidFill>
                  <a:latin typeface="Segoe UI Semibold" panose="020B0702040204020203" pitchFamily="34" charset="0"/>
                  <a:ea typeface="Lato"/>
                  <a:cs typeface="Segoe UI Semibold" panose="020B0702040204020203" pitchFamily="34" charset="0"/>
                  <a:sym typeface="Lato"/>
                </a:rPr>
                <a:t> Clinical triage ready using very few healthy samples.</a:t>
              </a:r>
              <a:endParaRPr sz="2400" dirty="0">
                <a:solidFill>
                  <a:schemeClr val="bg1"/>
                </a:solidFill>
                <a:latin typeface="Segoe UI Semibold" panose="020B0702040204020203" pitchFamily="34" charset="0"/>
                <a:cs typeface="Segoe UI Semibold" panose="020B0702040204020203" pitchFamily="34" charset="0"/>
              </a:endParaRPr>
            </a:p>
          </p:txBody>
        </p:sp>
      </p:grpSp>
      <p:grpSp>
        <p:nvGrpSpPr>
          <p:cNvPr id="20" name="Group 19">
            <a:extLst>
              <a:ext uri="{FF2B5EF4-FFF2-40B4-BE49-F238E27FC236}">
                <a16:creationId xmlns:a16="http://schemas.microsoft.com/office/drawing/2014/main" id="{B37945DF-E0DA-2EF7-CA95-70250A6A63E6}"/>
              </a:ext>
            </a:extLst>
          </p:cNvPr>
          <p:cNvGrpSpPr/>
          <p:nvPr/>
        </p:nvGrpSpPr>
        <p:grpSpPr>
          <a:xfrm>
            <a:off x="10369383" y="2307318"/>
            <a:ext cx="5290004" cy="6124576"/>
            <a:chOff x="9906000" y="2447924"/>
            <a:chExt cx="5290004" cy="6124576"/>
          </a:xfrm>
        </p:grpSpPr>
        <p:pic>
          <p:nvPicPr>
            <p:cNvPr id="14" name="Google Shape;188;p21" descr="image.png">
              <a:extLst>
                <a:ext uri="{FF2B5EF4-FFF2-40B4-BE49-F238E27FC236}">
                  <a16:creationId xmlns:a16="http://schemas.microsoft.com/office/drawing/2014/main" id="{A0A567B7-5382-C0D1-41D1-D3F5357E550A}"/>
                </a:ext>
              </a:extLst>
            </p:cNvPr>
            <p:cNvPicPr preferRelativeResize="0"/>
            <p:nvPr/>
          </p:nvPicPr>
          <p:blipFill rotWithShape="1">
            <a:blip r:embed="rId6">
              <a:duotone>
                <a:prstClr val="black"/>
                <a:schemeClr val="accent1">
                  <a:tint val="45000"/>
                  <a:satMod val="400000"/>
                </a:schemeClr>
              </a:duotone>
              <a:alphaModFix amt="50000"/>
            </a:blip>
            <a:srcRect/>
            <a:stretch/>
          </p:blipFill>
          <p:spPr>
            <a:xfrm>
              <a:off x="9906000" y="2447924"/>
              <a:ext cx="5286375" cy="6124576"/>
            </a:xfrm>
            <a:prstGeom prst="rect">
              <a:avLst/>
            </a:prstGeom>
            <a:noFill/>
            <a:ln>
              <a:noFill/>
            </a:ln>
          </p:spPr>
        </p:pic>
        <p:sp>
          <p:nvSpPr>
            <p:cNvPr id="15" name="Google Shape;192;p21">
              <a:extLst>
                <a:ext uri="{FF2B5EF4-FFF2-40B4-BE49-F238E27FC236}">
                  <a16:creationId xmlns:a16="http://schemas.microsoft.com/office/drawing/2014/main" id="{C6BB94D7-D12D-0690-8A17-CFDDF089FD2D}"/>
                </a:ext>
              </a:extLst>
            </p:cNvPr>
            <p:cNvSpPr txBox="1"/>
            <p:nvPr/>
          </p:nvSpPr>
          <p:spPr>
            <a:xfrm>
              <a:off x="10265388" y="3191376"/>
              <a:ext cx="4930616" cy="492443"/>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3200" b="1" i="0" u="none" strike="noStrike" cap="none" dirty="0">
                  <a:latin typeface="Segoe UI Semibold" panose="020B0702040204020203" pitchFamily="34" charset="0"/>
                  <a:ea typeface="Lato"/>
                  <a:cs typeface="Segoe UI Semibold" panose="020B0702040204020203" pitchFamily="34" charset="0"/>
                  <a:sym typeface="Lato"/>
                </a:rPr>
                <a:t>Future Work</a:t>
              </a:r>
              <a:endParaRPr sz="3200" dirty="0">
                <a:latin typeface="Segoe UI Semibold" panose="020B0702040204020203" pitchFamily="34" charset="0"/>
                <a:cs typeface="Segoe UI Semibold" panose="020B0702040204020203" pitchFamily="34" charset="0"/>
              </a:endParaRPr>
            </a:p>
          </p:txBody>
        </p:sp>
        <p:sp>
          <p:nvSpPr>
            <p:cNvPr id="16" name="Google Shape;198;p21">
              <a:extLst>
                <a:ext uri="{FF2B5EF4-FFF2-40B4-BE49-F238E27FC236}">
                  <a16:creationId xmlns:a16="http://schemas.microsoft.com/office/drawing/2014/main" id="{CF668A47-5959-409D-19E8-0EF206442A24}"/>
                </a:ext>
              </a:extLst>
            </p:cNvPr>
            <p:cNvSpPr txBox="1"/>
            <p:nvPr/>
          </p:nvSpPr>
          <p:spPr>
            <a:xfrm>
              <a:off x="10296524" y="4025741"/>
              <a:ext cx="4505325" cy="1107996"/>
            </a:xfrm>
            <a:prstGeom prst="rect">
              <a:avLst/>
            </a:prstGeom>
            <a:noFill/>
            <a:ln>
              <a:noFill/>
            </a:ln>
          </p:spPr>
          <p:txBody>
            <a:bodyPr spcFirstLastPara="1" wrap="square" lIns="114300" tIns="0" rIns="0" bIns="0" anchor="t" anchorCtr="0">
              <a:spAutoFit/>
            </a:bodyPr>
            <a:lstStyle/>
            <a:p>
              <a:pPr marL="342900" marR="0" lvl="0" indent="-342900" algn="l" rtl="0">
                <a:lnSpc>
                  <a:spcPct val="150000"/>
                </a:lnSpc>
                <a:spcBef>
                  <a:spcPts val="0"/>
                </a:spcBef>
                <a:spcAft>
                  <a:spcPts val="0"/>
                </a:spcAft>
                <a:buFont typeface="Arial" panose="020B0604020202020204" pitchFamily="34" charset="0"/>
                <a:buChar char="•"/>
              </a:pPr>
              <a:r>
                <a:rPr lang="en-US" sz="2400" b="1" i="0" u="none" strike="noStrike" cap="none" dirty="0">
                  <a:solidFill>
                    <a:schemeClr val="bg1"/>
                  </a:solidFill>
                  <a:latin typeface="Segoe UI Semibold" panose="020B0702040204020203" pitchFamily="34" charset="0"/>
                  <a:ea typeface="Lato"/>
                  <a:cs typeface="Segoe UI Semibold" panose="020B0702040204020203" pitchFamily="34" charset="0"/>
                  <a:sym typeface="Lato"/>
                </a:rPr>
                <a:t>Adaptive Noise : Based on the </a:t>
              </a:r>
              <a:r>
                <a:rPr lang="en-US" sz="2400" b="1" i="0" u="none" strike="noStrike" cap="none" dirty="0" err="1">
                  <a:solidFill>
                    <a:schemeClr val="bg1"/>
                  </a:solidFill>
                  <a:latin typeface="Segoe UI Semibold" panose="020B0702040204020203" pitchFamily="34" charset="0"/>
                  <a:ea typeface="Lato"/>
                  <a:cs typeface="Segoe UI Semibold" panose="020B0702040204020203" pitchFamily="34" charset="0"/>
                  <a:sym typeface="Lato"/>
                </a:rPr>
                <a:t>Usecase</a:t>
              </a:r>
              <a:r>
                <a:rPr lang="en-US" sz="2400" b="1" i="0" u="none" strike="noStrike" cap="none" dirty="0">
                  <a:solidFill>
                    <a:schemeClr val="bg1"/>
                  </a:solidFill>
                  <a:latin typeface="Segoe UI Semibold" panose="020B0702040204020203" pitchFamily="34" charset="0"/>
                  <a:ea typeface="Lato"/>
                  <a:cs typeface="Segoe UI Semibold" panose="020B0702040204020203" pitchFamily="34" charset="0"/>
                  <a:sym typeface="Lato"/>
                </a:rPr>
                <a:t>.</a:t>
              </a:r>
              <a:endParaRPr sz="2400" dirty="0">
                <a:solidFill>
                  <a:schemeClr val="bg1"/>
                </a:solidFill>
                <a:latin typeface="Segoe UI Semibold" panose="020B0702040204020203" pitchFamily="34" charset="0"/>
                <a:cs typeface="Segoe UI Semibold" panose="020B0702040204020203" pitchFamily="34" charset="0"/>
              </a:endParaRPr>
            </a:p>
          </p:txBody>
        </p:sp>
        <p:sp>
          <p:nvSpPr>
            <p:cNvPr id="17" name="Google Shape;200;p21">
              <a:extLst>
                <a:ext uri="{FF2B5EF4-FFF2-40B4-BE49-F238E27FC236}">
                  <a16:creationId xmlns:a16="http://schemas.microsoft.com/office/drawing/2014/main" id="{D8C650A7-58F3-AB42-121C-759CC1ECFAE3}"/>
                </a:ext>
              </a:extLst>
            </p:cNvPr>
            <p:cNvSpPr txBox="1"/>
            <p:nvPr/>
          </p:nvSpPr>
          <p:spPr>
            <a:xfrm>
              <a:off x="10357304" y="6383994"/>
              <a:ext cx="4505325" cy="1661993"/>
            </a:xfrm>
            <a:prstGeom prst="rect">
              <a:avLst/>
            </a:prstGeom>
            <a:noFill/>
            <a:ln>
              <a:noFill/>
            </a:ln>
          </p:spPr>
          <p:txBody>
            <a:bodyPr spcFirstLastPara="1" wrap="square" lIns="114300" tIns="0" rIns="0" bIns="0" anchor="t" anchorCtr="0">
              <a:spAutoFit/>
            </a:bodyPr>
            <a:lstStyle/>
            <a:p>
              <a:pPr marL="342900" marR="0" lvl="0" indent="-342900" algn="l" rtl="0">
                <a:lnSpc>
                  <a:spcPct val="150000"/>
                </a:lnSpc>
                <a:spcBef>
                  <a:spcPts val="0"/>
                </a:spcBef>
                <a:spcAft>
                  <a:spcPts val="0"/>
                </a:spcAft>
                <a:buFont typeface="Arial" panose="020B0604020202020204" pitchFamily="34" charset="0"/>
                <a:buChar char="•"/>
              </a:pPr>
              <a:r>
                <a:rPr lang="en-US" sz="2400" b="1" i="0" u="none" strike="noStrike" cap="none" dirty="0">
                  <a:solidFill>
                    <a:schemeClr val="bg1"/>
                  </a:solidFill>
                  <a:latin typeface="Segoe UI Semibold" panose="020B0702040204020203" pitchFamily="34" charset="0"/>
                  <a:ea typeface="Lato"/>
                  <a:cs typeface="Segoe UI Semibold" panose="020B0702040204020203" pitchFamily="34" charset="0"/>
                  <a:sym typeface="Lato"/>
                </a:rPr>
                <a:t>Multi-Modal:</a:t>
              </a:r>
              <a:r>
                <a:rPr lang="en-US" sz="2400" b="0" i="0" u="none" strike="noStrike" cap="none" dirty="0">
                  <a:solidFill>
                    <a:schemeClr val="bg1"/>
                  </a:solidFill>
                  <a:latin typeface="Segoe UI Semibold" panose="020B0702040204020203" pitchFamily="34" charset="0"/>
                  <a:ea typeface="Lato"/>
                  <a:cs typeface="Segoe UI Semibold" panose="020B0702040204020203" pitchFamily="34" charset="0"/>
                  <a:sym typeface="Lato"/>
                </a:rPr>
                <a:t> Integrating clinical metadata alongside X-ray features</a:t>
              </a:r>
              <a:r>
                <a:rPr lang="en-US" sz="1500" b="0" i="0" u="none" strike="noStrike" cap="none" dirty="0">
                  <a:solidFill>
                    <a:schemeClr val="bg1"/>
                  </a:solidFill>
                  <a:latin typeface="Lato"/>
                  <a:ea typeface="Lato"/>
                  <a:cs typeface="Lato"/>
                  <a:sym typeface="Lato"/>
                </a:rPr>
                <a:t>.</a:t>
              </a:r>
              <a:endParaRPr dirty="0">
                <a:solidFill>
                  <a:schemeClr val="bg1"/>
                </a:solidFill>
              </a:endParaRPr>
            </a:p>
          </p:txBody>
        </p:sp>
      </p:grpSp>
      <p:sp>
        <p:nvSpPr>
          <p:cNvPr id="45" name="Rectangle: Rounded Corners 44">
            <a:extLst>
              <a:ext uri="{FF2B5EF4-FFF2-40B4-BE49-F238E27FC236}">
                <a16:creationId xmlns:a16="http://schemas.microsoft.com/office/drawing/2014/main" id="{E78ED522-D2AF-EE78-47D2-0E29949C1175}"/>
              </a:ext>
            </a:extLst>
          </p:cNvPr>
          <p:cNvSpPr/>
          <p:nvPr/>
        </p:nvSpPr>
        <p:spPr>
          <a:xfrm>
            <a:off x="2286000" y="9184310"/>
            <a:ext cx="13258800" cy="838200"/>
          </a:xfrm>
          <a:prstGeom prst="roundRect">
            <a:avLst/>
          </a:prstGeom>
          <a:solidFill>
            <a:schemeClr val="accent3">
              <a:alpha val="50000"/>
            </a:schemeClr>
          </a:solidFill>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style>
          <a:lnRef idx="0">
            <a:scrgbClr r="0" g="0" b="0"/>
          </a:lnRef>
          <a:fillRef idx="0">
            <a:scrgbClr r="0" g="0" b="0"/>
          </a:fillRef>
          <a:effectRef idx="0">
            <a:scrgbClr r="0" g="0" b="0"/>
          </a:effectRef>
          <a:fontRef idx="minor">
            <a:schemeClr val="lt1"/>
          </a:fontRef>
        </p:style>
        <p:txBody>
          <a:bodyPr rtlCol="0" anchor="ctr"/>
          <a:lstStyle/>
          <a:p>
            <a:pPr algn="ctr"/>
            <a:endParaRPr lang="en-GB"/>
          </a:p>
        </p:txBody>
      </p:sp>
      <p:sp>
        <p:nvSpPr>
          <p:cNvPr id="46" name="TextBox 45">
            <a:extLst>
              <a:ext uri="{FF2B5EF4-FFF2-40B4-BE49-F238E27FC236}">
                <a16:creationId xmlns:a16="http://schemas.microsoft.com/office/drawing/2014/main" id="{41C3B1D0-1E37-406C-3154-941BAED7759E}"/>
              </a:ext>
            </a:extLst>
          </p:cNvPr>
          <p:cNvSpPr txBox="1"/>
          <p:nvPr/>
        </p:nvSpPr>
        <p:spPr>
          <a:xfrm>
            <a:off x="2971800" y="9312645"/>
            <a:ext cx="11887200" cy="584775"/>
          </a:xfrm>
          <a:prstGeom prst="rect">
            <a:avLst/>
          </a:prstGeom>
          <a:noFill/>
        </p:spPr>
        <p:txBody>
          <a:bodyPr wrap="square" rtlCol="0">
            <a:spAutoFit/>
          </a:bodyPr>
          <a:lstStyle/>
          <a:p>
            <a:pPr algn="ctr"/>
            <a:r>
              <a:rPr lang="en-GB" sz="3200" i="1" dirty="0">
                <a:solidFill>
                  <a:schemeClr val="bg1"/>
                </a:solidFill>
                <a:latin typeface="Segoe UI" panose="020B0502040204020203" pitchFamily="34" charset="0"/>
                <a:cs typeface="Segoe UI" panose="020B0502040204020203" pitchFamily="34" charset="0"/>
              </a:rPr>
              <a:t>Thank you </a:t>
            </a:r>
            <a:r>
              <a:rPr lang="en-GB" sz="3200" i="1" dirty="0">
                <a:solidFill>
                  <a:schemeClr val="bg1"/>
                </a:solidFill>
                <a:latin typeface="Segoe UI" panose="020B0502040204020203" pitchFamily="34" charset="0"/>
                <a:cs typeface="Segoe UI" panose="020B0502040204020203" pitchFamily="34" charset="0"/>
                <a:sym typeface="Wingdings" panose="05000000000000000000" pitchFamily="2" charset="2"/>
              </a:rPr>
              <a:t>  </a:t>
            </a:r>
            <a:r>
              <a:rPr lang="en-GB" sz="3200" i="1" dirty="0">
                <a:solidFill>
                  <a:schemeClr val="bg1"/>
                </a:solidFill>
                <a:latin typeface="Segoe UI" panose="020B0502040204020203" pitchFamily="34" charset="0"/>
                <a:cs typeface="Segoe UI" panose="020B0502040204020203" pitchFamily="34" charset="0"/>
              </a:rPr>
              <a:t>!</a:t>
            </a:r>
            <a:endParaRPr lang="en-GB" sz="3200" dirty="0">
              <a:latin typeface="Segoe UI" panose="020B0502040204020203" pitchFamily="34" charset="0"/>
              <a:cs typeface="Segoe UI" panose="020B0502040204020203" pitchFamily="34" charset="0"/>
            </a:endParaRPr>
          </a:p>
        </p:txBody>
      </p:sp>
    </p:spTree>
    <p:extLst>
      <p:ext uri="{BB962C8B-B14F-4D97-AF65-F5344CB8AC3E}">
        <p14:creationId xmlns:p14="http://schemas.microsoft.com/office/powerpoint/2010/main" val="813137601"/>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09BAE46A-BBB0-57E5-D237-A5F3D41B6E4A}"/>
            </a:ext>
          </a:extLst>
        </p:cNvPr>
        <p:cNvGrpSpPr/>
        <p:nvPr/>
      </p:nvGrpSpPr>
      <p:grpSpPr>
        <a:xfrm>
          <a:off x="0" y="0"/>
          <a:ext cx="0" cy="0"/>
          <a:chOff x="0" y="0"/>
          <a:chExt cx="0" cy="0"/>
        </a:xfrm>
      </p:grpSpPr>
      <p:sp>
        <p:nvSpPr>
          <p:cNvPr id="2" name="Freeform 2">
            <a:extLst>
              <a:ext uri="{FF2B5EF4-FFF2-40B4-BE49-F238E27FC236}">
                <a16:creationId xmlns:a16="http://schemas.microsoft.com/office/drawing/2014/main" id="{4C24D0A4-2AE1-10D9-F811-989DE347E700}"/>
              </a:ext>
            </a:extLst>
          </p:cNvPr>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3"/>
            <a:stretch>
              <a:fillRect t="-9222" b="-9222"/>
            </a:stretch>
          </a:blipFill>
        </p:spPr>
        <p:txBody>
          <a:bodyPr/>
          <a:lstStyle/>
          <a:p>
            <a:endParaRPr lang="en-GB" sz="4400" dirty="0">
              <a:solidFill>
                <a:schemeClr val="bg1"/>
              </a:solidFill>
              <a:latin typeface="Comic Sans MS" panose="030F0702030302020204" pitchFamily="66" charset="0"/>
            </a:endParaRPr>
          </a:p>
        </p:txBody>
      </p:sp>
      <p:pic>
        <p:nvPicPr>
          <p:cNvPr id="18" name="Picture 17">
            <a:extLst>
              <a:ext uri="{FF2B5EF4-FFF2-40B4-BE49-F238E27FC236}">
                <a16:creationId xmlns:a16="http://schemas.microsoft.com/office/drawing/2014/main" id="{D2D14438-C410-693F-FDCC-1D9B21C55620}"/>
              </a:ext>
            </a:extLst>
          </p:cNvPr>
          <p:cNvPicPr>
            <a:picLocks noChangeAspect="1"/>
          </p:cNvPicPr>
          <p:nvPr/>
        </p:nvPicPr>
        <p:blipFill rotWithShape="1">
          <a:blip r:embed="rId4"/>
          <a:srcRect l="19756" t="18691" r="19454" b="41655"/>
          <a:stretch/>
        </p:blipFill>
        <p:spPr>
          <a:xfrm>
            <a:off x="16316104" y="381000"/>
            <a:ext cx="1812319" cy="760280"/>
          </a:xfrm>
          <a:prstGeom prst="roundRect">
            <a:avLst>
              <a:gd name="adj" fmla="val 8594"/>
            </a:avLst>
          </a:prstGeom>
          <a:solidFill>
            <a:srgbClr val="FFFFFF">
              <a:shade val="85000"/>
            </a:srgbClr>
          </a:solidFill>
          <a:ln>
            <a:noFill/>
          </a:ln>
          <a:effectLst>
            <a:reflection blurRad="12700" stA="38000" endPos="28000" dist="5000" dir="5400000" sy="-100000" algn="bl" rotWithShape="0"/>
          </a:effectLst>
        </p:spPr>
      </p:pic>
      <p:cxnSp>
        <p:nvCxnSpPr>
          <p:cNvPr id="21" name="Straight Connector 20">
            <a:extLst>
              <a:ext uri="{FF2B5EF4-FFF2-40B4-BE49-F238E27FC236}">
                <a16:creationId xmlns:a16="http://schemas.microsoft.com/office/drawing/2014/main" id="{EE965042-FB3D-F0EC-8EE7-93A5DAA73A16}"/>
              </a:ext>
            </a:extLst>
          </p:cNvPr>
          <p:cNvCxnSpPr>
            <a:cxnSpLocks/>
          </p:cNvCxnSpPr>
          <p:nvPr/>
        </p:nvCxnSpPr>
        <p:spPr>
          <a:xfrm flipV="1">
            <a:off x="1600200" y="1638300"/>
            <a:ext cx="14097000" cy="76200"/>
          </a:xfrm>
          <a:prstGeom prst="line">
            <a:avLst/>
          </a:prstGeom>
        </p:spPr>
        <p:style>
          <a:lnRef idx="3">
            <a:schemeClr val="dk1"/>
          </a:lnRef>
          <a:fillRef idx="0">
            <a:schemeClr val="dk1"/>
          </a:fillRef>
          <a:effectRef idx="2">
            <a:schemeClr val="dk1"/>
          </a:effectRef>
          <a:fontRef idx="minor">
            <a:schemeClr val="tx1"/>
          </a:fontRef>
        </p:style>
      </p:cxnSp>
      <p:sp>
        <p:nvSpPr>
          <p:cNvPr id="23" name="TextBox 22">
            <a:extLst>
              <a:ext uri="{FF2B5EF4-FFF2-40B4-BE49-F238E27FC236}">
                <a16:creationId xmlns:a16="http://schemas.microsoft.com/office/drawing/2014/main" id="{83884155-547A-1CBA-954E-FA16283F8E12}"/>
              </a:ext>
            </a:extLst>
          </p:cNvPr>
          <p:cNvSpPr txBox="1"/>
          <p:nvPr/>
        </p:nvSpPr>
        <p:spPr>
          <a:xfrm>
            <a:off x="1564341" y="834274"/>
            <a:ext cx="12067388" cy="707886"/>
          </a:xfrm>
          <a:prstGeom prst="rect">
            <a:avLst/>
          </a:prstGeom>
          <a:noFill/>
        </p:spPr>
        <p:txBody>
          <a:bodyPr wrap="square" rtlCol="0">
            <a:spAutoFit/>
          </a:bodyPr>
          <a:lstStyle/>
          <a:p>
            <a:r>
              <a:rPr lang="en-GB" sz="4000" dirty="0">
                <a:solidFill>
                  <a:schemeClr val="bg1"/>
                </a:solidFill>
                <a:latin typeface="Segoe UI Semibold" panose="020B0702040204020203" pitchFamily="34" charset="0"/>
                <a:cs typeface="Segoe UI Semibold" panose="020B0702040204020203" pitchFamily="34" charset="0"/>
              </a:rPr>
              <a:t>State-of-the-Art Performance</a:t>
            </a:r>
          </a:p>
        </p:txBody>
      </p:sp>
      <p:grpSp>
        <p:nvGrpSpPr>
          <p:cNvPr id="34" name="Group 33">
            <a:extLst>
              <a:ext uri="{FF2B5EF4-FFF2-40B4-BE49-F238E27FC236}">
                <a16:creationId xmlns:a16="http://schemas.microsoft.com/office/drawing/2014/main" id="{153BD818-6B0D-6302-3250-C5CE79551577}"/>
              </a:ext>
            </a:extLst>
          </p:cNvPr>
          <p:cNvGrpSpPr/>
          <p:nvPr/>
        </p:nvGrpSpPr>
        <p:grpSpPr>
          <a:xfrm>
            <a:off x="2286000" y="8953500"/>
            <a:ext cx="13258800" cy="838200"/>
            <a:chOff x="2286000" y="8953500"/>
            <a:chExt cx="13258800" cy="838200"/>
          </a:xfrm>
        </p:grpSpPr>
        <p:sp>
          <p:nvSpPr>
            <p:cNvPr id="45" name="Rectangle: Rounded Corners 44">
              <a:extLst>
                <a:ext uri="{FF2B5EF4-FFF2-40B4-BE49-F238E27FC236}">
                  <a16:creationId xmlns:a16="http://schemas.microsoft.com/office/drawing/2014/main" id="{F145A5D6-3E4C-3843-3A16-14604A246A5C}"/>
                </a:ext>
              </a:extLst>
            </p:cNvPr>
            <p:cNvSpPr/>
            <p:nvPr/>
          </p:nvSpPr>
          <p:spPr>
            <a:xfrm>
              <a:off x="2286000" y="8953500"/>
              <a:ext cx="13258800" cy="838200"/>
            </a:xfrm>
            <a:prstGeom prst="roundRect">
              <a:avLst/>
            </a:prstGeom>
            <a:solidFill>
              <a:schemeClr val="accent3">
                <a:alpha val="50000"/>
              </a:schemeClr>
            </a:solidFill>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style>
            <a:lnRef idx="0">
              <a:scrgbClr r="0" g="0" b="0"/>
            </a:lnRef>
            <a:fillRef idx="0">
              <a:scrgbClr r="0" g="0" b="0"/>
            </a:fillRef>
            <a:effectRef idx="0">
              <a:scrgbClr r="0" g="0" b="0"/>
            </a:effectRef>
            <a:fontRef idx="minor">
              <a:schemeClr val="lt1"/>
            </a:fontRef>
          </p:style>
          <p:txBody>
            <a:bodyPr rtlCol="0" anchor="ctr"/>
            <a:lstStyle/>
            <a:p>
              <a:pPr algn="ctr"/>
              <a:endParaRPr lang="en-GB"/>
            </a:p>
          </p:txBody>
        </p:sp>
        <p:sp>
          <p:nvSpPr>
            <p:cNvPr id="46" name="TextBox 45">
              <a:extLst>
                <a:ext uri="{FF2B5EF4-FFF2-40B4-BE49-F238E27FC236}">
                  <a16:creationId xmlns:a16="http://schemas.microsoft.com/office/drawing/2014/main" id="{83D27608-C7E0-3B7F-2183-5D0D278DC879}"/>
                </a:ext>
              </a:extLst>
            </p:cNvPr>
            <p:cNvSpPr txBox="1"/>
            <p:nvPr/>
          </p:nvSpPr>
          <p:spPr>
            <a:xfrm>
              <a:off x="2362200" y="9029700"/>
              <a:ext cx="13182600" cy="584775"/>
            </a:xfrm>
            <a:prstGeom prst="rect">
              <a:avLst/>
            </a:prstGeom>
            <a:noFill/>
          </p:spPr>
          <p:txBody>
            <a:bodyPr wrap="square" rtlCol="0">
              <a:spAutoFit/>
            </a:bodyPr>
            <a:lstStyle/>
            <a:p>
              <a:pPr algn="ctr"/>
              <a:r>
                <a:rPr lang="en-GB" sz="3200" i="1" dirty="0">
                  <a:solidFill>
                    <a:schemeClr val="bg1"/>
                  </a:solidFill>
                  <a:latin typeface="Segoe UI" panose="020B0502040204020203" pitchFamily="34" charset="0"/>
                  <a:cs typeface="Segoe UI" panose="020B0502040204020203" pitchFamily="34" charset="0"/>
                </a:rPr>
                <a:t>Best accuracy + Fastest speed simultaneously!</a:t>
              </a:r>
              <a:endParaRPr lang="en-GB" sz="3200" dirty="0">
                <a:latin typeface="Segoe UI" panose="020B0502040204020203" pitchFamily="34" charset="0"/>
                <a:cs typeface="Segoe UI" panose="020B0502040204020203" pitchFamily="34" charset="0"/>
              </a:endParaRPr>
            </a:p>
          </p:txBody>
        </p:sp>
      </p:grpSp>
      <p:grpSp>
        <p:nvGrpSpPr>
          <p:cNvPr id="33" name="Group 32">
            <a:extLst>
              <a:ext uri="{FF2B5EF4-FFF2-40B4-BE49-F238E27FC236}">
                <a16:creationId xmlns:a16="http://schemas.microsoft.com/office/drawing/2014/main" id="{041011E7-C020-65A6-C8C3-5C589CB3A28B}"/>
              </a:ext>
            </a:extLst>
          </p:cNvPr>
          <p:cNvGrpSpPr/>
          <p:nvPr/>
        </p:nvGrpSpPr>
        <p:grpSpPr>
          <a:xfrm>
            <a:off x="10201656" y="5676900"/>
            <a:ext cx="6193536" cy="2420240"/>
            <a:chOff x="10201656" y="5676900"/>
            <a:chExt cx="6193536" cy="2420240"/>
          </a:xfrm>
        </p:grpSpPr>
        <p:sp>
          <p:nvSpPr>
            <p:cNvPr id="9" name="Rectangle: Diagonal Corners Rounded 8">
              <a:extLst>
                <a:ext uri="{FF2B5EF4-FFF2-40B4-BE49-F238E27FC236}">
                  <a16:creationId xmlns:a16="http://schemas.microsoft.com/office/drawing/2014/main" id="{08A59E84-8519-C286-CD97-65D9CD3E9657}"/>
                </a:ext>
              </a:extLst>
            </p:cNvPr>
            <p:cNvSpPr/>
            <p:nvPr/>
          </p:nvSpPr>
          <p:spPr>
            <a:xfrm>
              <a:off x="10241280" y="5676900"/>
              <a:ext cx="6153912" cy="2420240"/>
            </a:xfrm>
            <a:prstGeom prst="round2DiagRect">
              <a:avLst/>
            </a:prstGeom>
            <a:solidFill>
              <a:schemeClr val="tx2">
                <a:lumMod val="50000"/>
              </a:schemeClr>
            </a:solidFill>
            <a:ln>
              <a:noFill/>
            </a:ln>
            <a:effectLst>
              <a:outerShdw blurRad="149987" dist="250190" dir="8460000" algn="ctr">
                <a:srgbClr val="000000">
                  <a:alpha val="28000"/>
                </a:srgbClr>
              </a:outerShdw>
            </a:effectLst>
            <a:scene3d>
              <a:camera prst="orthographicFront">
                <a:rot lat="0" lon="0" rev="0"/>
              </a:camera>
              <a:lightRig rig="contrasting" dir="t">
                <a:rot lat="0" lon="0" rev="1500000"/>
              </a:lightRig>
            </a:scene3d>
            <a:sp3d prstMaterial="metal">
              <a:bevelT w="88900" h="88900"/>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4" name="TextBox 13">
              <a:extLst>
                <a:ext uri="{FF2B5EF4-FFF2-40B4-BE49-F238E27FC236}">
                  <a16:creationId xmlns:a16="http://schemas.microsoft.com/office/drawing/2014/main" id="{5AB1EEAB-291E-BAF3-1085-CD5CF7359B91}"/>
                </a:ext>
              </a:extLst>
            </p:cNvPr>
            <p:cNvSpPr txBox="1"/>
            <p:nvPr/>
          </p:nvSpPr>
          <p:spPr>
            <a:xfrm>
              <a:off x="10201656" y="5736750"/>
              <a:ext cx="6153912" cy="2075055"/>
            </a:xfrm>
            <a:prstGeom prst="rect">
              <a:avLst/>
            </a:prstGeom>
            <a:noFill/>
          </p:spPr>
          <p:txBody>
            <a:bodyPr wrap="square" rtlCol="0">
              <a:spAutoFit/>
            </a:bodyPr>
            <a:lstStyle/>
            <a:p>
              <a:pPr algn="ctr">
                <a:lnSpc>
                  <a:spcPct val="150000"/>
                </a:lnSpc>
              </a:pPr>
              <a:r>
                <a:rPr lang="en-GB" sz="3600" b="1" dirty="0">
                  <a:solidFill>
                    <a:schemeClr val="bg1"/>
                  </a:solidFill>
                  <a:latin typeface="Segoe UI" panose="020B0502040204020203" pitchFamily="34" charset="0"/>
                  <a:cs typeface="Segoe UI" panose="020B0502040204020203" pitchFamily="34" charset="0"/>
                </a:rPr>
                <a:t>9/15</a:t>
              </a:r>
            </a:p>
            <a:p>
              <a:pPr algn="ctr">
                <a:lnSpc>
                  <a:spcPct val="150000"/>
                </a:lnSpc>
              </a:pPr>
              <a:r>
                <a:rPr lang="en-GB" sz="2800" dirty="0">
                  <a:solidFill>
                    <a:schemeClr val="bg1"/>
                  </a:solidFill>
                  <a:latin typeface="Segoe UI" panose="020B0502040204020203" pitchFamily="34" charset="0"/>
                  <a:cs typeface="Segoe UI" panose="020B0502040204020203" pitchFamily="34" charset="0"/>
                </a:rPr>
                <a:t>Best on </a:t>
              </a:r>
              <a:r>
                <a:rPr lang="en-GB" sz="2800" dirty="0" err="1">
                  <a:solidFill>
                    <a:schemeClr val="bg1"/>
                  </a:solidFill>
                  <a:latin typeface="Segoe UI" panose="020B0502040204020203" pitchFamily="34" charset="0"/>
                  <a:cs typeface="Segoe UI" panose="020B0502040204020203" pitchFamily="34" charset="0"/>
                </a:rPr>
                <a:t>MVTec</a:t>
              </a:r>
              <a:r>
                <a:rPr lang="en-GB" sz="2800" dirty="0">
                  <a:solidFill>
                    <a:schemeClr val="bg1"/>
                  </a:solidFill>
                  <a:latin typeface="Segoe UI" panose="020B0502040204020203" pitchFamily="34" charset="0"/>
                  <a:cs typeface="Segoe UI" panose="020B0502040204020203" pitchFamily="34" charset="0"/>
                </a:rPr>
                <a:t> Categories</a:t>
              </a:r>
            </a:p>
            <a:p>
              <a:pPr algn="ctr">
                <a:lnSpc>
                  <a:spcPct val="150000"/>
                </a:lnSpc>
              </a:pPr>
              <a:r>
                <a:rPr lang="en-GB" sz="2500" dirty="0">
                  <a:solidFill>
                    <a:schemeClr val="bg1"/>
                  </a:solidFill>
                  <a:latin typeface="Segoe UI" panose="020B0502040204020203" pitchFamily="34" charset="0"/>
                  <a:cs typeface="Segoe UI" panose="020B0502040204020203" pitchFamily="34" charset="0"/>
                </a:rPr>
                <a:t>100% on hazelnut, metal nut, wood</a:t>
              </a:r>
            </a:p>
          </p:txBody>
        </p:sp>
      </p:grpSp>
      <p:grpSp>
        <p:nvGrpSpPr>
          <p:cNvPr id="30" name="Group 29">
            <a:extLst>
              <a:ext uri="{FF2B5EF4-FFF2-40B4-BE49-F238E27FC236}">
                <a16:creationId xmlns:a16="http://schemas.microsoft.com/office/drawing/2014/main" id="{2BA83463-7516-C1E7-5F3B-42CB9412A57D}"/>
              </a:ext>
            </a:extLst>
          </p:cNvPr>
          <p:cNvGrpSpPr/>
          <p:nvPr/>
        </p:nvGrpSpPr>
        <p:grpSpPr>
          <a:xfrm>
            <a:off x="1645920" y="2200528"/>
            <a:ext cx="6306312" cy="2620012"/>
            <a:chOff x="1645920" y="2200528"/>
            <a:chExt cx="6306312" cy="2620012"/>
          </a:xfrm>
        </p:grpSpPr>
        <p:sp>
          <p:nvSpPr>
            <p:cNvPr id="24" name="Rectangle: Diagonal Corners Rounded 23">
              <a:extLst>
                <a:ext uri="{FF2B5EF4-FFF2-40B4-BE49-F238E27FC236}">
                  <a16:creationId xmlns:a16="http://schemas.microsoft.com/office/drawing/2014/main" id="{C16126C9-C152-4DB7-D659-96D258999910}"/>
                </a:ext>
              </a:extLst>
            </p:cNvPr>
            <p:cNvSpPr/>
            <p:nvPr/>
          </p:nvSpPr>
          <p:spPr>
            <a:xfrm>
              <a:off x="1752600" y="2200528"/>
              <a:ext cx="6153912" cy="2420240"/>
            </a:xfrm>
            <a:prstGeom prst="round2DiagRect">
              <a:avLst/>
            </a:prstGeom>
            <a:solidFill>
              <a:schemeClr val="tx2">
                <a:lumMod val="50000"/>
              </a:schemeClr>
            </a:solidFill>
            <a:ln>
              <a:noFill/>
            </a:ln>
            <a:effectLst>
              <a:outerShdw blurRad="149987" dist="250190" dir="8460000" algn="ctr">
                <a:srgbClr val="000000">
                  <a:alpha val="28000"/>
                </a:srgbClr>
              </a:outerShdw>
            </a:effectLst>
            <a:scene3d>
              <a:camera prst="orthographicFront">
                <a:rot lat="0" lon="0" rev="0"/>
              </a:camera>
              <a:lightRig rig="contrasting" dir="t">
                <a:rot lat="0" lon="0" rev="1500000"/>
              </a:lightRig>
            </a:scene3d>
            <a:sp3d prstMaterial="metal">
              <a:bevelT w="88900" h="88900"/>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6" name="TextBox 25">
              <a:extLst>
                <a:ext uri="{FF2B5EF4-FFF2-40B4-BE49-F238E27FC236}">
                  <a16:creationId xmlns:a16="http://schemas.microsoft.com/office/drawing/2014/main" id="{2F01AB1F-46E8-4D5A-90A8-67CAD60CA6FE}"/>
                </a:ext>
              </a:extLst>
            </p:cNvPr>
            <p:cNvSpPr txBox="1"/>
            <p:nvPr/>
          </p:nvSpPr>
          <p:spPr>
            <a:xfrm>
              <a:off x="1645920" y="2265995"/>
              <a:ext cx="6306312" cy="2554545"/>
            </a:xfrm>
            <a:prstGeom prst="rect">
              <a:avLst/>
            </a:prstGeom>
            <a:noFill/>
          </p:spPr>
          <p:txBody>
            <a:bodyPr wrap="square" rtlCol="0">
              <a:spAutoFit/>
            </a:bodyPr>
            <a:lstStyle/>
            <a:p>
              <a:pPr algn="ctr">
                <a:lnSpc>
                  <a:spcPct val="150000"/>
                </a:lnSpc>
              </a:pPr>
              <a:r>
                <a:rPr lang="en-GB" sz="3600" b="1" dirty="0">
                  <a:solidFill>
                    <a:schemeClr val="bg1"/>
                  </a:solidFill>
                  <a:latin typeface="Segoe UI" panose="020B0502040204020203" pitchFamily="34" charset="0"/>
                  <a:cs typeface="Segoe UI" panose="020B0502040204020203" pitchFamily="34" charset="0"/>
                </a:rPr>
                <a:t>99.6%</a:t>
              </a:r>
            </a:p>
            <a:p>
              <a:pPr algn="ctr">
                <a:lnSpc>
                  <a:spcPct val="150000"/>
                </a:lnSpc>
              </a:pPr>
              <a:r>
                <a:rPr lang="en-GB" sz="2800" dirty="0">
                  <a:solidFill>
                    <a:schemeClr val="bg1"/>
                  </a:solidFill>
                  <a:latin typeface="Segoe UI" panose="020B0502040204020203" pitchFamily="34" charset="0"/>
                  <a:cs typeface="Segoe UI" panose="020B0502040204020203" pitchFamily="34" charset="0"/>
                </a:rPr>
                <a:t>Detection AUROC</a:t>
              </a:r>
            </a:p>
            <a:p>
              <a:pPr algn="ctr">
                <a:lnSpc>
                  <a:spcPct val="150000"/>
                </a:lnSpc>
              </a:pPr>
              <a:r>
                <a:rPr lang="en-GB" sz="2500" dirty="0">
                  <a:solidFill>
                    <a:schemeClr val="bg1"/>
                  </a:solidFill>
                  <a:latin typeface="Segoe UI" panose="020B0502040204020203" pitchFamily="34" charset="0"/>
                  <a:cs typeface="Segoe UI" panose="020B0502040204020203" pitchFamily="34" charset="0"/>
                </a:rPr>
                <a:t>↑ 55.5% error reduction vs. </a:t>
              </a:r>
              <a:r>
                <a:rPr lang="en-GB" sz="2500" dirty="0" err="1">
                  <a:solidFill>
                    <a:schemeClr val="bg1"/>
                  </a:solidFill>
                  <a:latin typeface="Segoe UI" panose="020B0502040204020203" pitchFamily="34" charset="0"/>
                  <a:cs typeface="Segoe UI" panose="020B0502040204020203" pitchFamily="34" charset="0"/>
                </a:rPr>
                <a:t>PatchCore</a:t>
              </a:r>
              <a:endParaRPr lang="en-GB" sz="2500" dirty="0">
                <a:solidFill>
                  <a:schemeClr val="bg1"/>
                </a:solidFill>
                <a:latin typeface="Segoe UI" panose="020B0502040204020203" pitchFamily="34" charset="0"/>
                <a:cs typeface="Segoe UI" panose="020B0502040204020203" pitchFamily="34" charset="0"/>
              </a:endParaRPr>
            </a:p>
            <a:p>
              <a:endParaRPr lang="en-GB" sz="2800" dirty="0">
                <a:solidFill>
                  <a:schemeClr val="bg1"/>
                </a:solidFill>
              </a:endParaRPr>
            </a:p>
          </p:txBody>
        </p:sp>
      </p:grpSp>
      <p:grpSp>
        <p:nvGrpSpPr>
          <p:cNvPr id="32" name="Group 31">
            <a:extLst>
              <a:ext uri="{FF2B5EF4-FFF2-40B4-BE49-F238E27FC236}">
                <a16:creationId xmlns:a16="http://schemas.microsoft.com/office/drawing/2014/main" id="{646C252E-1A3D-A31D-0DDD-60DCED79109C}"/>
              </a:ext>
            </a:extLst>
          </p:cNvPr>
          <p:cNvGrpSpPr/>
          <p:nvPr/>
        </p:nvGrpSpPr>
        <p:grpSpPr>
          <a:xfrm>
            <a:off x="10161712" y="2200528"/>
            <a:ext cx="6154392" cy="2420240"/>
            <a:chOff x="10161712" y="2200528"/>
            <a:chExt cx="6154392" cy="2420240"/>
          </a:xfrm>
        </p:grpSpPr>
        <p:sp>
          <p:nvSpPr>
            <p:cNvPr id="22" name="Rectangle: Diagonal Corners Rounded 21">
              <a:extLst>
                <a:ext uri="{FF2B5EF4-FFF2-40B4-BE49-F238E27FC236}">
                  <a16:creationId xmlns:a16="http://schemas.microsoft.com/office/drawing/2014/main" id="{55B77836-54C8-318F-604F-3DA0A27C8724}"/>
                </a:ext>
              </a:extLst>
            </p:cNvPr>
            <p:cNvSpPr/>
            <p:nvPr/>
          </p:nvSpPr>
          <p:spPr>
            <a:xfrm>
              <a:off x="10162192" y="2200528"/>
              <a:ext cx="6153912" cy="2420240"/>
            </a:xfrm>
            <a:prstGeom prst="round2DiagRect">
              <a:avLst/>
            </a:prstGeom>
            <a:solidFill>
              <a:schemeClr val="accent1">
                <a:lumMod val="50000"/>
              </a:schemeClr>
            </a:solidFill>
            <a:ln>
              <a:noFill/>
            </a:ln>
            <a:effectLst>
              <a:outerShdw blurRad="149987" dist="250190" dir="8460000" algn="ctr">
                <a:srgbClr val="000000">
                  <a:alpha val="28000"/>
                </a:srgbClr>
              </a:outerShdw>
            </a:effectLst>
            <a:scene3d>
              <a:camera prst="orthographicFront">
                <a:rot lat="0" lon="0" rev="0"/>
              </a:camera>
              <a:lightRig rig="contrasting" dir="t">
                <a:rot lat="0" lon="0" rev="1500000"/>
              </a:lightRig>
            </a:scene3d>
            <a:sp3d prstMaterial="metal">
              <a:bevelT w="88900" h="88900"/>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8" name="TextBox 27">
              <a:extLst>
                <a:ext uri="{FF2B5EF4-FFF2-40B4-BE49-F238E27FC236}">
                  <a16:creationId xmlns:a16="http://schemas.microsoft.com/office/drawing/2014/main" id="{CCDF2B7A-11E5-769C-AD4B-EB56B58E47B9}"/>
                </a:ext>
              </a:extLst>
            </p:cNvPr>
            <p:cNvSpPr txBox="1"/>
            <p:nvPr/>
          </p:nvSpPr>
          <p:spPr>
            <a:xfrm>
              <a:off x="10161712" y="2285694"/>
              <a:ext cx="6074824" cy="2075055"/>
            </a:xfrm>
            <a:prstGeom prst="rect">
              <a:avLst/>
            </a:prstGeom>
            <a:noFill/>
          </p:spPr>
          <p:txBody>
            <a:bodyPr wrap="square" rtlCol="0">
              <a:spAutoFit/>
            </a:bodyPr>
            <a:lstStyle/>
            <a:p>
              <a:pPr algn="ctr">
                <a:lnSpc>
                  <a:spcPct val="150000"/>
                </a:lnSpc>
              </a:pPr>
              <a:r>
                <a:rPr lang="en-GB" sz="3600" b="1" dirty="0">
                  <a:solidFill>
                    <a:schemeClr val="bg1"/>
                  </a:solidFill>
                  <a:latin typeface="Segoe UI" panose="020B0502040204020203" pitchFamily="34" charset="0"/>
                  <a:cs typeface="Segoe UI" panose="020B0502040204020203" pitchFamily="34" charset="0"/>
                </a:rPr>
                <a:t>98.1%</a:t>
              </a:r>
            </a:p>
            <a:p>
              <a:pPr algn="ctr">
                <a:lnSpc>
                  <a:spcPct val="150000"/>
                </a:lnSpc>
              </a:pPr>
              <a:r>
                <a:rPr lang="en-GB" sz="2800" dirty="0">
                  <a:solidFill>
                    <a:schemeClr val="bg1"/>
                  </a:solidFill>
                  <a:latin typeface="Segoe UI" panose="020B0502040204020203" pitchFamily="34" charset="0"/>
                  <a:cs typeface="Segoe UI" panose="020B0502040204020203" pitchFamily="34" charset="0"/>
                </a:rPr>
                <a:t>Localization AUROC</a:t>
              </a:r>
            </a:p>
            <a:p>
              <a:pPr algn="ctr">
                <a:lnSpc>
                  <a:spcPct val="150000"/>
                </a:lnSpc>
              </a:pPr>
              <a:r>
                <a:rPr lang="en-GB" sz="2500" dirty="0">
                  <a:solidFill>
                    <a:schemeClr val="bg1"/>
                  </a:solidFill>
                  <a:latin typeface="Segoe UI" panose="020B0502040204020203" pitchFamily="34" charset="0"/>
                  <a:cs typeface="Segoe UI" panose="020B0502040204020203" pitchFamily="34" charset="0"/>
                </a:rPr>
                <a:t>Precise pixel-level defect maps</a:t>
              </a:r>
            </a:p>
          </p:txBody>
        </p:sp>
      </p:grpSp>
      <p:grpSp>
        <p:nvGrpSpPr>
          <p:cNvPr id="31" name="Group 30">
            <a:extLst>
              <a:ext uri="{FF2B5EF4-FFF2-40B4-BE49-F238E27FC236}">
                <a16:creationId xmlns:a16="http://schemas.microsoft.com/office/drawing/2014/main" id="{7E1039CD-49B2-9C35-8F38-77EF597E315C}"/>
              </a:ext>
            </a:extLst>
          </p:cNvPr>
          <p:cNvGrpSpPr/>
          <p:nvPr/>
        </p:nvGrpSpPr>
        <p:grpSpPr>
          <a:xfrm>
            <a:off x="1722120" y="5684520"/>
            <a:ext cx="6153912" cy="2420240"/>
            <a:chOff x="1722120" y="5684520"/>
            <a:chExt cx="6153912" cy="2420240"/>
          </a:xfrm>
        </p:grpSpPr>
        <p:sp>
          <p:nvSpPr>
            <p:cNvPr id="19" name="Rectangle: Diagonal Corners Rounded 18">
              <a:extLst>
                <a:ext uri="{FF2B5EF4-FFF2-40B4-BE49-F238E27FC236}">
                  <a16:creationId xmlns:a16="http://schemas.microsoft.com/office/drawing/2014/main" id="{9A96E21B-DA20-74DA-5DCB-5638CD78A9BF}"/>
                </a:ext>
              </a:extLst>
            </p:cNvPr>
            <p:cNvSpPr/>
            <p:nvPr/>
          </p:nvSpPr>
          <p:spPr>
            <a:xfrm>
              <a:off x="1722120" y="5684520"/>
              <a:ext cx="6153912" cy="2420240"/>
            </a:xfrm>
            <a:prstGeom prst="round2DiagRect">
              <a:avLst/>
            </a:prstGeom>
            <a:solidFill>
              <a:schemeClr val="accent1">
                <a:lumMod val="50000"/>
              </a:schemeClr>
            </a:solidFill>
            <a:ln>
              <a:noFill/>
            </a:ln>
            <a:effectLst>
              <a:outerShdw blurRad="149987" dist="250190" dir="8460000" algn="ctr">
                <a:srgbClr val="000000">
                  <a:alpha val="28000"/>
                </a:srgbClr>
              </a:outerShdw>
            </a:effectLst>
            <a:scene3d>
              <a:camera prst="orthographicFront">
                <a:rot lat="0" lon="0" rev="0"/>
              </a:camera>
              <a:lightRig rig="contrasting" dir="t">
                <a:rot lat="0" lon="0" rev="1500000"/>
              </a:lightRig>
            </a:scene3d>
            <a:sp3d prstMaterial="metal">
              <a:bevelT w="88900" h="88900"/>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9" name="TextBox 28">
              <a:extLst>
                <a:ext uri="{FF2B5EF4-FFF2-40B4-BE49-F238E27FC236}">
                  <a16:creationId xmlns:a16="http://schemas.microsoft.com/office/drawing/2014/main" id="{EB574F55-E73D-1FDC-0DF2-96FE15AA400A}"/>
                </a:ext>
              </a:extLst>
            </p:cNvPr>
            <p:cNvSpPr txBox="1"/>
            <p:nvPr/>
          </p:nvSpPr>
          <p:spPr>
            <a:xfrm>
              <a:off x="1722120" y="5736750"/>
              <a:ext cx="6114288" cy="2075055"/>
            </a:xfrm>
            <a:prstGeom prst="rect">
              <a:avLst/>
            </a:prstGeom>
            <a:noFill/>
          </p:spPr>
          <p:txBody>
            <a:bodyPr wrap="square" rtlCol="0">
              <a:spAutoFit/>
            </a:bodyPr>
            <a:lstStyle/>
            <a:p>
              <a:pPr algn="ctr">
                <a:lnSpc>
                  <a:spcPct val="150000"/>
                </a:lnSpc>
              </a:pPr>
              <a:r>
                <a:rPr lang="en-GB" sz="3600" b="1" dirty="0">
                  <a:solidFill>
                    <a:schemeClr val="bg1"/>
                  </a:solidFill>
                  <a:latin typeface="Segoe UI" panose="020B0502040204020203" pitchFamily="34" charset="0"/>
                  <a:cs typeface="Segoe UI" panose="020B0502040204020203" pitchFamily="34" charset="0"/>
                </a:rPr>
                <a:t>77 FPS</a:t>
              </a:r>
            </a:p>
            <a:p>
              <a:pPr algn="ctr">
                <a:lnSpc>
                  <a:spcPct val="150000"/>
                </a:lnSpc>
              </a:pPr>
              <a:r>
                <a:rPr lang="en-GB" sz="2800" dirty="0">
                  <a:solidFill>
                    <a:schemeClr val="bg1"/>
                  </a:solidFill>
                  <a:latin typeface="Segoe UI" panose="020B0502040204020203" pitchFamily="34" charset="0"/>
                  <a:cs typeface="Segoe UI" panose="020B0502040204020203" pitchFamily="34" charset="0"/>
                </a:rPr>
                <a:t>Inference Speed</a:t>
              </a:r>
            </a:p>
            <a:p>
              <a:pPr algn="ctr">
                <a:lnSpc>
                  <a:spcPct val="150000"/>
                </a:lnSpc>
              </a:pPr>
              <a:r>
                <a:rPr lang="en-GB" sz="2500" dirty="0">
                  <a:solidFill>
                    <a:schemeClr val="bg1"/>
                  </a:solidFill>
                  <a:latin typeface="Segoe UI" panose="020B0502040204020203" pitchFamily="34" charset="0"/>
                  <a:cs typeface="Segoe UI" panose="020B0502040204020203" pitchFamily="34" charset="0"/>
                </a:rPr>
                <a:t>8× faster than </a:t>
              </a:r>
              <a:r>
                <a:rPr lang="en-GB" sz="2500" dirty="0" err="1">
                  <a:solidFill>
                    <a:schemeClr val="bg1"/>
                  </a:solidFill>
                  <a:latin typeface="Segoe UI" panose="020B0502040204020203" pitchFamily="34" charset="0"/>
                  <a:cs typeface="Segoe UI" panose="020B0502040204020203" pitchFamily="34" charset="0"/>
                </a:rPr>
                <a:t>PatchCore</a:t>
              </a:r>
              <a:endParaRPr lang="en-GB" sz="2500" dirty="0">
                <a:solidFill>
                  <a:schemeClr val="bg1"/>
                </a:solidFill>
                <a:latin typeface="Segoe UI" panose="020B0502040204020203" pitchFamily="34" charset="0"/>
                <a:cs typeface="Segoe UI" panose="020B0502040204020203" pitchFamily="34" charset="0"/>
              </a:endParaRPr>
            </a:p>
          </p:txBody>
        </p:sp>
      </p:grpSp>
    </p:spTree>
    <p:extLst>
      <p:ext uri="{BB962C8B-B14F-4D97-AF65-F5344CB8AC3E}">
        <p14:creationId xmlns:p14="http://schemas.microsoft.com/office/powerpoint/2010/main" val="1881433773"/>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0"/>
                                        </p:tgtEl>
                                        <p:attrNameLst>
                                          <p:attrName>style.visibility</p:attrName>
                                        </p:attrNameLst>
                                      </p:cBhvr>
                                      <p:to>
                                        <p:strVal val="visible"/>
                                      </p:to>
                                    </p:set>
                                    <p:anim calcmode="lin" valueType="num">
                                      <p:cBhvr additive="base">
                                        <p:cTn id="7" dur="500" fill="hold"/>
                                        <p:tgtEl>
                                          <p:spTgt spid="30"/>
                                        </p:tgtEl>
                                        <p:attrNameLst>
                                          <p:attrName>ppt_x</p:attrName>
                                        </p:attrNameLst>
                                      </p:cBhvr>
                                      <p:tavLst>
                                        <p:tav tm="0">
                                          <p:val>
                                            <p:strVal val="#ppt_x"/>
                                          </p:val>
                                        </p:tav>
                                        <p:tav tm="100000">
                                          <p:val>
                                            <p:strVal val="#ppt_x"/>
                                          </p:val>
                                        </p:tav>
                                      </p:tavLst>
                                    </p:anim>
                                    <p:anim calcmode="lin" valueType="num">
                                      <p:cBhvr additive="base">
                                        <p:cTn id="8" dur="500" fill="hold"/>
                                        <p:tgtEl>
                                          <p:spTgt spid="30"/>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10" presetClass="entr" presetSubtype="0" fill="hold" nodeType="clickEffect">
                                  <p:stCondLst>
                                    <p:cond delay="0"/>
                                  </p:stCondLst>
                                  <p:childTnLst>
                                    <p:set>
                                      <p:cBhvr>
                                        <p:cTn id="12" dur="1" fill="hold">
                                          <p:stCondLst>
                                            <p:cond delay="0"/>
                                          </p:stCondLst>
                                        </p:cTn>
                                        <p:tgtEl>
                                          <p:spTgt spid="32"/>
                                        </p:tgtEl>
                                        <p:attrNameLst>
                                          <p:attrName>style.visibility</p:attrName>
                                        </p:attrNameLst>
                                      </p:cBhvr>
                                      <p:to>
                                        <p:strVal val="visible"/>
                                      </p:to>
                                    </p:set>
                                    <p:animEffect transition="in" filter="fade">
                                      <p:cBhvr>
                                        <p:cTn id="13" dur="500"/>
                                        <p:tgtEl>
                                          <p:spTgt spid="32"/>
                                        </p:tgtEl>
                                      </p:cBhvr>
                                    </p:animEffect>
                                  </p:childTnLst>
                                </p:cTn>
                              </p:par>
                            </p:childTnLst>
                          </p:cTn>
                        </p:par>
                      </p:childTnLst>
                    </p:cTn>
                  </p:par>
                  <p:par>
                    <p:cTn id="14" fill="hold">
                      <p:stCondLst>
                        <p:cond delay="indefinite"/>
                      </p:stCondLst>
                      <p:childTnLst>
                        <p:par>
                          <p:cTn id="15" fill="hold">
                            <p:stCondLst>
                              <p:cond delay="0"/>
                            </p:stCondLst>
                            <p:childTnLst>
                              <p:par>
                                <p:cTn id="16" presetID="10" presetClass="entr" presetSubtype="0" fill="hold" nodeType="clickEffect">
                                  <p:stCondLst>
                                    <p:cond delay="0"/>
                                  </p:stCondLst>
                                  <p:childTnLst>
                                    <p:set>
                                      <p:cBhvr>
                                        <p:cTn id="17" dur="1" fill="hold">
                                          <p:stCondLst>
                                            <p:cond delay="0"/>
                                          </p:stCondLst>
                                        </p:cTn>
                                        <p:tgtEl>
                                          <p:spTgt spid="31"/>
                                        </p:tgtEl>
                                        <p:attrNameLst>
                                          <p:attrName>style.visibility</p:attrName>
                                        </p:attrNameLst>
                                      </p:cBhvr>
                                      <p:to>
                                        <p:strVal val="visible"/>
                                      </p:to>
                                    </p:set>
                                    <p:animEffect transition="in" filter="fade">
                                      <p:cBhvr>
                                        <p:cTn id="18" dur="500"/>
                                        <p:tgtEl>
                                          <p:spTgt spid="31"/>
                                        </p:tgtEl>
                                      </p:cBhvr>
                                    </p:animEffect>
                                  </p:childTnLst>
                                </p:cTn>
                              </p:par>
                            </p:childTnLst>
                          </p:cTn>
                        </p:par>
                      </p:childTnLst>
                    </p:cTn>
                  </p:par>
                  <p:par>
                    <p:cTn id="19" fill="hold">
                      <p:stCondLst>
                        <p:cond delay="indefinite"/>
                      </p:stCondLst>
                      <p:childTnLst>
                        <p:par>
                          <p:cTn id="20" fill="hold">
                            <p:stCondLst>
                              <p:cond delay="0"/>
                            </p:stCondLst>
                            <p:childTnLst>
                              <p:par>
                                <p:cTn id="21" presetID="2" presetClass="entr" presetSubtype="4" fill="hold" nodeType="clickEffect">
                                  <p:stCondLst>
                                    <p:cond delay="0"/>
                                  </p:stCondLst>
                                  <p:childTnLst>
                                    <p:set>
                                      <p:cBhvr>
                                        <p:cTn id="22" dur="1" fill="hold">
                                          <p:stCondLst>
                                            <p:cond delay="0"/>
                                          </p:stCondLst>
                                        </p:cTn>
                                        <p:tgtEl>
                                          <p:spTgt spid="33"/>
                                        </p:tgtEl>
                                        <p:attrNameLst>
                                          <p:attrName>style.visibility</p:attrName>
                                        </p:attrNameLst>
                                      </p:cBhvr>
                                      <p:to>
                                        <p:strVal val="visible"/>
                                      </p:to>
                                    </p:set>
                                    <p:anim calcmode="lin" valueType="num">
                                      <p:cBhvr additive="base">
                                        <p:cTn id="23" dur="500" fill="hold"/>
                                        <p:tgtEl>
                                          <p:spTgt spid="33"/>
                                        </p:tgtEl>
                                        <p:attrNameLst>
                                          <p:attrName>ppt_x</p:attrName>
                                        </p:attrNameLst>
                                      </p:cBhvr>
                                      <p:tavLst>
                                        <p:tav tm="0">
                                          <p:val>
                                            <p:strVal val="#ppt_x"/>
                                          </p:val>
                                        </p:tav>
                                        <p:tav tm="100000">
                                          <p:val>
                                            <p:strVal val="#ppt_x"/>
                                          </p:val>
                                        </p:tav>
                                      </p:tavLst>
                                    </p:anim>
                                    <p:anim calcmode="lin" valueType="num">
                                      <p:cBhvr additive="base">
                                        <p:cTn id="24" dur="500" fill="hold"/>
                                        <p:tgtEl>
                                          <p:spTgt spid="33"/>
                                        </p:tgtEl>
                                        <p:attrNameLst>
                                          <p:attrName>ppt_y</p:attrName>
                                        </p:attrNameLst>
                                      </p:cBhvr>
                                      <p:tavLst>
                                        <p:tav tm="0">
                                          <p:val>
                                            <p:strVal val="1+#ppt_h/2"/>
                                          </p:val>
                                        </p:tav>
                                        <p:tav tm="100000">
                                          <p:val>
                                            <p:strVal val="#ppt_y"/>
                                          </p:val>
                                        </p:tav>
                                      </p:tavLst>
                                    </p:anim>
                                  </p:childTnLst>
                                </p:cTn>
                              </p:par>
                            </p:childTnLst>
                          </p:cTn>
                        </p:par>
                      </p:childTnLst>
                    </p:cTn>
                  </p:par>
                  <p:par>
                    <p:cTn id="25" fill="hold">
                      <p:stCondLst>
                        <p:cond delay="indefinite"/>
                      </p:stCondLst>
                      <p:childTnLst>
                        <p:par>
                          <p:cTn id="26" fill="hold">
                            <p:stCondLst>
                              <p:cond delay="0"/>
                            </p:stCondLst>
                            <p:childTnLst>
                              <p:par>
                                <p:cTn id="27" presetID="2" presetClass="entr" presetSubtype="4" fill="hold" nodeType="clickEffect">
                                  <p:stCondLst>
                                    <p:cond delay="0"/>
                                  </p:stCondLst>
                                  <p:childTnLst>
                                    <p:set>
                                      <p:cBhvr>
                                        <p:cTn id="28" dur="1" fill="hold">
                                          <p:stCondLst>
                                            <p:cond delay="0"/>
                                          </p:stCondLst>
                                        </p:cTn>
                                        <p:tgtEl>
                                          <p:spTgt spid="34"/>
                                        </p:tgtEl>
                                        <p:attrNameLst>
                                          <p:attrName>style.visibility</p:attrName>
                                        </p:attrNameLst>
                                      </p:cBhvr>
                                      <p:to>
                                        <p:strVal val="visible"/>
                                      </p:to>
                                    </p:set>
                                    <p:anim calcmode="lin" valueType="num">
                                      <p:cBhvr additive="base">
                                        <p:cTn id="29" dur="250" fill="hold"/>
                                        <p:tgtEl>
                                          <p:spTgt spid="34"/>
                                        </p:tgtEl>
                                        <p:attrNameLst>
                                          <p:attrName>ppt_x</p:attrName>
                                        </p:attrNameLst>
                                      </p:cBhvr>
                                      <p:tavLst>
                                        <p:tav tm="0">
                                          <p:val>
                                            <p:strVal val="#ppt_x"/>
                                          </p:val>
                                        </p:tav>
                                        <p:tav tm="100000">
                                          <p:val>
                                            <p:strVal val="#ppt_x"/>
                                          </p:val>
                                        </p:tav>
                                      </p:tavLst>
                                    </p:anim>
                                    <p:anim calcmode="lin" valueType="num">
                                      <p:cBhvr additive="base">
                                        <p:cTn id="30" dur="250" fill="hold"/>
                                        <p:tgtEl>
                                          <p:spTgt spid="34"/>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F0BC60EC-13A1-8555-5C98-76833DA7B9DE}"/>
            </a:ext>
          </a:extLst>
        </p:cNvPr>
        <p:cNvGrpSpPr/>
        <p:nvPr/>
      </p:nvGrpSpPr>
      <p:grpSpPr>
        <a:xfrm>
          <a:off x="0" y="0"/>
          <a:ext cx="0" cy="0"/>
          <a:chOff x="0" y="0"/>
          <a:chExt cx="0" cy="0"/>
        </a:xfrm>
      </p:grpSpPr>
      <p:sp>
        <p:nvSpPr>
          <p:cNvPr id="2" name="Freeform 2">
            <a:extLst>
              <a:ext uri="{FF2B5EF4-FFF2-40B4-BE49-F238E27FC236}">
                <a16:creationId xmlns:a16="http://schemas.microsoft.com/office/drawing/2014/main" id="{216F91C1-BEF0-1FF3-FEEF-8CC4E2302384}"/>
              </a:ext>
            </a:extLst>
          </p:cNvPr>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3"/>
            <a:stretch>
              <a:fillRect t="-9222" b="-9222"/>
            </a:stretch>
          </a:blipFill>
        </p:spPr>
        <p:txBody>
          <a:bodyPr/>
          <a:lstStyle/>
          <a:p>
            <a:endParaRPr lang="en-GB" sz="4400" dirty="0">
              <a:solidFill>
                <a:schemeClr val="bg1"/>
              </a:solidFill>
              <a:latin typeface="Comic Sans MS" panose="030F0702030302020204" pitchFamily="66" charset="0"/>
            </a:endParaRPr>
          </a:p>
        </p:txBody>
      </p:sp>
      <p:pic>
        <p:nvPicPr>
          <p:cNvPr id="18" name="Picture 17">
            <a:extLst>
              <a:ext uri="{FF2B5EF4-FFF2-40B4-BE49-F238E27FC236}">
                <a16:creationId xmlns:a16="http://schemas.microsoft.com/office/drawing/2014/main" id="{7E4C0F26-CACC-0EC1-EA77-DD410CCB45AB}"/>
              </a:ext>
            </a:extLst>
          </p:cNvPr>
          <p:cNvPicPr>
            <a:picLocks noChangeAspect="1"/>
          </p:cNvPicPr>
          <p:nvPr/>
        </p:nvPicPr>
        <p:blipFill rotWithShape="1">
          <a:blip r:embed="rId4"/>
          <a:srcRect l="19756" t="18691" r="19454" b="41655"/>
          <a:stretch/>
        </p:blipFill>
        <p:spPr>
          <a:xfrm>
            <a:off x="16316104" y="394716"/>
            <a:ext cx="1812319" cy="760280"/>
          </a:xfrm>
          <a:prstGeom prst="roundRect">
            <a:avLst>
              <a:gd name="adj" fmla="val 8594"/>
            </a:avLst>
          </a:prstGeom>
          <a:solidFill>
            <a:srgbClr val="FFFFFF">
              <a:shade val="85000"/>
            </a:srgbClr>
          </a:solidFill>
          <a:ln>
            <a:noFill/>
          </a:ln>
          <a:effectLst>
            <a:reflection blurRad="12700" stA="38000" endPos="28000" dist="5000" dir="5400000" sy="-100000" algn="bl" rotWithShape="0"/>
          </a:effectLst>
        </p:spPr>
      </p:pic>
      <p:cxnSp>
        <p:nvCxnSpPr>
          <p:cNvPr id="21" name="Straight Connector 20">
            <a:extLst>
              <a:ext uri="{FF2B5EF4-FFF2-40B4-BE49-F238E27FC236}">
                <a16:creationId xmlns:a16="http://schemas.microsoft.com/office/drawing/2014/main" id="{84C18EEC-A29C-9CBE-5AE4-876EB0BEDCB1}"/>
              </a:ext>
            </a:extLst>
          </p:cNvPr>
          <p:cNvCxnSpPr>
            <a:cxnSpLocks/>
          </p:cNvCxnSpPr>
          <p:nvPr/>
        </p:nvCxnSpPr>
        <p:spPr>
          <a:xfrm flipV="1">
            <a:off x="1600200" y="1652016"/>
            <a:ext cx="14173200" cy="76200"/>
          </a:xfrm>
          <a:prstGeom prst="line">
            <a:avLst/>
          </a:prstGeom>
        </p:spPr>
        <p:style>
          <a:lnRef idx="3">
            <a:schemeClr val="dk1"/>
          </a:lnRef>
          <a:fillRef idx="0">
            <a:schemeClr val="dk1"/>
          </a:fillRef>
          <a:effectRef idx="2">
            <a:schemeClr val="dk1"/>
          </a:effectRef>
          <a:fontRef idx="minor">
            <a:schemeClr val="tx1"/>
          </a:fontRef>
        </p:style>
      </p:cxnSp>
      <p:sp>
        <p:nvSpPr>
          <p:cNvPr id="23" name="TextBox 22">
            <a:extLst>
              <a:ext uri="{FF2B5EF4-FFF2-40B4-BE49-F238E27FC236}">
                <a16:creationId xmlns:a16="http://schemas.microsoft.com/office/drawing/2014/main" id="{6DE86DE4-5230-6C2C-EC2B-C9351206C1AE}"/>
              </a:ext>
            </a:extLst>
          </p:cNvPr>
          <p:cNvSpPr txBox="1"/>
          <p:nvPr/>
        </p:nvSpPr>
        <p:spPr>
          <a:xfrm>
            <a:off x="1572412" y="808419"/>
            <a:ext cx="12067388" cy="707886"/>
          </a:xfrm>
          <a:prstGeom prst="rect">
            <a:avLst/>
          </a:prstGeom>
          <a:noFill/>
        </p:spPr>
        <p:txBody>
          <a:bodyPr wrap="square" rtlCol="0">
            <a:spAutoFit/>
          </a:bodyPr>
          <a:lstStyle/>
          <a:p>
            <a:r>
              <a:rPr lang="de-DE" sz="4000" dirty="0">
                <a:solidFill>
                  <a:schemeClr val="bg1"/>
                </a:solidFill>
                <a:latin typeface="Segoe UI Semibold" panose="020B0702040204020203" pitchFamily="34" charset="0"/>
                <a:cs typeface="Segoe UI Semibold" panose="020B0702040204020203" pitchFamily="34" charset="0"/>
              </a:rPr>
              <a:t>Applications &amp; Current </a:t>
            </a:r>
            <a:r>
              <a:rPr lang="de-DE" sz="4000" dirty="0" err="1">
                <a:solidFill>
                  <a:schemeClr val="bg1"/>
                </a:solidFill>
                <a:latin typeface="Segoe UI Semibold" panose="020B0702040204020203" pitchFamily="34" charset="0"/>
                <a:cs typeface="Segoe UI Semibold" panose="020B0702040204020203" pitchFamily="34" charset="0"/>
              </a:rPr>
              <a:t>Scope</a:t>
            </a:r>
            <a:endParaRPr lang="en-GB" sz="4000" dirty="0">
              <a:solidFill>
                <a:schemeClr val="bg1"/>
              </a:solidFill>
              <a:latin typeface="Segoe UI Semibold" panose="020B0702040204020203" pitchFamily="34" charset="0"/>
              <a:cs typeface="Segoe UI Semibold" panose="020B0702040204020203" pitchFamily="34" charset="0"/>
            </a:endParaRPr>
          </a:p>
        </p:txBody>
      </p:sp>
      <p:grpSp>
        <p:nvGrpSpPr>
          <p:cNvPr id="55" name="Group 54">
            <a:extLst>
              <a:ext uri="{FF2B5EF4-FFF2-40B4-BE49-F238E27FC236}">
                <a16:creationId xmlns:a16="http://schemas.microsoft.com/office/drawing/2014/main" id="{568C6A50-64F8-A3A3-C768-96E9D37EF31C}"/>
              </a:ext>
            </a:extLst>
          </p:cNvPr>
          <p:cNvGrpSpPr/>
          <p:nvPr/>
        </p:nvGrpSpPr>
        <p:grpSpPr>
          <a:xfrm>
            <a:off x="1572413" y="3314700"/>
            <a:ext cx="6809587" cy="5330723"/>
            <a:chOff x="1572413" y="3314700"/>
            <a:chExt cx="6809587" cy="5330723"/>
          </a:xfrm>
        </p:grpSpPr>
        <p:sp>
          <p:nvSpPr>
            <p:cNvPr id="4" name="Rectangle 3">
              <a:extLst>
                <a:ext uri="{FF2B5EF4-FFF2-40B4-BE49-F238E27FC236}">
                  <a16:creationId xmlns:a16="http://schemas.microsoft.com/office/drawing/2014/main" id="{CBC1F570-7CB2-3AE1-FAAC-5B6C08414DC5}"/>
                </a:ext>
              </a:extLst>
            </p:cNvPr>
            <p:cNvSpPr/>
            <p:nvPr/>
          </p:nvSpPr>
          <p:spPr>
            <a:xfrm>
              <a:off x="1572413" y="3314700"/>
              <a:ext cx="6809587" cy="4981999"/>
            </a:xfrm>
            <a:prstGeom prst="rect">
              <a:avLst/>
            </a:prstGeom>
            <a:solidFill>
              <a:schemeClr val="accent1">
                <a:alpha val="50000"/>
              </a:schemeClr>
            </a:solidFill>
            <a:ln>
              <a:noFill/>
            </a:ln>
            <a:effectLst>
              <a:outerShdw blurRad="149987" dist="250190" dir="8460000" algn="ctr">
                <a:srgbClr val="000000">
                  <a:alpha val="28000"/>
                </a:srgbClr>
              </a:outerShdw>
            </a:effectLst>
            <a:scene3d>
              <a:camera prst="orthographicFront">
                <a:rot lat="0" lon="0" rev="0"/>
              </a:camera>
              <a:lightRig rig="contrasting" dir="t">
                <a:rot lat="0" lon="0" rev="1500000"/>
              </a:lightRig>
            </a:scene3d>
            <a:sp3d prstMaterial="metal">
              <a:bevelT w="88900" h="88900"/>
            </a:sp3d>
          </p:spPr>
          <p:style>
            <a:lnRef idx="0">
              <a:scrgbClr r="0" g="0" b="0"/>
            </a:lnRef>
            <a:fillRef idx="0">
              <a:scrgbClr r="0" g="0" b="0"/>
            </a:fillRef>
            <a:effectRef idx="0">
              <a:scrgbClr r="0" g="0" b="0"/>
            </a:effectRef>
            <a:fontRef idx="minor">
              <a:schemeClr val="lt1"/>
            </a:fontRef>
          </p:style>
          <p:txBody>
            <a:bodyPr rtlCol="0" anchor="ctr"/>
            <a:lstStyle/>
            <a:p>
              <a:pPr algn="ctr"/>
              <a:endParaRPr lang="en-GB" dirty="0"/>
            </a:p>
          </p:txBody>
        </p:sp>
        <p:sp>
          <p:nvSpPr>
            <p:cNvPr id="8" name="TextBox 7">
              <a:extLst>
                <a:ext uri="{FF2B5EF4-FFF2-40B4-BE49-F238E27FC236}">
                  <a16:creationId xmlns:a16="http://schemas.microsoft.com/office/drawing/2014/main" id="{BEB645E5-C2BA-239E-90FF-B2A1BAABB136}"/>
                </a:ext>
              </a:extLst>
            </p:cNvPr>
            <p:cNvSpPr txBox="1"/>
            <p:nvPr/>
          </p:nvSpPr>
          <p:spPr>
            <a:xfrm>
              <a:off x="1840787" y="3813331"/>
              <a:ext cx="6388813" cy="4832092"/>
            </a:xfrm>
            <a:prstGeom prst="rect">
              <a:avLst/>
            </a:prstGeom>
            <a:noFill/>
          </p:spPr>
          <p:txBody>
            <a:bodyPr wrap="square" rtlCol="0">
              <a:spAutoFit/>
            </a:bodyPr>
            <a:lstStyle/>
            <a:p>
              <a:pPr algn="just"/>
              <a:r>
                <a:rPr lang="de-DE" sz="3600" dirty="0">
                  <a:solidFill>
                    <a:schemeClr val="bg1"/>
                  </a:solidFill>
                  <a:latin typeface="Segoe UI Semibold" panose="020B0702040204020203" pitchFamily="34" charset="0"/>
                  <a:cs typeface="Segoe UI Semibold" panose="020B0702040204020203" pitchFamily="34" charset="0"/>
                </a:rPr>
                <a:t>Applications : </a:t>
              </a:r>
            </a:p>
            <a:p>
              <a:pPr algn="just"/>
              <a:endParaRPr lang="de-DE" dirty="0">
                <a:solidFill>
                  <a:schemeClr val="bg1"/>
                </a:solidFill>
                <a:latin typeface="Segoe UI Semibold" panose="020B0702040204020203" pitchFamily="34" charset="0"/>
                <a:cs typeface="Segoe UI Semibold" panose="020B0702040204020203" pitchFamily="34" charset="0"/>
              </a:endParaRPr>
            </a:p>
            <a:p>
              <a:pPr algn="just"/>
              <a:endParaRPr lang="de-DE" dirty="0">
                <a:solidFill>
                  <a:schemeClr val="bg1"/>
                </a:solidFill>
              </a:endParaRPr>
            </a:p>
            <a:p>
              <a:pPr algn="just"/>
              <a:r>
                <a:rPr lang="en-GB" sz="2800" dirty="0">
                  <a:solidFill>
                    <a:schemeClr val="bg1"/>
                  </a:solidFill>
                  <a:latin typeface="Segoe UI" panose="020B0502040204020203" pitchFamily="34" charset="0"/>
                  <a:cs typeface="Segoe UI" panose="020B0502040204020203" pitchFamily="34" charset="0"/>
                </a:rPr>
                <a:t>          </a:t>
              </a:r>
              <a:r>
                <a:rPr lang="en-GB" sz="2600" dirty="0">
                  <a:solidFill>
                    <a:schemeClr val="bg1"/>
                  </a:solidFill>
                  <a:latin typeface="Segoe UI" panose="020B0502040204020203" pitchFamily="34" charset="0"/>
                  <a:cs typeface="Segoe UI" panose="020B0502040204020203" pitchFamily="34" charset="0"/>
                </a:rPr>
                <a:t>Manufacturing Quality Assurance</a:t>
              </a:r>
              <a:endParaRPr lang="de-DE" sz="2600" dirty="0">
                <a:solidFill>
                  <a:schemeClr val="bg1"/>
                </a:solidFill>
                <a:latin typeface="Segoe UI" panose="020B0502040204020203" pitchFamily="34" charset="0"/>
                <a:cs typeface="Segoe UI" panose="020B0502040204020203" pitchFamily="34" charset="0"/>
              </a:endParaRPr>
            </a:p>
            <a:p>
              <a:pPr algn="just"/>
              <a:r>
                <a:rPr lang="de-DE" sz="2600" dirty="0">
                  <a:solidFill>
                    <a:schemeClr val="bg1"/>
                  </a:solidFill>
                  <a:latin typeface="Segoe UI" panose="020B0502040204020203" pitchFamily="34" charset="0"/>
                  <a:cs typeface="Segoe UI" panose="020B0502040204020203" pitchFamily="34" charset="0"/>
                </a:rPr>
                <a:t>     </a:t>
              </a:r>
            </a:p>
            <a:p>
              <a:pPr algn="just"/>
              <a:r>
                <a:rPr lang="en-GB" sz="2600" dirty="0">
                  <a:solidFill>
                    <a:schemeClr val="bg1"/>
                  </a:solidFill>
                  <a:latin typeface="Segoe UI" panose="020B0502040204020203" pitchFamily="34" charset="0"/>
                  <a:cs typeface="Segoe UI" panose="020B0502040204020203" pitchFamily="34" charset="0"/>
                </a:rPr>
                <a:t>       </a:t>
              </a:r>
            </a:p>
            <a:p>
              <a:pPr algn="just"/>
              <a:r>
                <a:rPr lang="en-GB" sz="2600" dirty="0">
                  <a:solidFill>
                    <a:schemeClr val="bg1"/>
                  </a:solidFill>
                  <a:latin typeface="Segoe UI" panose="020B0502040204020203" pitchFamily="34" charset="0"/>
                  <a:cs typeface="Segoe UI" panose="020B0502040204020203" pitchFamily="34" charset="0"/>
                </a:rPr>
                <a:t>          Real-Time Quality Control Systems</a:t>
              </a:r>
            </a:p>
            <a:p>
              <a:pPr algn="just"/>
              <a:endParaRPr lang="en-GB" sz="2600" dirty="0">
                <a:solidFill>
                  <a:schemeClr val="bg1"/>
                </a:solidFill>
                <a:latin typeface="Segoe UI" panose="020B0502040204020203" pitchFamily="34" charset="0"/>
                <a:cs typeface="Segoe UI" panose="020B0502040204020203" pitchFamily="34" charset="0"/>
              </a:endParaRPr>
            </a:p>
            <a:p>
              <a:pPr algn="just"/>
              <a:r>
                <a:rPr lang="en-GB" sz="2600" dirty="0">
                  <a:solidFill>
                    <a:schemeClr val="bg1"/>
                  </a:solidFill>
                  <a:latin typeface="Segoe UI" panose="020B0502040204020203" pitchFamily="34" charset="0"/>
                  <a:cs typeface="Segoe UI" panose="020B0502040204020203" pitchFamily="34" charset="0"/>
                </a:rPr>
                <a:t>        </a:t>
              </a:r>
            </a:p>
            <a:p>
              <a:pPr algn="just"/>
              <a:r>
                <a:rPr lang="en-GB" sz="2600" dirty="0">
                  <a:solidFill>
                    <a:schemeClr val="bg1"/>
                  </a:solidFill>
                  <a:latin typeface="Segoe UI" panose="020B0502040204020203" pitchFamily="34" charset="0"/>
                  <a:cs typeface="Segoe UI" panose="020B0502040204020203" pitchFamily="34" charset="0"/>
                </a:rPr>
                <a:t>          Adaptable Across Product Lines</a:t>
              </a:r>
            </a:p>
            <a:p>
              <a:pPr algn="just"/>
              <a:endParaRPr lang="en-GB" sz="2600" dirty="0">
                <a:solidFill>
                  <a:schemeClr val="bg1"/>
                </a:solidFill>
                <a:latin typeface="Segoe UI" panose="020B0502040204020203" pitchFamily="34" charset="0"/>
                <a:cs typeface="Segoe UI" panose="020B0502040204020203" pitchFamily="34" charset="0"/>
              </a:endParaRPr>
            </a:p>
            <a:p>
              <a:pPr algn="just"/>
              <a:endParaRPr lang="en-GB" sz="2600" dirty="0">
                <a:solidFill>
                  <a:schemeClr val="bg1"/>
                </a:solidFill>
                <a:latin typeface="Segoe UI" panose="020B0502040204020203" pitchFamily="34" charset="0"/>
                <a:cs typeface="Segoe UI" panose="020B0502040204020203" pitchFamily="34" charset="0"/>
              </a:endParaRPr>
            </a:p>
          </p:txBody>
        </p:sp>
        <p:pic>
          <p:nvPicPr>
            <p:cNvPr id="3" name="Graphic 2" descr="Factory with solid fill">
              <a:extLst>
                <a:ext uri="{FF2B5EF4-FFF2-40B4-BE49-F238E27FC236}">
                  <a16:creationId xmlns:a16="http://schemas.microsoft.com/office/drawing/2014/main" id="{5156E281-ABD4-40F6-6B75-529D1BD4EBA2}"/>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1840787" y="4783500"/>
              <a:ext cx="720000" cy="720000"/>
            </a:xfrm>
            <a:prstGeom prst="rect">
              <a:avLst/>
            </a:prstGeom>
          </p:spPr>
        </p:pic>
        <p:pic>
          <p:nvPicPr>
            <p:cNvPr id="25" name="Graphic 24" descr="Earth Globe - Asia with solid fill">
              <a:extLst>
                <a:ext uri="{FF2B5EF4-FFF2-40B4-BE49-F238E27FC236}">
                  <a16:creationId xmlns:a16="http://schemas.microsoft.com/office/drawing/2014/main" id="{0F581B98-D2E1-6A7A-A3B5-79824AC33DC0}"/>
                </a:ext>
              </a:extLst>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1899370" y="7206319"/>
              <a:ext cx="609599" cy="609599"/>
            </a:xfrm>
            <a:prstGeom prst="rect">
              <a:avLst/>
            </a:prstGeom>
          </p:spPr>
        </p:pic>
        <p:pic>
          <p:nvPicPr>
            <p:cNvPr id="48" name="Graphic 47" descr="Stopwatch 66% with solid fill">
              <a:extLst>
                <a:ext uri="{FF2B5EF4-FFF2-40B4-BE49-F238E27FC236}">
                  <a16:creationId xmlns:a16="http://schemas.microsoft.com/office/drawing/2014/main" id="{02E74E77-ADE6-A3F4-57A9-DDB051FAE67F}"/>
                </a:ext>
              </a:extLst>
            </p:cNvPr>
            <p:cNvPicPr>
              <a:picLocks noChangeAspect="1"/>
            </p:cNvPicPr>
            <p:nvPr/>
          </p:nvPicPr>
          <p:blipFill>
            <a:blip r:embed="rId9">
              <a:extLst>
                <a:ext uri="{96DAC541-7B7A-43D3-8B79-37D633B846F1}">
                  <asvg:svgBlip xmlns:asvg="http://schemas.microsoft.com/office/drawing/2016/SVG/main" r:embed="rId10"/>
                </a:ext>
              </a:extLst>
            </a:blip>
            <a:stretch>
              <a:fillRect/>
            </a:stretch>
          </p:blipFill>
          <p:spPr>
            <a:xfrm>
              <a:off x="1840787" y="6098088"/>
              <a:ext cx="609600" cy="609600"/>
            </a:xfrm>
            <a:prstGeom prst="rect">
              <a:avLst/>
            </a:prstGeom>
          </p:spPr>
        </p:pic>
      </p:grpSp>
      <p:grpSp>
        <p:nvGrpSpPr>
          <p:cNvPr id="56" name="Group 55">
            <a:extLst>
              <a:ext uri="{FF2B5EF4-FFF2-40B4-BE49-F238E27FC236}">
                <a16:creationId xmlns:a16="http://schemas.microsoft.com/office/drawing/2014/main" id="{7F6BE9F0-80FC-C978-AC46-9FD9EB72714D}"/>
              </a:ext>
            </a:extLst>
          </p:cNvPr>
          <p:cNvGrpSpPr/>
          <p:nvPr/>
        </p:nvGrpSpPr>
        <p:grpSpPr>
          <a:xfrm>
            <a:off x="9561426" y="3314700"/>
            <a:ext cx="6885787" cy="4981999"/>
            <a:chOff x="9561426" y="3314700"/>
            <a:chExt cx="6885787" cy="4981999"/>
          </a:xfrm>
        </p:grpSpPr>
        <p:sp>
          <p:nvSpPr>
            <p:cNvPr id="7" name="Rectangle 6">
              <a:extLst>
                <a:ext uri="{FF2B5EF4-FFF2-40B4-BE49-F238E27FC236}">
                  <a16:creationId xmlns:a16="http://schemas.microsoft.com/office/drawing/2014/main" id="{DEDE7313-E005-110B-606F-B1FFD194EE21}"/>
                </a:ext>
              </a:extLst>
            </p:cNvPr>
            <p:cNvSpPr/>
            <p:nvPr/>
          </p:nvSpPr>
          <p:spPr>
            <a:xfrm>
              <a:off x="9561426" y="3314700"/>
              <a:ext cx="6885787" cy="4981999"/>
            </a:xfrm>
            <a:prstGeom prst="rect">
              <a:avLst/>
            </a:prstGeom>
            <a:solidFill>
              <a:schemeClr val="accent2">
                <a:lumMod val="40000"/>
                <a:lumOff val="60000"/>
                <a:alpha val="50000"/>
              </a:schemeClr>
            </a:solidFill>
            <a:ln>
              <a:noFill/>
            </a:ln>
            <a:effectLst>
              <a:outerShdw blurRad="149987" dist="250190" dir="8460000" algn="ctr">
                <a:srgbClr val="000000">
                  <a:alpha val="28000"/>
                </a:srgbClr>
              </a:outerShdw>
            </a:effectLst>
            <a:scene3d>
              <a:camera prst="orthographicFront">
                <a:rot lat="0" lon="0" rev="0"/>
              </a:camera>
              <a:lightRig rig="contrasting" dir="t">
                <a:rot lat="0" lon="0" rev="1500000"/>
              </a:lightRig>
            </a:scene3d>
            <a:sp3d prstMaterial="metal">
              <a:bevelT w="88900" h="88900"/>
            </a:sp3d>
          </p:spPr>
          <p:style>
            <a:lnRef idx="0">
              <a:scrgbClr r="0" g="0" b="0"/>
            </a:lnRef>
            <a:fillRef idx="0">
              <a:scrgbClr r="0" g="0" b="0"/>
            </a:fillRef>
            <a:effectRef idx="0">
              <a:scrgbClr r="0" g="0" b="0"/>
            </a:effectRef>
            <a:fontRef idx="minor">
              <a:schemeClr val="lt1"/>
            </a:fontRef>
          </p:style>
          <p:txBody>
            <a:bodyPr rtlCol="0" anchor="ctr"/>
            <a:lstStyle/>
            <a:p>
              <a:pPr algn="ctr"/>
              <a:endParaRPr lang="en-GB" dirty="0"/>
            </a:p>
          </p:txBody>
        </p:sp>
        <p:sp>
          <p:nvSpPr>
            <p:cNvPr id="10" name="TextBox 9">
              <a:extLst>
                <a:ext uri="{FF2B5EF4-FFF2-40B4-BE49-F238E27FC236}">
                  <a16:creationId xmlns:a16="http://schemas.microsoft.com/office/drawing/2014/main" id="{4477FFDB-96DE-C04F-470E-4CB729C2DD1C}"/>
                </a:ext>
              </a:extLst>
            </p:cNvPr>
            <p:cNvSpPr txBox="1"/>
            <p:nvPr/>
          </p:nvSpPr>
          <p:spPr>
            <a:xfrm>
              <a:off x="10047269" y="3779924"/>
              <a:ext cx="6277557" cy="4431983"/>
            </a:xfrm>
            <a:prstGeom prst="rect">
              <a:avLst/>
            </a:prstGeom>
            <a:noFill/>
          </p:spPr>
          <p:txBody>
            <a:bodyPr wrap="square" rtlCol="0">
              <a:spAutoFit/>
            </a:bodyPr>
            <a:lstStyle/>
            <a:p>
              <a:pPr algn="just"/>
              <a:r>
                <a:rPr lang="de-DE" sz="3600" dirty="0">
                  <a:solidFill>
                    <a:schemeClr val="bg1"/>
                  </a:solidFill>
                  <a:latin typeface="Segoe UI Semibold" panose="020B0702040204020203" pitchFamily="34" charset="0"/>
                  <a:cs typeface="Segoe UI Semibold" panose="020B0702040204020203" pitchFamily="34" charset="0"/>
                </a:rPr>
                <a:t>Current </a:t>
              </a:r>
              <a:r>
                <a:rPr lang="de-DE" sz="3600" dirty="0" err="1">
                  <a:solidFill>
                    <a:schemeClr val="bg1"/>
                  </a:solidFill>
                  <a:latin typeface="Segoe UI Semibold" panose="020B0702040204020203" pitchFamily="34" charset="0"/>
                  <a:cs typeface="Segoe UI Semibold" panose="020B0702040204020203" pitchFamily="34" charset="0"/>
                </a:rPr>
                <a:t>Scope</a:t>
              </a:r>
              <a:r>
                <a:rPr lang="de-DE" sz="3600" dirty="0">
                  <a:solidFill>
                    <a:schemeClr val="bg1"/>
                  </a:solidFill>
                  <a:latin typeface="Segoe UI Semibold" panose="020B0702040204020203" pitchFamily="34" charset="0"/>
                  <a:cs typeface="Segoe UI Semibold" panose="020B0702040204020203" pitchFamily="34" charset="0"/>
                </a:rPr>
                <a:t> :</a:t>
              </a:r>
            </a:p>
            <a:p>
              <a:pPr algn="just"/>
              <a:endParaRPr lang="de-DE" dirty="0">
                <a:solidFill>
                  <a:schemeClr val="bg1"/>
                </a:solidFill>
              </a:endParaRPr>
            </a:p>
            <a:p>
              <a:pPr algn="just"/>
              <a:endParaRPr lang="de-DE" dirty="0">
                <a:solidFill>
                  <a:schemeClr val="bg1"/>
                </a:solidFill>
              </a:endParaRPr>
            </a:p>
            <a:p>
              <a:pPr algn="just"/>
              <a:r>
                <a:rPr lang="en-GB" sz="2800" dirty="0">
                  <a:solidFill>
                    <a:schemeClr val="bg1"/>
                  </a:solidFill>
                  <a:latin typeface="Segoe UI" panose="020B0502040204020203" pitchFamily="34" charset="0"/>
                  <a:cs typeface="Segoe UI" panose="020B0502040204020203" pitchFamily="34" charset="0"/>
                </a:rPr>
                <a:t>       </a:t>
              </a:r>
              <a:r>
                <a:rPr lang="en-GB" sz="2600" dirty="0">
                  <a:solidFill>
                    <a:schemeClr val="bg1"/>
                  </a:solidFill>
                  <a:latin typeface="Segoe UI" panose="020B0502040204020203" pitchFamily="34" charset="0"/>
                  <a:cs typeface="Segoe UI" panose="020B0502040204020203" pitchFamily="34" charset="0"/>
                </a:rPr>
                <a:t>Requires Per-Category Training</a:t>
              </a:r>
            </a:p>
            <a:p>
              <a:pPr algn="just"/>
              <a:endParaRPr lang="en-GB" sz="2600" dirty="0">
                <a:solidFill>
                  <a:schemeClr val="bg1"/>
                </a:solidFill>
                <a:latin typeface="Segoe UI" panose="020B0502040204020203" pitchFamily="34" charset="0"/>
                <a:cs typeface="Segoe UI" panose="020B0502040204020203" pitchFamily="34" charset="0"/>
              </a:endParaRPr>
            </a:p>
            <a:p>
              <a:pPr algn="just"/>
              <a:r>
                <a:rPr lang="en-GB" sz="2600" dirty="0">
                  <a:solidFill>
                    <a:schemeClr val="bg1"/>
                  </a:solidFill>
                  <a:latin typeface="Segoe UI" panose="020B0502040204020203" pitchFamily="34" charset="0"/>
                  <a:cs typeface="Segoe UI" panose="020B0502040204020203" pitchFamily="34" charset="0"/>
                </a:rPr>
                <a:t>    </a:t>
              </a:r>
            </a:p>
            <a:p>
              <a:pPr algn="just"/>
              <a:r>
                <a:rPr lang="en-GB" sz="2600" dirty="0">
                  <a:solidFill>
                    <a:schemeClr val="bg1"/>
                  </a:solidFill>
                  <a:latin typeface="Segoe UI" panose="020B0502040204020203" pitchFamily="34" charset="0"/>
                  <a:cs typeface="Segoe UI" panose="020B0502040204020203" pitchFamily="34" charset="0"/>
                </a:rPr>
                <a:t>        Dependency on Pre-trained Features</a:t>
              </a:r>
            </a:p>
            <a:p>
              <a:pPr algn="just"/>
              <a:endParaRPr lang="en-GB" sz="2600" dirty="0">
                <a:solidFill>
                  <a:schemeClr val="bg1"/>
                </a:solidFill>
                <a:latin typeface="Segoe UI" panose="020B0502040204020203" pitchFamily="34" charset="0"/>
                <a:cs typeface="Segoe UI" panose="020B0502040204020203" pitchFamily="34" charset="0"/>
              </a:endParaRPr>
            </a:p>
            <a:p>
              <a:pPr algn="just"/>
              <a:r>
                <a:rPr lang="en-GB" sz="2600" dirty="0">
                  <a:solidFill>
                    <a:schemeClr val="bg1"/>
                  </a:solidFill>
                  <a:latin typeface="Segoe UI" panose="020B0502040204020203" pitchFamily="34" charset="0"/>
                  <a:cs typeface="Segoe UI" panose="020B0502040204020203" pitchFamily="34" charset="0"/>
                </a:rPr>
                <a:t>     </a:t>
              </a:r>
            </a:p>
            <a:p>
              <a:pPr algn="just"/>
              <a:r>
                <a:rPr lang="en-GB" sz="2600" dirty="0">
                  <a:solidFill>
                    <a:schemeClr val="bg1"/>
                  </a:solidFill>
                  <a:latin typeface="Segoe UI" panose="020B0502040204020203" pitchFamily="34" charset="0"/>
                  <a:cs typeface="Segoe UI" panose="020B0502040204020203" pitchFamily="34" charset="0"/>
                </a:rPr>
                <a:t>         Fixed Noise Generation Strategy</a:t>
              </a:r>
            </a:p>
            <a:p>
              <a:pPr algn="just"/>
              <a:r>
                <a:rPr lang="en-GB" sz="2600" dirty="0">
                  <a:solidFill>
                    <a:schemeClr val="bg1"/>
                  </a:solidFill>
                  <a:latin typeface="Segoe UI" panose="020B0502040204020203" pitchFamily="34" charset="0"/>
                  <a:cs typeface="Segoe UI" panose="020B0502040204020203" pitchFamily="34" charset="0"/>
                </a:rPr>
                <a:t>     </a:t>
              </a:r>
            </a:p>
          </p:txBody>
        </p:sp>
        <p:pic>
          <p:nvPicPr>
            <p:cNvPr id="20" name="Graphic 19" descr="Tornado with solid fill">
              <a:extLst>
                <a:ext uri="{FF2B5EF4-FFF2-40B4-BE49-F238E27FC236}">
                  <a16:creationId xmlns:a16="http://schemas.microsoft.com/office/drawing/2014/main" id="{CAC8CDE4-A085-36EC-5D2D-D430AEA48A2D}"/>
                </a:ext>
              </a:extLst>
            </p:cNvPr>
            <p:cNvPicPr>
              <a:picLocks noChangeAspect="1"/>
            </p:cNvPicPr>
            <p:nvPr/>
          </p:nvPicPr>
          <p:blipFill>
            <a:blip r:embed="rId11">
              <a:extLst>
                <a:ext uri="{96DAC541-7B7A-43D3-8B79-37D633B846F1}">
                  <asvg:svgBlip xmlns:asvg="http://schemas.microsoft.com/office/drawing/2016/SVG/main" r:embed="rId12"/>
                </a:ext>
              </a:extLst>
            </a:blip>
            <a:stretch>
              <a:fillRect/>
            </a:stretch>
          </p:blipFill>
          <p:spPr>
            <a:xfrm>
              <a:off x="9939173" y="7284799"/>
              <a:ext cx="722226" cy="722226"/>
            </a:xfrm>
            <a:prstGeom prst="rect">
              <a:avLst/>
            </a:prstGeom>
          </p:spPr>
        </p:pic>
        <p:pic>
          <p:nvPicPr>
            <p:cNvPr id="50" name="Graphic 49" descr="Left Brain with solid fill">
              <a:extLst>
                <a:ext uri="{FF2B5EF4-FFF2-40B4-BE49-F238E27FC236}">
                  <a16:creationId xmlns:a16="http://schemas.microsoft.com/office/drawing/2014/main" id="{842722A6-7E3E-B010-3DBC-5BD9C6063984}"/>
                </a:ext>
              </a:extLst>
            </p:cNvPr>
            <p:cNvPicPr>
              <a:picLocks noChangeAspect="1"/>
            </p:cNvPicPr>
            <p:nvPr/>
          </p:nvPicPr>
          <p:blipFill>
            <a:blip r:embed="rId13">
              <a:extLst>
                <a:ext uri="{96DAC541-7B7A-43D3-8B79-37D633B846F1}">
                  <asvg:svgBlip xmlns:asvg="http://schemas.microsoft.com/office/drawing/2016/SVG/main" r:embed="rId14"/>
                </a:ext>
              </a:extLst>
            </a:blip>
            <a:stretch>
              <a:fillRect/>
            </a:stretch>
          </p:blipFill>
          <p:spPr>
            <a:xfrm>
              <a:off x="9995485" y="4888154"/>
              <a:ext cx="665913" cy="665913"/>
            </a:xfrm>
            <a:prstGeom prst="rect">
              <a:avLst/>
            </a:prstGeom>
          </p:spPr>
        </p:pic>
        <p:pic>
          <p:nvPicPr>
            <p:cNvPr id="52" name="Graphic 51" descr="Box with solid fill">
              <a:extLst>
                <a:ext uri="{FF2B5EF4-FFF2-40B4-BE49-F238E27FC236}">
                  <a16:creationId xmlns:a16="http://schemas.microsoft.com/office/drawing/2014/main" id="{AE47E6D3-28BF-C8FF-5417-32DE7A623C4A}"/>
                </a:ext>
              </a:extLst>
            </p:cNvPr>
            <p:cNvPicPr>
              <a:picLocks noChangeAspect="1"/>
            </p:cNvPicPr>
            <p:nvPr/>
          </p:nvPicPr>
          <p:blipFill>
            <a:blip r:embed="rId15">
              <a:extLst>
                <a:ext uri="{96DAC541-7B7A-43D3-8B79-37D633B846F1}">
                  <asvg:svgBlip xmlns:asvg="http://schemas.microsoft.com/office/drawing/2016/SVG/main" r:embed="rId16"/>
                </a:ext>
              </a:extLst>
            </a:blip>
            <a:stretch>
              <a:fillRect/>
            </a:stretch>
          </p:blipFill>
          <p:spPr>
            <a:xfrm>
              <a:off x="9977197" y="6077814"/>
              <a:ext cx="650147" cy="650147"/>
            </a:xfrm>
            <a:prstGeom prst="rect">
              <a:avLst/>
            </a:prstGeom>
          </p:spPr>
        </p:pic>
      </p:grpSp>
    </p:spTree>
    <p:extLst>
      <p:ext uri="{BB962C8B-B14F-4D97-AF65-F5344CB8AC3E}">
        <p14:creationId xmlns:p14="http://schemas.microsoft.com/office/powerpoint/2010/main" val="4273742359"/>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55"/>
                                        </p:tgtEl>
                                        <p:attrNameLst>
                                          <p:attrName>style.visibility</p:attrName>
                                        </p:attrNameLst>
                                      </p:cBhvr>
                                      <p:to>
                                        <p:strVal val="visible"/>
                                      </p:to>
                                    </p:set>
                                    <p:animEffect transition="in" filter="fade">
                                      <p:cBhvr>
                                        <p:cTn id="7" dur="500"/>
                                        <p:tgtEl>
                                          <p:spTgt spid="55"/>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56"/>
                                        </p:tgtEl>
                                        <p:attrNameLst>
                                          <p:attrName>style.visibility</p:attrName>
                                        </p:attrNameLst>
                                      </p:cBhvr>
                                      <p:to>
                                        <p:strVal val="visible"/>
                                      </p:to>
                                    </p:set>
                                    <p:animEffect transition="in" filter="fade">
                                      <p:cBhvr>
                                        <p:cTn id="12" dur="500"/>
                                        <p:tgtEl>
                                          <p:spTgt spid="5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8159DF61-5CCE-BAD0-6951-42CD651AFE78}"/>
            </a:ext>
          </a:extLst>
        </p:cNvPr>
        <p:cNvGrpSpPr/>
        <p:nvPr/>
      </p:nvGrpSpPr>
      <p:grpSpPr>
        <a:xfrm>
          <a:off x="0" y="0"/>
          <a:ext cx="0" cy="0"/>
          <a:chOff x="0" y="0"/>
          <a:chExt cx="0" cy="0"/>
        </a:xfrm>
      </p:grpSpPr>
      <p:sp>
        <p:nvSpPr>
          <p:cNvPr id="2" name="Freeform 2">
            <a:extLst>
              <a:ext uri="{FF2B5EF4-FFF2-40B4-BE49-F238E27FC236}">
                <a16:creationId xmlns:a16="http://schemas.microsoft.com/office/drawing/2014/main" id="{2AC3D366-F930-6474-28E0-FCADF58544DF}"/>
              </a:ext>
            </a:extLst>
          </p:cNvPr>
          <p:cNvSpPr/>
          <p:nvPr/>
        </p:nvSpPr>
        <p:spPr>
          <a:xfrm>
            <a:off x="8021" y="-2005"/>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3"/>
            <a:stretch>
              <a:fillRect t="-9222" b="-9222"/>
            </a:stretch>
          </a:blipFill>
        </p:spPr>
        <p:txBody>
          <a:bodyPr/>
          <a:lstStyle/>
          <a:p>
            <a:endParaRPr lang="en-GB" sz="4400" dirty="0">
              <a:solidFill>
                <a:schemeClr val="bg1"/>
              </a:solidFill>
              <a:latin typeface="Comic Sans MS" panose="030F0702030302020204" pitchFamily="66" charset="0"/>
            </a:endParaRPr>
          </a:p>
        </p:txBody>
      </p:sp>
      <p:pic>
        <p:nvPicPr>
          <p:cNvPr id="18" name="Picture 17">
            <a:extLst>
              <a:ext uri="{FF2B5EF4-FFF2-40B4-BE49-F238E27FC236}">
                <a16:creationId xmlns:a16="http://schemas.microsoft.com/office/drawing/2014/main" id="{E34C864A-5AE3-DFBE-41A4-95077E8C5990}"/>
              </a:ext>
            </a:extLst>
          </p:cNvPr>
          <p:cNvPicPr>
            <a:picLocks noChangeAspect="1"/>
          </p:cNvPicPr>
          <p:nvPr/>
        </p:nvPicPr>
        <p:blipFill rotWithShape="1">
          <a:blip r:embed="rId4"/>
          <a:srcRect l="19756" t="18691" r="19454" b="41655"/>
          <a:stretch/>
        </p:blipFill>
        <p:spPr>
          <a:xfrm>
            <a:off x="16316104" y="381000"/>
            <a:ext cx="1812319" cy="760280"/>
          </a:xfrm>
          <a:prstGeom prst="roundRect">
            <a:avLst>
              <a:gd name="adj" fmla="val 8594"/>
            </a:avLst>
          </a:prstGeom>
          <a:solidFill>
            <a:srgbClr val="FFFFFF">
              <a:shade val="85000"/>
            </a:srgbClr>
          </a:solidFill>
          <a:ln>
            <a:noFill/>
          </a:ln>
          <a:effectLst>
            <a:reflection blurRad="12700" stA="38000" endPos="28000" dist="5000" dir="5400000" sy="-100000" algn="bl" rotWithShape="0"/>
          </a:effectLst>
        </p:spPr>
      </p:pic>
      <p:cxnSp>
        <p:nvCxnSpPr>
          <p:cNvPr id="21" name="Straight Connector 20">
            <a:extLst>
              <a:ext uri="{FF2B5EF4-FFF2-40B4-BE49-F238E27FC236}">
                <a16:creationId xmlns:a16="http://schemas.microsoft.com/office/drawing/2014/main" id="{8CD384EC-D9D8-8B22-6986-8110849BA6E2}"/>
              </a:ext>
            </a:extLst>
          </p:cNvPr>
          <p:cNvCxnSpPr>
            <a:cxnSpLocks/>
          </p:cNvCxnSpPr>
          <p:nvPr/>
        </p:nvCxnSpPr>
        <p:spPr>
          <a:xfrm flipV="1">
            <a:off x="1600200" y="1638300"/>
            <a:ext cx="14097000" cy="76200"/>
          </a:xfrm>
          <a:prstGeom prst="line">
            <a:avLst/>
          </a:prstGeom>
        </p:spPr>
        <p:style>
          <a:lnRef idx="3">
            <a:schemeClr val="dk1"/>
          </a:lnRef>
          <a:fillRef idx="0">
            <a:schemeClr val="dk1"/>
          </a:fillRef>
          <a:effectRef idx="2">
            <a:schemeClr val="dk1"/>
          </a:effectRef>
          <a:fontRef idx="minor">
            <a:schemeClr val="tx1"/>
          </a:fontRef>
        </p:style>
      </p:cxnSp>
      <p:sp>
        <p:nvSpPr>
          <p:cNvPr id="23" name="TextBox 22">
            <a:extLst>
              <a:ext uri="{FF2B5EF4-FFF2-40B4-BE49-F238E27FC236}">
                <a16:creationId xmlns:a16="http://schemas.microsoft.com/office/drawing/2014/main" id="{D289A333-D64E-ABE1-170D-406F46938950}"/>
              </a:ext>
            </a:extLst>
          </p:cNvPr>
          <p:cNvSpPr txBox="1"/>
          <p:nvPr/>
        </p:nvSpPr>
        <p:spPr>
          <a:xfrm>
            <a:off x="1600200" y="862952"/>
            <a:ext cx="12067388" cy="707886"/>
          </a:xfrm>
          <a:prstGeom prst="rect">
            <a:avLst/>
          </a:prstGeom>
          <a:noFill/>
        </p:spPr>
        <p:txBody>
          <a:bodyPr wrap="square" rtlCol="0">
            <a:spAutoFit/>
          </a:bodyPr>
          <a:lstStyle/>
          <a:p>
            <a:r>
              <a:rPr lang="en-GB" sz="4000" dirty="0">
                <a:solidFill>
                  <a:schemeClr val="bg1"/>
                </a:solidFill>
                <a:latin typeface="Segoe UI Semibold" panose="020B0702040204020203" pitchFamily="34" charset="0"/>
                <a:cs typeface="Segoe UI Semibold" panose="020B0702040204020203" pitchFamily="34" charset="0"/>
              </a:rPr>
              <a:t>Key Takeaways  &amp; Future Exploration</a:t>
            </a:r>
          </a:p>
        </p:txBody>
      </p:sp>
      <p:sp>
        <p:nvSpPr>
          <p:cNvPr id="3" name="TextBox 2">
            <a:extLst>
              <a:ext uri="{FF2B5EF4-FFF2-40B4-BE49-F238E27FC236}">
                <a16:creationId xmlns:a16="http://schemas.microsoft.com/office/drawing/2014/main" id="{DD1D883A-B6E2-50D4-C6AE-3E82D0A8E7AD}"/>
              </a:ext>
            </a:extLst>
          </p:cNvPr>
          <p:cNvSpPr txBox="1"/>
          <p:nvPr/>
        </p:nvSpPr>
        <p:spPr>
          <a:xfrm>
            <a:off x="1676400" y="1853503"/>
            <a:ext cx="13563600" cy="3788858"/>
          </a:xfrm>
          <a:prstGeom prst="rect">
            <a:avLst/>
          </a:prstGeom>
          <a:noFill/>
          <a:ln>
            <a:noFill/>
          </a:ln>
          <a:effectLst>
            <a:outerShdw blurRad="149987" dist="250190" dir="8460000" algn="ctr">
              <a:srgbClr val="000000">
                <a:alpha val="28000"/>
              </a:srgbClr>
            </a:outerShdw>
          </a:effectLst>
          <a:scene3d>
            <a:camera prst="orthographicFront">
              <a:rot lat="0" lon="0" rev="0"/>
            </a:camera>
            <a:lightRig rig="contrasting" dir="t">
              <a:rot lat="0" lon="0" rev="1500000"/>
            </a:lightRig>
          </a:scene3d>
          <a:sp3d prstMaterial="metal">
            <a:bevelT w="88900" h="88900"/>
          </a:sp3d>
        </p:spPr>
        <p:style>
          <a:lnRef idx="0">
            <a:scrgbClr r="0" g="0" b="0"/>
          </a:lnRef>
          <a:fillRef idx="0">
            <a:scrgbClr r="0" g="0" b="0"/>
          </a:fillRef>
          <a:effectRef idx="0">
            <a:scrgbClr r="0" g="0" b="0"/>
          </a:effectRef>
          <a:fontRef idx="minor">
            <a:schemeClr val="lt1"/>
          </a:fontRef>
        </p:style>
        <p:txBody>
          <a:bodyPr wrap="square" rtlCol="0">
            <a:spAutoFit/>
          </a:bodyPr>
          <a:lstStyle/>
          <a:p>
            <a:pPr>
              <a:lnSpc>
                <a:spcPct val="150000"/>
              </a:lnSpc>
            </a:pPr>
            <a:r>
              <a:rPr lang="en-GB" sz="3200" b="1" dirty="0">
                <a:solidFill>
                  <a:schemeClr val="bg1"/>
                </a:solidFill>
                <a:latin typeface="Segoe UI" panose="020B0502040204020203" pitchFamily="34" charset="0"/>
                <a:cs typeface="Segoe UI" panose="020B0502040204020203" pitchFamily="34" charset="0"/>
              </a:rPr>
              <a:t>Key Takeaways: </a:t>
            </a:r>
            <a:endParaRPr lang="en-GB" sz="2800" b="1" dirty="0">
              <a:solidFill>
                <a:schemeClr val="bg1"/>
              </a:solidFill>
              <a:latin typeface="Segoe UI" panose="020B0502040204020203" pitchFamily="34" charset="0"/>
              <a:cs typeface="Segoe UI" panose="020B0502040204020203" pitchFamily="34" charset="0"/>
            </a:endParaRPr>
          </a:p>
          <a:p>
            <a:pPr marL="1371600" lvl="2" indent="-457200">
              <a:lnSpc>
                <a:spcPct val="150000"/>
              </a:lnSpc>
              <a:buFont typeface="Wingdings" panose="05000000000000000000" pitchFamily="2" charset="2"/>
              <a:buChar char="Ø"/>
            </a:pPr>
            <a:r>
              <a:rPr lang="en-GB" sz="2800" dirty="0">
                <a:latin typeface="Segoe UI" panose="020B0502040204020203" pitchFamily="34" charset="0"/>
                <a:cs typeface="Segoe UI" panose="020B0502040204020203" pitchFamily="34" charset="0"/>
              </a:rPr>
              <a:t>Feature-space synthesis &gt; Image-space synthesis</a:t>
            </a:r>
          </a:p>
          <a:p>
            <a:pPr marL="1371600" lvl="2" indent="-457200">
              <a:lnSpc>
                <a:spcPct val="150000"/>
              </a:lnSpc>
              <a:buFont typeface="Wingdings" panose="05000000000000000000" pitchFamily="2" charset="2"/>
              <a:buChar char="Ø"/>
            </a:pPr>
            <a:r>
              <a:rPr lang="en-GB" sz="2800" dirty="0">
                <a:latin typeface="Segoe UI" panose="020B0502040204020203" pitchFamily="34" charset="0"/>
                <a:cs typeface="Segoe UI" panose="020B0502040204020203" pitchFamily="34" charset="0"/>
              </a:rPr>
              <a:t>Domain adaptation crucial for pre-trained models</a:t>
            </a:r>
          </a:p>
          <a:p>
            <a:pPr marL="1371600" lvl="2" indent="-457200">
              <a:lnSpc>
                <a:spcPct val="150000"/>
              </a:lnSpc>
              <a:buFont typeface="Wingdings" panose="05000000000000000000" pitchFamily="2" charset="2"/>
              <a:buChar char="Ø"/>
            </a:pPr>
            <a:r>
              <a:rPr lang="en-GB" sz="2800" dirty="0">
                <a:latin typeface="Segoe UI" panose="020B0502040204020203" pitchFamily="34" charset="0"/>
                <a:cs typeface="Segoe UI" panose="020B0502040204020203" pitchFamily="34" charset="0"/>
              </a:rPr>
              <a:t>Simplicity doesn't sacrifice performance</a:t>
            </a:r>
          </a:p>
          <a:p>
            <a:pPr marL="1371600" lvl="2" indent="-457200">
              <a:lnSpc>
                <a:spcPct val="150000"/>
              </a:lnSpc>
              <a:buFont typeface="Wingdings" panose="05000000000000000000" pitchFamily="2" charset="2"/>
              <a:buChar char="Ø"/>
            </a:pPr>
            <a:r>
              <a:rPr lang="en-GB" sz="2800" dirty="0">
                <a:latin typeface="Segoe UI" panose="020B0502040204020203" pitchFamily="34" charset="0"/>
                <a:cs typeface="Segoe UI" panose="020B0502040204020203" pitchFamily="34" charset="0"/>
              </a:rPr>
              <a:t>Ready for industrial deployment TODAY</a:t>
            </a:r>
            <a:endParaRPr lang="en-GB" sz="2800" dirty="0">
              <a:solidFill>
                <a:schemeClr val="bg1"/>
              </a:solidFill>
              <a:latin typeface="Segoe UI" panose="020B0502040204020203" pitchFamily="34" charset="0"/>
              <a:cs typeface="Segoe UI" panose="020B0502040204020203" pitchFamily="34" charset="0"/>
            </a:endParaRPr>
          </a:p>
          <a:p>
            <a:pPr>
              <a:lnSpc>
                <a:spcPct val="150000"/>
              </a:lnSpc>
            </a:pPr>
            <a:endParaRPr lang="en-GB" dirty="0"/>
          </a:p>
        </p:txBody>
      </p:sp>
      <p:sp>
        <p:nvSpPr>
          <p:cNvPr id="4" name="TextBox 3">
            <a:extLst>
              <a:ext uri="{FF2B5EF4-FFF2-40B4-BE49-F238E27FC236}">
                <a16:creationId xmlns:a16="http://schemas.microsoft.com/office/drawing/2014/main" id="{3C151606-D0C8-70AC-6972-6F1DDF54CEFB}"/>
              </a:ext>
            </a:extLst>
          </p:cNvPr>
          <p:cNvSpPr txBox="1"/>
          <p:nvPr/>
        </p:nvSpPr>
        <p:spPr>
          <a:xfrm>
            <a:off x="1790700" y="5767937"/>
            <a:ext cx="13716000" cy="1073564"/>
          </a:xfrm>
          <a:prstGeom prst="rect">
            <a:avLst/>
          </a:prstGeom>
          <a:noFill/>
        </p:spPr>
        <p:txBody>
          <a:bodyPr wrap="square" rtlCol="0">
            <a:spAutoFit/>
          </a:bodyPr>
          <a:lstStyle/>
          <a:p>
            <a:pPr>
              <a:lnSpc>
                <a:spcPct val="150000"/>
              </a:lnSpc>
            </a:pPr>
            <a:r>
              <a:rPr lang="en-GB" sz="3200" b="1" dirty="0">
                <a:solidFill>
                  <a:schemeClr val="bg1"/>
                </a:solidFill>
                <a:latin typeface="Segoe UI" panose="020B0502040204020203" pitchFamily="34" charset="0"/>
                <a:cs typeface="Segoe UI" panose="020B0502040204020203" pitchFamily="34" charset="0"/>
              </a:rPr>
              <a:t>Future Exploration:</a:t>
            </a:r>
          </a:p>
          <a:p>
            <a:pPr marL="1371600" lvl="2" indent="-457200">
              <a:lnSpc>
                <a:spcPct val="150000"/>
              </a:lnSpc>
              <a:buFont typeface="Arial" panose="020B0604020202020204" pitchFamily="34" charset="0"/>
              <a:buChar char="•"/>
            </a:pPr>
            <a:endParaRPr lang="en-GB" sz="1200" dirty="0">
              <a:solidFill>
                <a:schemeClr val="bg1"/>
              </a:solidFill>
              <a:latin typeface="Segoe UI" panose="020B0502040204020203" pitchFamily="34" charset="0"/>
              <a:cs typeface="Segoe UI" panose="020B0502040204020203" pitchFamily="34" charset="0"/>
            </a:endParaRPr>
          </a:p>
        </p:txBody>
      </p:sp>
      <p:graphicFrame>
        <p:nvGraphicFramePr>
          <p:cNvPr id="7" name="Diagram 6">
            <a:extLst>
              <a:ext uri="{FF2B5EF4-FFF2-40B4-BE49-F238E27FC236}">
                <a16:creationId xmlns:a16="http://schemas.microsoft.com/office/drawing/2014/main" id="{A2207E18-99AD-8490-606B-BCE14FC461C2}"/>
              </a:ext>
            </a:extLst>
          </p:cNvPr>
          <p:cNvGraphicFramePr/>
          <p:nvPr>
            <p:extLst>
              <p:ext uri="{D42A27DB-BD31-4B8C-83A1-F6EECF244321}">
                <p14:modId xmlns:p14="http://schemas.microsoft.com/office/powerpoint/2010/main" val="2476714133"/>
              </p:ext>
            </p:extLst>
          </p:nvPr>
        </p:nvGraphicFramePr>
        <p:xfrm>
          <a:off x="2953657" y="3297985"/>
          <a:ext cx="11988000" cy="5040000"/>
        </p:xfrm>
        <a:graphic>
          <a:graphicData uri="http://schemas.openxmlformats.org/drawingml/2006/diagram">
            <dgm:relIds xmlns:dgm="http://schemas.openxmlformats.org/drawingml/2006/diagram" xmlns:r="http://schemas.openxmlformats.org/officeDocument/2006/relationships" r:dm="rId5" r:lo="rId6" r:qs="rId7" r:cs="rId8"/>
          </a:graphicData>
        </a:graphic>
      </p:graphicFrame>
    </p:spTree>
    <p:extLst>
      <p:ext uri="{BB962C8B-B14F-4D97-AF65-F5344CB8AC3E}">
        <p14:creationId xmlns:p14="http://schemas.microsoft.com/office/powerpoint/2010/main" val="2787456218"/>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250"/>
                                        <p:tgtEl>
                                          <p:spTgt spid="3">
                                            <p:txEl>
                                              <p:pRg st="0" end="0"/>
                                            </p:txEl>
                                          </p:spTgt>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3">
                                            <p:txEl>
                                              <p:pRg st="1" end="1"/>
                                            </p:txEl>
                                          </p:spTgt>
                                        </p:tgtEl>
                                        <p:attrNameLst>
                                          <p:attrName>style.visibility</p:attrName>
                                        </p:attrNameLst>
                                      </p:cBhvr>
                                      <p:to>
                                        <p:strVal val="visible"/>
                                      </p:to>
                                    </p:set>
                                    <p:animEffect transition="in" filter="fade">
                                      <p:cBhvr>
                                        <p:cTn id="10" dur="250"/>
                                        <p:tgtEl>
                                          <p:spTgt spid="3">
                                            <p:txEl>
                                              <p:pRg st="1" end="1"/>
                                            </p:txEl>
                                          </p:spTgt>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3">
                                            <p:txEl>
                                              <p:pRg st="2" end="2"/>
                                            </p:txEl>
                                          </p:spTgt>
                                        </p:tgtEl>
                                        <p:attrNameLst>
                                          <p:attrName>style.visibility</p:attrName>
                                        </p:attrNameLst>
                                      </p:cBhvr>
                                      <p:to>
                                        <p:strVal val="visible"/>
                                      </p:to>
                                    </p:set>
                                    <p:animEffect transition="in" filter="fade">
                                      <p:cBhvr>
                                        <p:cTn id="13" dur="250"/>
                                        <p:tgtEl>
                                          <p:spTgt spid="3">
                                            <p:txEl>
                                              <p:pRg st="2" end="2"/>
                                            </p:txEl>
                                          </p:spTgt>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3">
                                            <p:txEl>
                                              <p:pRg st="3" end="3"/>
                                            </p:txEl>
                                          </p:spTgt>
                                        </p:tgtEl>
                                        <p:attrNameLst>
                                          <p:attrName>style.visibility</p:attrName>
                                        </p:attrNameLst>
                                      </p:cBhvr>
                                      <p:to>
                                        <p:strVal val="visible"/>
                                      </p:to>
                                    </p:set>
                                    <p:animEffect transition="in" filter="fade">
                                      <p:cBhvr>
                                        <p:cTn id="16" dur="250"/>
                                        <p:tgtEl>
                                          <p:spTgt spid="3">
                                            <p:txEl>
                                              <p:pRg st="3" end="3"/>
                                            </p:txEl>
                                          </p:spTgt>
                                        </p:tgtEl>
                                      </p:cBhvr>
                                    </p:animEffect>
                                  </p:childTnLst>
                                </p:cTn>
                              </p:par>
                              <p:par>
                                <p:cTn id="17" presetID="10" presetClass="entr" presetSubtype="0" fill="hold" grpId="0" nodeType="withEffect">
                                  <p:stCondLst>
                                    <p:cond delay="0"/>
                                  </p:stCondLst>
                                  <p:childTnLst>
                                    <p:set>
                                      <p:cBhvr>
                                        <p:cTn id="18" dur="1" fill="hold">
                                          <p:stCondLst>
                                            <p:cond delay="0"/>
                                          </p:stCondLst>
                                        </p:cTn>
                                        <p:tgtEl>
                                          <p:spTgt spid="3">
                                            <p:txEl>
                                              <p:pRg st="4" end="4"/>
                                            </p:txEl>
                                          </p:spTgt>
                                        </p:tgtEl>
                                        <p:attrNameLst>
                                          <p:attrName>style.visibility</p:attrName>
                                        </p:attrNameLst>
                                      </p:cBhvr>
                                      <p:to>
                                        <p:strVal val="visible"/>
                                      </p:to>
                                    </p:set>
                                    <p:animEffect transition="in" filter="fade">
                                      <p:cBhvr>
                                        <p:cTn id="19" dur="250"/>
                                        <p:tgtEl>
                                          <p:spTgt spid="3">
                                            <p:txEl>
                                              <p:pRg st="4" end="4"/>
                                            </p:txEl>
                                          </p:spTgt>
                                        </p:tgtEl>
                                      </p:cBhvr>
                                    </p:animEffect>
                                  </p:childTnLst>
                                </p:cTn>
                              </p:par>
                            </p:childTnLst>
                          </p:cTn>
                        </p:par>
                      </p:childTnLst>
                    </p:cTn>
                  </p:par>
                  <p:par>
                    <p:cTn id="20" fill="hold">
                      <p:stCondLst>
                        <p:cond delay="indefinite"/>
                      </p:stCondLst>
                      <p:childTnLst>
                        <p:par>
                          <p:cTn id="21" fill="hold">
                            <p:stCondLst>
                              <p:cond delay="0"/>
                            </p:stCondLst>
                            <p:childTnLst>
                              <p:par>
                                <p:cTn id="22" presetID="10" presetClass="entr" presetSubtype="0" fill="hold" nodeType="clickEffect">
                                  <p:stCondLst>
                                    <p:cond delay="0"/>
                                  </p:stCondLst>
                                  <p:childTnLst>
                                    <p:set>
                                      <p:cBhvr>
                                        <p:cTn id="23" dur="1" fill="hold">
                                          <p:stCondLst>
                                            <p:cond delay="0"/>
                                          </p:stCondLst>
                                        </p:cTn>
                                        <p:tgtEl>
                                          <p:spTgt spid="4">
                                            <p:txEl>
                                              <p:pRg st="0" end="0"/>
                                            </p:txEl>
                                          </p:spTgt>
                                        </p:tgtEl>
                                        <p:attrNameLst>
                                          <p:attrName>style.visibility</p:attrName>
                                        </p:attrNameLst>
                                      </p:cBhvr>
                                      <p:to>
                                        <p:strVal val="visible"/>
                                      </p:to>
                                    </p:set>
                                    <p:animEffect transition="in" filter="fade">
                                      <p:cBhvr>
                                        <p:cTn id="24" dur="500"/>
                                        <p:tgtEl>
                                          <p:spTgt spid="4">
                                            <p:txEl>
                                              <p:pRg st="0" end="0"/>
                                            </p:txEl>
                                          </p:spTgt>
                                        </p:tgtEl>
                                      </p:cBhvr>
                                    </p:animEffect>
                                  </p:childTnLst>
                                </p:cTn>
                              </p:par>
                            </p:childTnLst>
                          </p:cTn>
                        </p:par>
                      </p:childTnLst>
                    </p:cTn>
                  </p:par>
                  <p:par>
                    <p:cTn id="25" fill="hold">
                      <p:stCondLst>
                        <p:cond delay="indefinite"/>
                      </p:stCondLst>
                      <p:childTnLst>
                        <p:par>
                          <p:cTn id="26" fill="hold">
                            <p:stCondLst>
                              <p:cond delay="0"/>
                            </p:stCondLst>
                            <p:childTnLst>
                              <p:par>
                                <p:cTn id="27" presetID="2" presetClass="entr" presetSubtype="4" fill="hold" grpId="0" nodeType="clickEffect">
                                  <p:stCondLst>
                                    <p:cond delay="0"/>
                                  </p:stCondLst>
                                  <p:childTnLst>
                                    <p:set>
                                      <p:cBhvr>
                                        <p:cTn id="28" dur="1" fill="hold">
                                          <p:stCondLst>
                                            <p:cond delay="0"/>
                                          </p:stCondLst>
                                        </p:cTn>
                                        <p:tgtEl>
                                          <p:spTgt spid="7"/>
                                        </p:tgtEl>
                                        <p:attrNameLst>
                                          <p:attrName>style.visibility</p:attrName>
                                        </p:attrNameLst>
                                      </p:cBhvr>
                                      <p:to>
                                        <p:strVal val="visible"/>
                                      </p:to>
                                    </p:set>
                                    <p:anim calcmode="lin" valueType="num">
                                      <p:cBhvr additive="base">
                                        <p:cTn id="29" dur="250" fill="hold"/>
                                        <p:tgtEl>
                                          <p:spTgt spid="7"/>
                                        </p:tgtEl>
                                        <p:attrNameLst>
                                          <p:attrName>ppt_x</p:attrName>
                                        </p:attrNameLst>
                                      </p:cBhvr>
                                      <p:tavLst>
                                        <p:tav tm="0">
                                          <p:val>
                                            <p:strVal val="#ppt_x"/>
                                          </p:val>
                                        </p:tav>
                                        <p:tav tm="100000">
                                          <p:val>
                                            <p:strVal val="#ppt_x"/>
                                          </p:val>
                                        </p:tav>
                                      </p:tavLst>
                                    </p:anim>
                                    <p:anim calcmode="lin" valueType="num">
                                      <p:cBhvr additive="base">
                                        <p:cTn id="30" dur="250" fill="hold"/>
                                        <p:tgtEl>
                                          <p:spTgt spid="7"/>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allAtOnce"/>
      <p:bldGraphic spid="7" grpId="0">
        <p:bldAsOne/>
      </p:bldGraphic>
    </p:bldLst>
  </p:timing>
</p:sld>
</file>

<file path=ppt/slides/slide14.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3"/>
            <a:stretch>
              <a:fillRect t="-9222" b="-9222"/>
            </a:stretch>
          </a:blipFill>
        </p:spPr>
        <p:txBody>
          <a:bodyPr/>
          <a:lstStyle/>
          <a:p>
            <a:endParaRPr lang="en-GB"/>
          </a:p>
        </p:txBody>
      </p:sp>
      <p:sp>
        <p:nvSpPr>
          <p:cNvPr id="4" name="TextBox 3">
            <a:extLst>
              <a:ext uri="{FF2B5EF4-FFF2-40B4-BE49-F238E27FC236}">
                <a16:creationId xmlns:a16="http://schemas.microsoft.com/office/drawing/2014/main" id="{9EC6CFC9-9F9C-4321-6291-EC57F37875BD}"/>
              </a:ext>
            </a:extLst>
          </p:cNvPr>
          <p:cNvSpPr txBox="1"/>
          <p:nvPr/>
        </p:nvSpPr>
        <p:spPr>
          <a:xfrm>
            <a:off x="9829800" y="7734300"/>
            <a:ext cx="9220200" cy="1384995"/>
          </a:xfrm>
          <a:prstGeom prst="rect">
            <a:avLst/>
          </a:prstGeom>
          <a:noFill/>
        </p:spPr>
        <p:txBody>
          <a:bodyPr wrap="square" rtlCol="0">
            <a:spAutoFit/>
          </a:bodyPr>
          <a:lstStyle/>
          <a:p>
            <a:r>
              <a:rPr lang="de-DE" sz="2800" dirty="0">
                <a:solidFill>
                  <a:schemeClr val="bg1"/>
                </a:solidFill>
                <a:latin typeface="Comic Sans MS" panose="030F0702030302020204" pitchFamily="66" charset="0"/>
              </a:rPr>
              <a:t>Puneetha Dharmapura Shrirama</a:t>
            </a:r>
          </a:p>
          <a:p>
            <a:endParaRPr lang="de-DE" sz="2800" dirty="0">
              <a:solidFill>
                <a:schemeClr val="bg1"/>
              </a:solidFill>
              <a:latin typeface="Comic Sans MS" panose="030F0702030302020204" pitchFamily="66" charset="0"/>
            </a:endParaRPr>
          </a:p>
          <a:p>
            <a:r>
              <a:rPr lang="en-GB" sz="2800" dirty="0">
                <a:solidFill>
                  <a:schemeClr val="bg1"/>
                </a:solidFill>
                <a:latin typeface="Comic Sans MS" panose="030F0702030302020204" pitchFamily="66" charset="0"/>
              </a:rPr>
              <a:t>https://github.com/puni-ram48/MADE-SS2024</a:t>
            </a:r>
          </a:p>
        </p:txBody>
      </p:sp>
      <p:sp>
        <p:nvSpPr>
          <p:cNvPr id="5" name="Freeform 3">
            <a:extLst>
              <a:ext uri="{FF2B5EF4-FFF2-40B4-BE49-F238E27FC236}">
                <a16:creationId xmlns:a16="http://schemas.microsoft.com/office/drawing/2014/main" id="{2A070AAE-267B-BF9D-F55F-6E70F9C609CD}"/>
              </a:ext>
            </a:extLst>
          </p:cNvPr>
          <p:cNvSpPr/>
          <p:nvPr/>
        </p:nvSpPr>
        <p:spPr>
          <a:xfrm rot="21443755">
            <a:off x="448419" y="2547616"/>
            <a:ext cx="16624381" cy="3362964"/>
          </a:xfrm>
          <a:custGeom>
            <a:avLst/>
            <a:gdLst/>
            <a:ahLst/>
            <a:cxnLst/>
            <a:rect l="l" t="t" r="r" b="b"/>
            <a:pathLst>
              <a:path w="17266651" h="4049815">
                <a:moveTo>
                  <a:pt x="0" y="0"/>
                </a:moveTo>
                <a:lnTo>
                  <a:pt x="17266651" y="0"/>
                </a:lnTo>
                <a:lnTo>
                  <a:pt x="17266651" y="4049815"/>
                </a:lnTo>
                <a:lnTo>
                  <a:pt x="0" y="4049815"/>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txBody>
          <a:bodyPr/>
          <a:lstStyle/>
          <a:p>
            <a:r>
              <a:rPr lang="en-US" sz="9600" b="1" dirty="0">
                <a:ln/>
                <a:solidFill>
                  <a:schemeClr val="accent3"/>
                </a:solidFill>
                <a:latin typeface="Comic Sans MS" panose="030F0702030302020204" pitchFamily="66" charset="0"/>
                <a:ea typeface="More Sugar"/>
                <a:cs typeface="More Sugar"/>
                <a:sym typeface="More Sugar"/>
              </a:rPr>
              <a:t>        </a:t>
            </a:r>
          </a:p>
          <a:p>
            <a:r>
              <a:rPr lang="en-US" sz="9600" b="1" dirty="0">
                <a:ln/>
                <a:solidFill>
                  <a:schemeClr val="accent3"/>
                </a:solidFill>
                <a:latin typeface="Comic Sans MS" panose="030F0702030302020204" pitchFamily="66" charset="0"/>
                <a:ea typeface="More Sugar"/>
                <a:cs typeface="More Sugar"/>
                <a:sym typeface="More Sugar"/>
              </a:rPr>
              <a:t>					</a:t>
            </a:r>
            <a:r>
              <a:rPr lang="en-US" sz="9600" b="1" dirty="0">
                <a:ln/>
                <a:latin typeface="Comic Sans MS" panose="030F0702030302020204" pitchFamily="66" charset="0"/>
                <a:ea typeface="More Sugar"/>
                <a:cs typeface="More Sugar"/>
                <a:sym typeface="More Sugar"/>
              </a:rPr>
              <a:t>THANK YOU </a:t>
            </a:r>
            <a:r>
              <a:rPr lang="en-US" sz="9600" b="1" dirty="0">
                <a:ln/>
                <a:latin typeface="Comic Sans MS" panose="030F0702030302020204" pitchFamily="66" charset="0"/>
                <a:ea typeface="More Sugar"/>
                <a:cs typeface="More Sugar"/>
                <a:sym typeface="Wingdings" panose="05000000000000000000" pitchFamily="2" charset="2"/>
              </a:rPr>
              <a:t> </a:t>
            </a:r>
            <a:endParaRPr lang="en-US" sz="9600" b="1" dirty="0">
              <a:ln/>
              <a:latin typeface="Comic Sans MS" panose="030F0702030302020204" pitchFamily="66" charset="0"/>
              <a:ea typeface="More Sugar"/>
              <a:cs typeface="More Sugar"/>
              <a:sym typeface="More Sugar"/>
            </a:endParaRPr>
          </a:p>
          <a:p>
            <a:endParaRPr lang="en-GB" dirty="0"/>
          </a:p>
        </p:txBody>
      </p:sp>
      <p:sp>
        <p:nvSpPr>
          <p:cNvPr id="8" name="Freeform 5">
            <a:extLst>
              <a:ext uri="{FF2B5EF4-FFF2-40B4-BE49-F238E27FC236}">
                <a16:creationId xmlns:a16="http://schemas.microsoft.com/office/drawing/2014/main" id="{64296CF5-CC07-A085-6040-5B00D8B8F8D9}"/>
              </a:ext>
            </a:extLst>
          </p:cNvPr>
          <p:cNvSpPr/>
          <p:nvPr/>
        </p:nvSpPr>
        <p:spPr>
          <a:xfrm rot="20158075">
            <a:off x="613063" y="481792"/>
            <a:ext cx="1778880" cy="1636569"/>
          </a:xfrm>
          <a:custGeom>
            <a:avLst/>
            <a:gdLst/>
            <a:ahLst/>
            <a:cxnLst/>
            <a:rect l="l" t="t" r="r" b="b"/>
            <a:pathLst>
              <a:path w="1778880" h="1636569">
                <a:moveTo>
                  <a:pt x="0" y="0"/>
                </a:moveTo>
                <a:lnTo>
                  <a:pt x="1778880" y="0"/>
                </a:lnTo>
                <a:lnTo>
                  <a:pt x="1778880" y="1636569"/>
                </a:lnTo>
                <a:lnTo>
                  <a:pt x="0" y="1636569"/>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txBody>
          <a:bodyPr/>
          <a:lstStyle/>
          <a:p>
            <a:endParaRPr lang="en-GB"/>
          </a:p>
        </p:txBody>
      </p:sp>
    </p:spTree>
    <p:extLst>
      <p:ext uri="{BB962C8B-B14F-4D97-AF65-F5344CB8AC3E}">
        <p14:creationId xmlns:p14="http://schemas.microsoft.com/office/powerpoint/2010/main" val="2086275932"/>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8D84B465-8C8C-453A-C96D-08926CDBB213}"/>
            </a:ext>
          </a:extLst>
        </p:cNvPr>
        <p:cNvGrpSpPr/>
        <p:nvPr/>
      </p:nvGrpSpPr>
      <p:grpSpPr>
        <a:xfrm>
          <a:off x="0" y="0"/>
          <a:ext cx="0" cy="0"/>
          <a:chOff x="0" y="0"/>
          <a:chExt cx="0" cy="0"/>
        </a:xfrm>
      </p:grpSpPr>
      <p:sp>
        <p:nvSpPr>
          <p:cNvPr id="2" name="Freeform 2">
            <a:extLst>
              <a:ext uri="{FF2B5EF4-FFF2-40B4-BE49-F238E27FC236}">
                <a16:creationId xmlns:a16="http://schemas.microsoft.com/office/drawing/2014/main" id="{BB5150C6-9BB0-5930-DD0A-A1DE6A3BD4F4}"/>
              </a:ext>
            </a:extLst>
          </p:cNvPr>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3"/>
            <a:stretch>
              <a:fillRect t="-9222" b="-9222"/>
            </a:stretch>
          </a:blipFill>
        </p:spPr>
        <p:txBody>
          <a:bodyPr/>
          <a:lstStyle/>
          <a:p>
            <a:endParaRPr lang="en-GB" sz="4400" dirty="0">
              <a:solidFill>
                <a:schemeClr val="bg1"/>
              </a:solidFill>
              <a:latin typeface="Comic Sans MS" panose="030F0702030302020204" pitchFamily="66" charset="0"/>
            </a:endParaRPr>
          </a:p>
        </p:txBody>
      </p:sp>
      <p:pic>
        <p:nvPicPr>
          <p:cNvPr id="18" name="Picture 17">
            <a:extLst>
              <a:ext uri="{FF2B5EF4-FFF2-40B4-BE49-F238E27FC236}">
                <a16:creationId xmlns:a16="http://schemas.microsoft.com/office/drawing/2014/main" id="{221158C9-211B-16F5-5CFE-5C3ABEBEB383}"/>
              </a:ext>
            </a:extLst>
          </p:cNvPr>
          <p:cNvPicPr>
            <a:picLocks noChangeAspect="1"/>
          </p:cNvPicPr>
          <p:nvPr/>
        </p:nvPicPr>
        <p:blipFill rotWithShape="1">
          <a:blip r:embed="rId4"/>
          <a:srcRect l="19756" t="18691" r="19454" b="41655"/>
          <a:stretch/>
        </p:blipFill>
        <p:spPr>
          <a:xfrm>
            <a:off x="16316104" y="381000"/>
            <a:ext cx="1812319" cy="760280"/>
          </a:xfrm>
          <a:prstGeom prst="roundRect">
            <a:avLst>
              <a:gd name="adj" fmla="val 8594"/>
            </a:avLst>
          </a:prstGeom>
          <a:solidFill>
            <a:srgbClr val="FFFFFF">
              <a:shade val="85000"/>
            </a:srgbClr>
          </a:solidFill>
          <a:ln>
            <a:noFill/>
          </a:ln>
          <a:effectLst>
            <a:reflection blurRad="12700" stA="38000" endPos="28000" dist="5000" dir="5400000" sy="-100000" algn="bl" rotWithShape="0"/>
          </a:effectLst>
        </p:spPr>
      </p:pic>
      <p:cxnSp>
        <p:nvCxnSpPr>
          <p:cNvPr id="21" name="Straight Connector 20">
            <a:extLst>
              <a:ext uri="{FF2B5EF4-FFF2-40B4-BE49-F238E27FC236}">
                <a16:creationId xmlns:a16="http://schemas.microsoft.com/office/drawing/2014/main" id="{4FE36356-A531-3C1A-3AF0-DAF5085E7F28}"/>
              </a:ext>
            </a:extLst>
          </p:cNvPr>
          <p:cNvCxnSpPr>
            <a:cxnSpLocks/>
          </p:cNvCxnSpPr>
          <p:nvPr/>
        </p:nvCxnSpPr>
        <p:spPr>
          <a:xfrm flipV="1">
            <a:off x="1600200" y="1638300"/>
            <a:ext cx="14173200" cy="76200"/>
          </a:xfrm>
          <a:prstGeom prst="line">
            <a:avLst/>
          </a:prstGeom>
        </p:spPr>
        <p:style>
          <a:lnRef idx="3">
            <a:schemeClr val="dk1"/>
          </a:lnRef>
          <a:fillRef idx="0">
            <a:schemeClr val="dk1"/>
          </a:fillRef>
          <a:effectRef idx="2">
            <a:schemeClr val="dk1"/>
          </a:effectRef>
          <a:fontRef idx="minor">
            <a:schemeClr val="tx1"/>
          </a:fontRef>
        </p:style>
      </p:cxnSp>
      <p:sp>
        <p:nvSpPr>
          <p:cNvPr id="23" name="TextBox 22">
            <a:extLst>
              <a:ext uri="{FF2B5EF4-FFF2-40B4-BE49-F238E27FC236}">
                <a16:creationId xmlns:a16="http://schemas.microsoft.com/office/drawing/2014/main" id="{EF6708AB-84DB-2778-0D5E-4EA90F8D4A1D}"/>
              </a:ext>
            </a:extLst>
          </p:cNvPr>
          <p:cNvSpPr txBox="1"/>
          <p:nvPr/>
        </p:nvSpPr>
        <p:spPr>
          <a:xfrm>
            <a:off x="1572412" y="794703"/>
            <a:ext cx="12067388" cy="707886"/>
          </a:xfrm>
          <a:prstGeom prst="rect">
            <a:avLst/>
          </a:prstGeom>
          <a:noFill/>
        </p:spPr>
        <p:txBody>
          <a:bodyPr wrap="square" rtlCol="0">
            <a:spAutoFit/>
          </a:bodyPr>
          <a:lstStyle/>
          <a:p>
            <a:r>
              <a:rPr lang="en-GB" sz="4000" dirty="0">
                <a:solidFill>
                  <a:schemeClr val="bg1"/>
                </a:solidFill>
                <a:latin typeface="Segoe UI Semibold" panose="020B0702040204020203" pitchFamily="34" charset="0"/>
                <a:cs typeface="Segoe UI Semibold" panose="020B0702040204020203" pitchFamily="34" charset="0"/>
              </a:rPr>
              <a:t>Anomaly Detection Challenges &amp; SimpleNet’s Fix</a:t>
            </a:r>
          </a:p>
        </p:txBody>
      </p:sp>
      <p:sp>
        <p:nvSpPr>
          <p:cNvPr id="4" name="Rectangle 3">
            <a:extLst>
              <a:ext uri="{FF2B5EF4-FFF2-40B4-BE49-F238E27FC236}">
                <a16:creationId xmlns:a16="http://schemas.microsoft.com/office/drawing/2014/main" id="{6FBAA8C7-A7C3-4997-674C-106444CE2385}"/>
              </a:ext>
            </a:extLst>
          </p:cNvPr>
          <p:cNvSpPr/>
          <p:nvPr/>
        </p:nvSpPr>
        <p:spPr>
          <a:xfrm>
            <a:off x="1572413" y="2218900"/>
            <a:ext cx="6885788" cy="6506001"/>
          </a:xfrm>
          <a:prstGeom prst="rect">
            <a:avLst/>
          </a:prstGeom>
          <a:solidFill>
            <a:schemeClr val="accent2">
              <a:alpha val="50000"/>
            </a:schemeClr>
          </a:solidFill>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style>
          <a:lnRef idx="0">
            <a:scrgbClr r="0" g="0" b="0"/>
          </a:lnRef>
          <a:fillRef idx="0">
            <a:scrgbClr r="0" g="0" b="0"/>
          </a:fillRef>
          <a:effectRef idx="0">
            <a:scrgbClr r="0" g="0" b="0"/>
          </a:effectRef>
          <a:fontRef idx="minor">
            <a:schemeClr val="lt1"/>
          </a:fontRef>
        </p:style>
        <p:txBody>
          <a:bodyPr rtlCol="0" anchor="ctr"/>
          <a:lstStyle/>
          <a:p>
            <a:pPr algn="ctr"/>
            <a:endParaRPr lang="en-GB" dirty="0"/>
          </a:p>
        </p:txBody>
      </p:sp>
      <p:sp>
        <p:nvSpPr>
          <p:cNvPr id="7" name="Rectangle 6">
            <a:extLst>
              <a:ext uri="{FF2B5EF4-FFF2-40B4-BE49-F238E27FC236}">
                <a16:creationId xmlns:a16="http://schemas.microsoft.com/office/drawing/2014/main" id="{CE7B6A74-231B-6BDD-3FDB-655EB6CCEDD2}"/>
              </a:ext>
            </a:extLst>
          </p:cNvPr>
          <p:cNvSpPr/>
          <p:nvPr/>
        </p:nvSpPr>
        <p:spPr>
          <a:xfrm>
            <a:off x="9561426" y="2218901"/>
            <a:ext cx="6885787" cy="6506000"/>
          </a:xfrm>
          <a:prstGeom prst="rect">
            <a:avLst/>
          </a:prstGeom>
          <a:solidFill>
            <a:schemeClr val="accent1">
              <a:alpha val="50000"/>
            </a:schemeClr>
          </a:solidFill>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style>
          <a:lnRef idx="0">
            <a:scrgbClr r="0" g="0" b="0"/>
          </a:lnRef>
          <a:fillRef idx="0">
            <a:scrgbClr r="0" g="0" b="0"/>
          </a:fillRef>
          <a:effectRef idx="0">
            <a:scrgbClr r="0" g="0" b="0"/>
          </a:effectRef>
          <a:fontRef idx="minor">
            <a:schemeClr val="lt1"/>
          </a:fontRef>
        </p:style>
        <p:txBody>
          <a:bodyPr rtlCol="0" anchor="ctr"/>
          <a:lstStyle/>
          <a:p>
            <a:pPr algn="ctr"/>
            <a:endParaRPr lang="en-GB" dirty="0"/>
          </a:p>
        </p:txBody>
      </p:sp>
      <p:sp>
        <p:nvSpPr>
          <p:cNvPr id="8" name="TextBox 7">
            <a:extLst>
              <a:ext uri="{FF2B5EF4-FFF2-40B4-BE49-F238E27FC236}">
                <a16:creationId xmlns:a16="http://schemas.microsoft.com/office/drawing/2014/main" id="{4B3668B9-071B-46DA-71D5-6FB49AE96161}"/>
              </a:ext>
            </a:extLst>
          </p:cNvPr>
          <p:cNvSpPr txBox="1"/>
          <p:nvPr/>
        </p:nvSpPr>
        <p:spPr>
          <a:xfrm>
            <a:off x="1840787" y="2717532"/>
            <a:ext cx="6388813" cy="5355312"/>
          </a:xfrm>
          <a:prstGeom prst="rect">
            <a:avLst/>
          </a:prstGeom>
          <a:noFill/>
        </p:spPr>
        <p:txBody>
          <a:bodyPr wrap="square" rtlCol="0">
            <a:spAutoFit/>
          </a:bodyPr>
          <a:lstStyle/>
          <a:p>
            <a:pPr algn="just"/>
            <a:r>
              <a:rPr lang="de-DE" sz="3600" dirty="0">
                <a:solidFill>
                  <a:schemeClr val="bg1"/>
                </a:solidFill>
                <a:latin typeface="Segoe UI Semibold" panose="020B0702040204020203" pitchFamily="34" charset="0"/>
                <a:cs typeface="Segoe UI Semibold" panose="020B0702040204020203" pitchFamily="34" charset="0"/>
              </a:rPr>
              <a:t>Challenges:</a:t>
            </a:r>
          </a:p>
          <a:p>
            <a:pPr algn="just"/>
            <a:endParaRPr lang="de-DE" dirty="0">
              <a:solidFill>
                <a:schemeClr val="bg1"/>
              </a:solidFill>
            </a:endParaRPr>
          </a:p>
          <a:p>
            <a:pPr algn="just"/>
            <a:r>
              <a:rPr lang="en-GB" sz="2800" dirty="0">
                <a:solidFill>
                  <a:schemeClr val="bg1"/>
                </a:solidFill>
                <a:latin typeface="Segoe UI" panose="020B0502040204020203" pitchFamily="34" charset="0"/>
                <a:cs typeface="Segoe UI" panose="020B0502040204020203" pitchFamily="34" charset="0"/>
              </a:rPr>
              <a:t>     </a:t>
            </a:r>
            <a:r>
              <a:rPr lang="en-GB" sz="2600" dirty="0">
                <a:solidFill>
                  <a:schemeClr val="bg1"/>
                </a:solidFill>
                <a:latin typeface="Segoe UI" panose="020B0502040204020203" pitchFamily="34" charset="0"/>
                <a:cs typeface="Segoe UI" panose="020B0502040204020203" pitchFamily="34" charset="0"/>
              </a:rPr>
              <a:t>Reconstruction methods can fail to identify minor anomalies.</a:t>
            </a:r>
            <a:r>
              <a:rPr lang="de-DE" sz="2600" dirty="0">
                <a:solidFill>
                  <a:schemeClr val="bg1"/>
                </a:solidFill>
                <a:latin typeface="Segoe UI" panose="020B0502040204020203" pitchFamily="34" charset="0"/>
                <a:cs typeface="Segoe UI" panose="020B0502040204020203" pitchFamily="34" charset="0"/>
              </a:rPr>
              <a:t> </a:t>
            </a:r>
          </a:p>
          <a:p>
            <a:pPr algn="just"/>
            <a:endParaRPr lang="de-DE" sz="2600" dirty="0">
              <a:solidFill>
                <a:schemeClr val="bg1"/>
              </a:solidFill>
              <a:latin typeface="Segoe UI" panose="020B0502040204020203" pitchFamily="34" charset="0"/>
              <a:cs typeface="Segoe UI" panose="020B0502040204020203" pitchFamily="34" charset="0"/>
            </a:endParaRPr>
          </a:p>
          <a:p>
            <a:pPr algn="just"/>
            <a:r>
              <a:rPr lang="de-DE" sz="2600" dirty="0">
                <a:solidFill>
                  <a:schemeClr val="bg1"/>
                </a:solidFill>
                <a:latin typeface="Segoe UI" panose="020B0502040204020203" pitchFamily="34" charset="0"/>
                <a:cs typeface="Segoe UI" panose="020B0502040204020203" pitchFamily="34" charset="0"/>
              </a:rPr>
              <a:t>     </a:t>
            </a:r>
            <a:r>
              <a:rPr lang="en-GB" sz="2600" dirty="0">
                <a:solidFill>
                  <a:schemeClr val="bg1"/>
                </a:solidFill>
                <a:latin typeface="Segoe UI" panose="020B0502040204020203" pitchFamily="34" charset="0"/>
                <a:cs typeface="Segoe UI" panose="020B0502040204020203" pitchFamily="34" charset="0"/>
              </a:rPr>
              <a:t>Synthetic anomalies in image space don’t match real-world defects.</a:t>
            </a:r>
          </a:p>
          <a:p>
            <a:pPr algn="just"/>
            <a:endParaRPr lang="en-GB" sz="2600" dirty="0">
              <a:solidFill>
                <a:schemeClr val="bg1"/>
              </a:solidFill>
              <a:latin typeface="Segoe UI" panose="020B0502040204020203" pitchFamily="34" charset="0"/>
              <a:cs typeface="Segoe UI" panose="020B0502040204020203" pitchFamily="34" charset="0"/>
            </a:endParaRPr>
          </a:p>
          <a:p>
            <a:pPr algn="just"/>
            <a:r>
              <a:rPr lang="en-GB" sz="2600" dirty="0">
                <a:solidFill>
                  <a:schemeClr val="bg1"/>
                </a:solidFill>
                <a:latin typeface="Segoe UI" panose="020B0502040204020203" pitchFamily="34" charset="0"/>
                <a:cs typeface="Segoe UI" panose="020B0502040204020203" pitchFamily="34" charset="0"/>
              </a:rPr>
              <a:t>      Pretrained models, like those from ImageNet, introduce domain bias.</a:t>
            </a:r>
          </a:p>
          <a:p>
            <a:pPr algn="just"/>
            <a:endParaRPr lang="en-GB" sz="2600" dirty="0">
              <a:solidFill>
                <a:schemeClr val="bg1"/>
              </a:solidFill>
              <a:latin typeface="Segoe UI" panose="020B0502040204020203" pitchFamily="34" charset="0"/>
              <a:cs typeface="Segoe UI" panose="020B0502040204020203" pitchFamily="34" charset="0"/>
            </a:endParaRPr>
          </a:p>
          <a:p>
            <a:pPr algn="just"/>
            <a:r>
              <a:rPr lang="en-GB" sz="2600" dirty="0">
                <a:solidFill>
                  <a:schemeClr val="bg1"/>
                </a:solidFill>
                <a:latin typeface="Segoe UI" panose="020B0502040204020203" pitchFamily="34" charset="0"/>
                <a:cs typeface="Segoe UI" panose="020B0502040204020203" pitchFamily="34" charset="0"/>
              </a:rPr>
              <a:t>      Embedding-Based (</a:t>
            </a:r>
            <a:r>
              <a:rPr lang="en-GB" sz="2600" dirty="0" err="1">
                <a:solidFill>
                  <a:schemeClr val="bg1"/>
                </a:solidFill>
                <a:latin typeface="Segoe UI" panose="020B0502040204020203" pitchFamily="34" charset="0"/>
                <a:cs typeface="Segoe UI" panose="020B0502040204020203" pitchFamily="34" charset="0"/>
              </a:rPr>
              <a:t>PatchCore</a:t>
            </a:r>
            <a:r>
              <a:rPr lang="en-GB" sz="2600" dirty="0">
                <a:solidFill>
                  <a:schemeClr val="bg1"/>
                </a:solidFill>
                <a:latin typeface="Segoe UI" panose="020B0502040204020203" pitchFamily="34" charset="0"/>
                <a:cs typeface="Segoe UI" panose="020B0502040204020203" pitchFamily="34" charset="0"/>
              </a:rPr>
              <a:t>, </a:t>
            </a:r>
            <a:r>
              <a:rPr lang="en-GB" sz="2600" dirty="0" err="1">
                <a:solidFill>
                  <a:schemeClr val="bg1"/>
                </a:solidFill>
                <a:latin typeface="Segoe UI" panose="020B0502040204020203" pitchFamily="34" charset="0"/>
                <a:cs typeface="Segoe UI" panose="020B0502040204020203" pitchFamily="34" charset="0"/>
              </a:rPr>
              <a:t>PaDiM</a:t>
            </a:r>
            <a:r>
              <a:rPr lang="en-GB" sz="2600" dirty="0">
                <a:solidFill>
                  <a:schemeClr val="bg1"/>
                </a:solidFill>
                <a:latin typeface="Segoe UI" panose="020B0502040204020203" pitchFamily="34" charset="0"/>
                <a:cs typeface="Segoe UI" panose="020B0502040204020203" pitchFamily="34" charset="0"/>
              </a:rPr>
              <a:t>) are memory-intensive and slow inference.</a:t>
            </a:r>
          </a:p>
        </p:txBody>
      </p:sp>
      <p:sp>
        <p:nvSpPr>
          <p:cNvPr id="10" name="TextBox 9">
            <a:extLst>
              <a:ext uri="{FF2B5EF4-FFF2-40B4-BE49-F238E27FC236}">
                <a16:creationId xmlns:a16="http://schemas.microsoft.com/office/drawing/2014/main" id="{DC57BA88-1BE9-D197-2A2F-430F61C20EAD}"/>
              </a:ext>
            </a:extLst>
          </p:cNvPr>
          <p:cNvSpPr txBox="1"/>
          <p:nvPr/>
        </p:nvSpPr>
        <p:spPr>
          <a:xfrm>
            <a:off x="10047270" y="2684125"/>
            <a:ext cx="6183330" cy="5355312"/>
          </a:xfrm>
          <a:prstGeom prst="rect">
            <a:avLst/>
          </a:prstGeom>
          <a:noFill/>
        </p:spPr>
        <p:txBody>
          <a:bodyPr wrap="square" rtlCol="0">
            <a:spAutoFit/>
          </a:bodyPr>
          <a:lstStyle/>
          <a:p>
            <a:pPr algn="just"/>
            <a:r>
              <a:rPr lang="de-DE" sz="3600" dirty="0">
                <a:solidFill>
                  <a:schemeClr val="bg1"/>
                </a:solidFill>
                <a:latin typeface="Segoe UI Semibold" panose="020B0702040204020203" pitchFamily="34" charset="0"/>
                <a:cs typeface="Segoe UI Semibold" panose="020B0702040204020203" pitchFamily="34" charset="0"/>
              </a:rPr>
              <a:t>SimpleNet‘s Solution:</a:t>
            </a:r>
            <a:endParaRPr lang="de-DE" dirty="0">
              <a:solidFill>
                <a:schemeClr val="bg1"/>
              </a:solidFill>
            </a:endParaRPr>
          </a:p>
          <a:p>
            <a:pPr algn="just"/>
            <a:endParaRPr lang="de-DE" dirty="0">
              <a:solidFill>
                <a:schemeClr val="bg1"/>
              </a:solidFill>
            </a:endParaRPr>
          </a:p>
          <a:p>
            <a:pPr algn="just"/>
            <a:r>
              <a:rPr lang="en-GB" sz="2800" dirty="0">
                <a:solidFill>
                  <a:schemeClr val="bg1"/>
                </a:solidFill>
                <a:latin typeface="Segoe UI" panose="020B0502040204020203" pitchFamily="34" charset="0"/>
                <a:cs typeface="Segoe UI" panose="020B0502040204020203" pitchFamily="34" charset="0"/>
              </a:rPr>
              <a:t>    </a:t>
            </a:r>
            <a:r>
              <a:rPr lang="en-GB" sz="2600" dirty="0">
                <a:solidFill>
                  <a:schemeClr val="bg1"/>
                </a:solidFill>
                <a:latin typeface="Segoe UI" panose="020B0502040204020203" pitchFamily="34" charset="0"/>
                <a:cs typeface="Segoe UI" panose="020B0502040204020203" pitchFamily="34" charset="0"/>
              </a:rPr>
              <a:t>Feature adaptation reduces domain bias and improves accuracy.</a:t>
            </a:r>
          </a:p>
          <a:p>
            <a:pPr algn="just"/>
            <a:endParaRPr lang="en-GB" sz="2600" dirty="0">
              <a:solidFill>
                <a:schemeClr val="bg1"/>
              </a:solidFill>
              <a:latin typeface="Segoe UI" panose="020B0502040204020203" pitchFamily="34" charset="0"/>
              <a:cs typeface="Segoe UI" panose="020B0502040204020203" pitchFamily="34" charset="0"/>
            </a:endParaRPr>
          </a:p>
          <a:p>
            <a:pPr algn="just"/>
            <a:r>
              <a:rPr lang="en-GB" sz="2600" dirty="0">
                <a:solidFill>
                  <a:schemeClr val="bg1"/>
                </a:solidFill>
                <a:latin typeface="Segoe UI" panose="020B0502040204020203" pitchFamily="34" charset="0"/>
                <a:cs typeface="Segoe UI" panose="020B0502040204020203" pitchFamily="34" charset="0"/>
              </a:rPr>
              <a:t>    Noise in feature space creates more realistic synthetic anomalies.</a:t>
            </a:r>
          </a:p>
          <a:p>
            <a:pPr algn="just"/>
            <a:endParaRPr lang="en-GB" sz="2600" dirty="0">
              <a:solidFill>
                <a:schemeClr val="bg1"/>
              </a:solidFill>
              <a:latin typeface="Segoe UI" panose="020B0502040204020203" pitchFamily="34" charset="0"/>
              <a:cs typeface="Segoe UI" panose="020B0502040204020203" pitchFamily="34" charset="0"/>
            </a:endParaRPr>
          </a:p>
          <a:p>
            <a:pPr algn="just"/>
            <a:r>
              <a:rPr lang="en-GB" sz="2600" dirty="0">
                <a:solidFill>
                  <a:schemeClr val="bg1"/>
                </a:solidFill>
                <a:latin typeface="Segoe UI" panose="020B0502040204020203" pitchFamily="34" charset="0"/>
                <a:cs typeface="Segoe UI" panose="020B0502040204020203" pitchFamily="34" charset="0"/>
              </a:rPr>
              <a:t>     A lightweight discriminator detects anomalies efficiently and quickly.</a:t>
            </a:r>
          </a:p>
          <a:p>
            <a:pPr algn="just"/>
            <a:endParaRPr lang="en-GB" sz="2600" dirty="0">
              <a:solidFill>
                <a:schemeClr val="bg1"/>
              </a:solidFill>
              <a:latin typeface="Segoe UI" panose="020B0502040204020203" pitchFamily="34" charset="0"/>
              <a:cs typeface="Segoe UI" panose="020B0502040204020203" pitchFamily="34" charset="0"/>
            </a:endParaRPr>
          </a:p>
          <a:p>
            <a:pPr algn="just"/>
            <a:r>
              <a:rPr lang="en-GB" sz="2600" dirty="0">
                <a:solidFill>
                  <a:schemeClr val="bg1"/>
                </a:solidFill>
                <a:latin typeface="Segoe UI" panose="020B0502040204020203" pitchFamily="34" charset="0"/>
                <a:cs typeface="Segoe UI" panose="020B0502040204020203" pitchFamily="34" charset="0"/>
              </a:rPr>
              <a:t>     One-class novelty detection extends beyond industrial defects..</a:t>
            </a:r>
          </a:p>
        </p:txBody>
      </p:sp>
      <p:pic>
        <p:nvPicPr>
          <p:cNvPr id="12" name="Graphic 11" descr="Warning with solid fill">
            <a:extLst>
              <a:ext uri="{FF2B5EF4-FFF2-40B4-BE49-F238E27FC236}">
                <a16:creationId xmlns:a16="http://schemas.microsoft.com/office/drawing/2014/main" id="{37D2F80C-5B5A-4DEB-9CAB-A374177B31A9}"/>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1857055" y="3619501"/>
            <a:ext cx="427233" cy="427233"/>
          </a:xfrm>
          <a:prstGeom prst="rect">
            <a:avLst/>
          </a:prstGeom>
        </p:spPr>
      </p:pic>
      <p:pic>
        <p:nvPicPr>
          <p:cNvPr id="14" name="Graphic 13" descr="Syncing cloud with solid fill">
            <a:extLst>
              <a:ext uri="{FF2B5EF4-FFF2-40B4-BE49-F238E27FC236}">
                <a16:creationId xmlns:a16="http://schemas.microsoft.com/office/drawing/2014/main" id="{23538001-5D4E-A849-E10D-7854BD3D304B}"/>
              </a:ext>
            </a:extLst>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1824045" y="5897495"/>
            <a:ext cx="523220" cy="523220"/>
          </a:xfrm>
          <a:prstGeom prst="rect">
            <a:avLst/>
          </a:prstGeom>
        </p:spPr>
      </p:pic>
      <p:pic>
        <p:nvPicPr>
          <p:cNvPr id="16" name="Graphic 15" descr="Laptop with solid fill">
            <a:extLst>
              <a:ext uri="{FF2B5EF4-FFF2-40B4-BE49-F238E27FC236}">
                <a16:creationId xmlns:a16="http://schemas.microsoft.com/office/drawing/2014/main" id="{43770992-4823-EF1C-CC6A-00E67D49DB84}"/>
              </a:ext>
            </a:extLst>
          </p:cNvPr>
          <p:cNvPicPr>
            <a:picLocks noChangeAspect="1"/>
          </p:cNvPicPr>
          <p:nvPr/>
        </p:nvPicPr>
        <p:blipFill>
          <a:blip r:embed="rId9">
            <a:extLst>
              <a:ext uri="{96DAC541-7B7A-43D3-8B79-37D633B846F1}">
                <asvg:svgBlip xmlns:asvg="http://schemas.microsoft.com/office/drawing/2016/SVG/main" r:embed="rId10"/>
              </a:ext>
            </a:extLst>
          </a:blip>
          <a:stretch>
            <a:fillRect/>
          </a:stretch>
        </p:blipFill>
        <p:spPr>
          <a:xfrm>
            <a:off x="1876121" y="7161679"/>
            <a:ext cx="523220" cy="523220"/>
          </a:xfrm>
          <a:prstGeom prst="rect">
            <a:avLst/>
          </a:prstGeom>
        </p:spPr>
      </p:pic>
      <p:pic>
        <p:nvPicPr>
          <p:cNvPr id="19" name="Graphic 18" descr="Lights On with solid fill">
            <a:extLst>
              <a:ext uri="{FF2B5EF4-FFF2-40B4-BE49-F238E27FC236}">
                <a16:creationId xmlns:a16="http://schemas.microsoft.com/office/drawing/2014/main" id="{8339B178-33A3-DBE1-ACBB-2DC2FD465594}"/>
              </a:ext>
            </a:extLst>
          </p:cNvPr>
          <p:cNvPicPr>
            <a:picLocks noChangeAspect="1"/>
          </p:cNvPicPr>
          <p:nvPr/>
        </p:nvPicPr>
        <p:blipFill>
          <a:blip r:embed="rId11">
            <a:extLst>
              <a:ext uri="{96DAC541-7B7A-43D3-8B79-37D633B846F1}">
                <asvg:svgBlip xmlns:asvg="http://schemas.microsoft.com/office/drawing/2016/SVG/main" r:embed="rId12"/>
              </a:ext>
            </a:extLst>
          </a:blip>
          <a:stretch>
            <a:fillRect/>
          </a:stretch>
        </p:blipFill>
        <p:spPr>
          <a:xfrm>
            <a:off x="9879050" y="3568418"/>
            <a:ext cx="405065" cy="405065"/>
          </a:xfrm>
          <a:prstGeom prst="rect">
            <a:avLst/>
          </a:prstGeom>
        </p:spPr>
      </p:pic>
      <p:pic>
        <p:nvPicPr>
          <p:cNvPr id="22" name="Graphic 21" descr="CheckList with solid fill">
            <a:extLst>
              <a:ext uri="{FF2B5EF4-FFF2-40B4-BE49-F238E27FC236}">
                <a16:creationId xmlns:a16="http://schemas.microsoft.com/office/drawing/2014/main" id="{56F28ABF-DCCA-0F79-7684-9E0A6A208522}"/>
              </a:ext>
            </a:extLst>
          </p:cNvPr>
          <p:cNvPicPr>
            <a:picLocks noChangeAspect="1"/>
          </p:cNvPicPr>
          <p:nvPr/>
        </p:nvPicPr>
        <p:blipFill>
          <a:blip r:embed="rId13">
            <a:extLst>
              <a:ext uri="{96DAC541-7B7A-43D3-8B79-37D633B846F1}">
                <asvg:svgBlip xmlns:asvg="http://schemas.microsoft.com/office/drawing/2016/SVG/main" r:embed="rId14"/>
              </a:ext>
            </a:extLst>
          </a:blip>
          <a:stretch>
            <a:fillRect/>
          </a:stretch>
        </p:blipFill>
        <p:spPr>
          <a:xfrm>
            <a:off x="9871683" y="4666200"/>
            <a:ext cx="523221" cy="523221"/>
          </a:xfrm>
          <a:prstGeom prst="rect">
            <a:avLst/>
          </a:prstGeom>
        </p:spPr>
      </p:pic>
      <p:pic>
        <p:nvPicPr>
          <p:cNvPr id="26" name="Graphic 25" descr="Globe outline">
            <a:extLst>
              <a:ext uri="{FF2B5EF4-FFF2-40B4-BE49-F238E27FC236}">
                <a16:creationId xmlns:a16="http://schemas.microsoft.com/office/drawing/2014/main" id="{84E58DE3-3ED5-DDA7-C71A-3B2B4DB2EBD7}"/>
              </a:ext>
            </a:extLst>
          </p:cNvPr>
          <p:cNvPicPr>
            <a:picLocks noChangeAspect="1"/>
          </p:cNvPicPr>
          <p:nvPr/>
        </p:nvPicPr>
        <p:blipFill>
          <a:blip r:embed="rId15">
            <a:extLst>
              <a:ext uri="{96DAC541-7B7A-43D3-8B79-37D633B846F1}">
                <asvg:svgBlip xmlns:asvg="http://schemas.microsoft.com/office/drawing/2016/SVG/main" r:embed="rId16"/>
              </a:ext>
            </a:extLst>
          </a:blip>
          <a:stretch>
            <a:fillRect/>
          </a:stretch>
        </p:blipFill>
        <p:spPr>
          <a:xfrm>
            <a:off x="9871683" y="7000488"/>
            <a:ext cx="533400" cy="533400"/>
          </a:xfrm>
          <a:prstGeom prst="rect">
            <a:avLst/>
          </a:prstGeom>
        </p:spPr>
      </p:pic>
      <p:pic>
        <p:nvPicPr>
          <p:cNvPr id="28" name="Graphic 27" descr="Old Key with solid fill">
            <a:extLst>
              <a:ext uri="{FF2B5EF4-FFF2-40B4-BE49-F238E27FC236}">
                <a16:creationId xmlns:a16="http://schemas.microsoft.com/office/drawing/2014/main" id="{AC455D24-0875-E67C-2F17-E25BED981B5E}"/>
              </a:ext>
            </a:extLst>
          </p:cNvPr>
          <p:cNvPicPr>
            <a:picLocks noChangeAspect="1"/>
          </p:cNvPicPr>
          <p:nvPr/>
        </p:nvPicPr>
        <p:blipFill>
          <a:blip r:embed="rId17">
            <a:extLst>
              <a:ext uri="{96DAC541-7B7A-43D3-8B79-37D633B846F1}">
                <asvg:svgBlip xmlns:asvg="http://schemas.microsoft.com/office/drawing/2016/SVG/main" r:embed="rId18"/>
              </a:ext>
            </a:extLst>
          </a:blip>
          <a:stretch>
            <a:fillRect/>
          </a:stretch>
        </p:blipFill>
        <p:spPr>
          <a:xfrm>
            <a:off x="9933116" y="5977830"/>
            <a:ext cx="429105" cy="429105"/>
          </a:xfrm>
          <a:prstGeom prst="rect">
            <a:avLst/>
          </a:prstGeom>
        </p:spPr>
      </p:pic>
      <p:pic>
        <p:nvPicPr>
          <p:cNvPr id="32" name="Graphic 31" descr="Stop with solid fill">
            <a:extLst>
              <a:ext uri="{FF2B5EF4-FFF2-40B4-BE49-F238E27FC236}">
                <a16:creationId xmlns:a16="http://schemas.microsoft.com/office/drawing/2014/main" id="{3E14821A-20EE-82E8-BE31-608549009CC0}"/>
              </a:ext>
            </a:extLst>
          </p:cNvPr>
          <p:cNvPicPr>
            <a:picLocks noChangeAspect="1"/>
          </p:cNvPicPr>
          <p:nvPr/>
        </p:nvPicPr>
        <p:blipFill>
          <a:blip r:embed="rId19">
            <a:extLst>
              <a:ext uri="{96DAC541-7B7A-43D3-8B79-37D633B846F1}">
                <asvg:svgBlip xmlns:asvg="http://schemas.microsoft.com/office/drawing/2016/SVG/main" r:embed="rId20"/>
              </a:ext>
            </a:extLst>
          </a:blip>
          <a:stretch>
            <a:fillRect/>
          </a:stretch>
        </p:blipFill>
        <p:spPr>
          <a:xfrm>
            <a:off x="1819736" y="4787698"/>
            <a:ext cx="457200" cy="457200"/>
          </a:xfrm>
          <a:prstGeom prst="rect">
            <a:avLst/>
          </a:prstGeom>
        </p:spPr>
      </p:pic>
      <p:sp>
        <p:nvSpPr>
          <p:cNvPr id="37" name="TextBox 36">
            <a:extLst>
              <a:ext uri="{FF2B5EF4-FFF2-40B4-BE49-F238E27FC236}">
                <a16:creationId xmlns:a16="http://schemas.microsoft.com/office/drawing/2014/main" id="{E7844A97-D61F-EA55-DD13-E0A1F834FD65}"/>
              </a:ext>
            </a:extLst>
          </p:cNvPr>
          <p:cNvSpPr txBox="1"/>
          <p:nvPr/>
        </p:nvSpPr>
        <p:spPr>
          <a:xfrm>
            <a:off x="3352800" y="9182100"/>
            <a:ext cx="11506200" cy="584775"/>
          </a:xfrm>
          <a:prstGeom prst="rect">
            <a:avLst/>
          </a:prstGeom>
          <a:noFill/>
        </p:spPr>
        <p:txBody>
          <a:bodyPr wrap="square" rtlCol="0">
            <a:spAutoFit/>
          </a:bodyPr>
          <a:lstStyle/>
          <a:p>
            <a:r>
              <a:rPr lang="en-GB" sz="3200" i="1" dirty="0">
                <a:solidFill>
                  <a:schemeClr val="bg1"/>
                </a:solidFill>
                <a:latin typeface="Segoe UI" panose="020B0502040204020203" pitchFamily="34" charset="0"/>
                <a:cs typeface="Segoe UI" panose="020B0502040204020203" pitchFamily="34" charset="0"/>
              </a:rPr>
              <a:t>Problem: Cannot collect enough </a:t>
            </a:r>
            <a:r>
              <a:rPr lang="en-GB" sz="3200" i="1" dirty="0" err="1">
                <a:solidFill>
                  <a:schemeClr val="bg1"/>
                </a:solidFill>
                <a:latin typeface="Segoe UI" panose="020B0502040204020203" pitchFamily="34" charset="0"/>
                <a:cs typeface="Segoe UI" panose="020B0502040204020203" pitchFamily="34" charset="0"/>
              </a:rPr>
              <a:t>labeled</a:t>
            </a:r>
            <a:r>
              <a:rPr lang="en-GB" sz="3200" i="1" dirty="0">
                <a:solidFill>
                  <a:schemeClr val="bg1"/>
                </a:solidFill>
                <a:latin typeface="Segoe UI" panose="020B0502040204020203" pitchFamily="34" charset="0"/>
                <a:cs typeface="Segoe UI" panose="020B0502040204020203" pitchFamily="34" charset="0"/>
              </a:rPr>
              <a:t> defect examples.</a:t>
            </a:r>
          </a:p>
        </p:txBody>
      </p:sp>
    </p:spTree>
    <p:extLst>
      <p:ext uri="{BB962C8B-B14F-4D97-AF65-F5344CB8AC3E}">
        <p14:creationId xmlns:p14="http://schemas.microsoft.com/office/powerpoint/2010/main" val="546342919"/>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3"/>
            <a:stretch>
              <a:fillRect t="-9222" b="-9222"/>
            </a:stretch>
          </a:blipFill>
        </p:spPr>
        <p:txBody>
          <a:bodyPr/>
          <a:lstStyle/>
          <a:p>
            <a:endParaRPr lang="en-GB" sz="4400" dirty="0">
              <a:solidFill>
                <a:schemeClr val="bg1"/>
              </a:solidFill>
              <a:latin typeface="Comic Sans MS" panose="030F0702030302020204" pitchFamily="66" charset="0"/>
            </a:endParaRPr>
          </a:p>
        </p:txBody>
      </p:sp>
      <p:pic>
        <p:nvPicPr>
          <p:cNvPr id="18" name="Picture 17">
            <a:extLst>
              <a:ext uri="{FF2B5EF4-FFF2-40B4-BE49-F238E27FC236}">
                <a16:creationId xmlns:a16="http://schemas.microsoft.com/office/drawing/2014/main" id="{BEFDA687-B158-7DD8-1F93-9D13663EB689}"/>
              </a:ext>
            </a:extLst>
          </p:cNvPr>
          <p:cNvPicPr>
            <a:picLocks noChangeAspect="1"/>
          </p:cNvPicPr>
          <p:nvPr/>
        </p:nvPicPr>
        <p:blipFill rotWithShape="1">
          <a:blip r:embed="rId4"/>
          <a:srcRect l="19756" t="18691" r="19454" b="41655"/>
          <a:stretch/>
        </p:blipFill>
        <p:spPr>
          <a:xfrm>
            <a:off x="16316104" y="381000"/>
            <a:ext cx="1812319" cy="760280"/>
          </a:xfrm>
          <a:prstGeom prst="roundRect">
            <a:avLst>
              <a:gd name="adj" fmla="val 8594"/>
            </a:avLst>
          </a:prstGeom>
          <a:solidFill>
            <a:srgbClr val="FFFFFF">
              <a:shade val="85000"/>
            </a:srgbClr>
          </a:solidFill>
          <a:ln>
            <a:noFill/>
          </a:ln>
          <a:effectLst>
            <a:reflection blurRad="12700" stA="38000" endPos="28000" dist="5000" dir="5400000" sy="-100000" algn="bl" rotWithShape="0"/>
          </a:effectLst>
        </p:spPr>
      </p:pic>
      <p:cxnSp>
        <p:nvCxnSpPr>
          <p:cNvPr id="21" name="Straight Connector 20">
            <a:extLst>
              <a:ext uri="{FF2B5EF4-FFF2-40B4-BE49-F238E27FC236}">
                <a16:creationId xmlns:a16="http://schemas.microsoft.com/office/drawing/2014/main" id="{C327299D-6164-2298-0F44-CD7A1A465874}"/>
              </a:ext>
            </a:extLst>
          </p:cNvPr>
          <p:cNvCxnSpPr>
            <a:cxnSpLocks/>
          </p:cNvCxnSpPr>
          <p:nvPr/>
        </p:nvCxnSpPr>
        <p:spPr>
          <a:xfrm>
            <a:off x="1600200" y="1714500"/>
            <a:ext cx="14249400" cy="0"/>
          </a:xfrm>
          <a:prstGeom prst="line">
            <a:avLst/>
          </a:prstGeom>
        </p:spPr>
        <p:style>
          <a:lnRef idx="3">
            <a:schemeClr val="dk1"/>
          </a:lnRef>
          <a:fillRef idx="0">
            <a:schemeClr val="dk1"/>
          </a:fillRef>
          <a:effectRef idx="2">
            <a:schemeClr val="dk1"/>
          </a:effectRef>
          <a:fontRef idx="minor">
            <a:schemeClr val="tx1"/>
          </a:fontRef>
        </p:style>
      </p:cxnSp>
      <p:sp>
        <p:nvSpPr>
          <p:cNvPr id="23" name="TextBox 22">
            <a:extLst>
              <a:ext uri="{FF2B5EF4-FFF2-40B4-BE49-F238E27FC236}">
                <a16:creationId xmlns:a16="http://schemas.microsoft.com/office/drawing/2014/main" id="{168DD71B-9F42-5086-BFBF-A060A788E17D}"/>
              </a:ext>
            </a:extLst>
          </p:cNvPr>
          <p:cNvSpPr txBox="1"/>
          <p:nvPr/>
        </p:nvSpPr>
        <p:spPr>
          <a:xfrm>
            <a:off x="1600200" y="778014"/>
            <a:ext cx="13868400" cy="707886"/>
          </a:xfrm>
          <a:prstGeom prst="rect">
            <a:avLst/>
          </a:prstGeom>
          <a:noFill/>
        </p:spPr>
        <p:txBody>
          <a:bodyPr wrap="square" rtlCol="0">
            <a:spAutoFit/>
          </a:bodyPr>
          <a:lstStyle/>
          <a:p>
            <a:r>
              <a:rPr lang="de-DE" sz="4000" dirty="0">
                <a:solidFill>
                  <a:schemeClr val="bg1"/>
                </a:solidFill>
                <a:latin typeface="Segoe UI Semibold" panose="020B0702040204020203" pitchFamily="34" charset="0"/>
                <a:cs typeface="Segoe UI Semibold" panose="020B0702040204020203" pitchFamily="34" charset="0"/>
              </a:rPr>
              <a:t>Applications of </a:t>
            </a:r>
            <a:r>
              <a:rPr lang="de-DE" sz="4000" dirty="0" err="1">
                <a:solidFill>
                  <a:schemeClr val="bg1"/>
                </a:solidFill>
                <a:latin typeface="Segoe UI Semibold" panose="020B0702040204020203" pitchFamily="34" charset="0"/>
                <a:cs typeface="Segoe UI Semibold" panose="020B0702040204020203" pitchFamily="34" charset="0"/>
              </a:rPr>
              <a:t>SimpleNet</a:t>
            </a:r>
            <a:endParaRPr lang="en-GB" sz="4000" dirty="0">
              <a:solidFill>
                <a:schemeClr val="bg1"/>
              </a:solidFill>
              <a:latin typeface="Segoe UI Semibold" panose="020B0702040204020203" pitchFamily="34" charset="0"/>
              <a:cs typeface="Segoe UI Semibold" panose="020B0702040204020203" pitchFamily="34" charset="0"/>
            </a:endParaRPr>
          </a:p>
        </p:txBody>
      </p:sp>
      <p:grpSp>
        <p:nvGrpSpPr>
          <p:cNvPr id="50" name="Group 49">
            <a:extLst>
              <a:ext uri="{FF2B5EF4-FFF2-40B4-BE49-F238E27FC236}">
                <a16:creationId xmlns:a16="http://schemas.microsoft.com/office/drawing/2014/main" id="{F9C8F56E-6588-06AA-F745-12594B90A36A}"/>
              </a:ext>
            </a:extLst>
          </p:cNvPr>
          <p:cNvGrpSpPr/>
          <p:nvPr/>
        </p:nvGrpSpPr>
        <p:grpSpPr>
          <a:xfrm>
            <a:off x="3606885" y="1930558"/>
            <a:ext cx="9887899" cy="7312130"/>
            <a:chOff x="3633854" y="2001810"/>
            <a:chExt cx="9887899" cy="7312130"/>
          </a:xfrm>
        </p:grpSpPr>
        <p:sp>
          <p:nvSpPr>
            <p:cNvPr id="51" name="Free-form: Shape 50">
              <a:extLst>
                <a:ext uri="{FF2B5EF4-FFF2-40B4-BE49-F238E27FC236}">
                  <a16:creationId xmlns:a16="http://schemas.microsoft.com/office/drawing/2014/main" id="{C2138496-605E-A848-CFE8-CD060BAECECE}"/>
                </a:ext>
              </a:extLst>
            </p:cNvPr>
            <p:cNvSpPr/>
            <p:nvPr/>
          </p:nvSpPr>
          <p:spPr>
            <a:xfrm>
              <a:off x="7281873" y="4640545"/>
              <a:ext cx="2591861" cy="2020944"/>
            </a:xfrm>
            <a:custGeom>
              <a:avLst/>
              <a:gdLst>
                <a:gd name="connsiteX0" fmla="*/ 0 w 2591861"/>
                <a:gd name="connsiteY0" fmla="*/ 1010472 h 2020944"/>
                <a:gd name="connsiteX1" fmla="*/ 1295931 w 2591861"/>
                <a:gd name="connsiteY1" fmla="*/ 0 h 2020944"/>
                <a:gd name="connsiteX2" fmla="*/ 2591862 w 2591861"/>
                <a:gd name="connsiteY2" fmla="*/ 1010472 h 2020944"/>
                <a:gd name="connsiteX3" fmla="*/ 1295931 w 2591861"/>
                <a:gd name="connsiteY3" fmla="*/ 2020944 h 2020944"/>
                <a:gd name="connsiteX4" fmla="*/ 0 w 2591861"/>
                <a:gd name="connsiteY4" fmla="*/ 1010472 h 202094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591861" h="2020944">
                  <a:moveTo>
                    <a:pt x="0" y="1010472"/>
                  </a:moveTo>
                  <a:cubicBezTo>
                    <a:pt x="0" y="452404"/>
                    <a:pt x="580208" y="0"/>
                    <a:pt x="1295931" y="0"/>
                  </a:cubicBezTo>
                  <a:cubicBezTo>
                    <a:pt x="2011654" y="0"/>
                    <a:pt x="2591862" y="452404"/>
                    <a:pt x="2591862" y="1010472"/>
                  </a:cubicBezTo>
                  <a:cubicBezTo>
                    <a:pt x="2591862" y="1568540"/>
                    <a:pt x="2011654" y="2020944"/>
                    <a:pt x="1295931" y="2020944"/>
                  </a:cubicBezTo>
                  <a:cubicBezTo>
                    <a:pt x="580208" y="2020944"/>
                    <a:pt x="0" y="1568540"/>
                    <a:pt x="0" y="1010472"/>
                  </a:cubicBezTo>
                  <a:close/>
                </a:path>
              </a:pathLst>
            </a:custGeom>
            <a:solidFill>
              <a:schemeClr val="tx2">
                <a:lumMod val="50000"/>
              </a:schemeClr>
            </a:solidFill>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style>
            <a:lnRef idx="2">
              <a:schemeClr val="lt1">
                <a:hueOff val="0"/>
                <a:satOff val="0"/>
                <a:lumOff val="0"/>
                <a:alphaOff val="0"/>
              </a:schemeClr>
            </a:lnRef>
            <a:fillRef idx="1">
              <a:scrgbClr r="0" g="0" b="0"/>
            </a:fillRef>
            <a:effectRef idx="0">
              <a:schemeClr val="accent1">
                <a:hueOff val="0"/>
                <a:satOff val="0"/>
                <a:lumOff val="0"/>
                <a:alphaOff val="0"/>
              </a:schemeClr>
            </a:effectRef>
            <a:fontRef idx="minor">
              <a:schemeClr val="lt1"/>
            </a:fontRef>
          </p:style>
          <p:txBody>
            <a:bodyPr spcFirstLastPara="0" vert="horz" wrap="square" lIns="392269" tIns="308660" rIns="392269" bIns="308660" numCol="1" spcCol="1270" anchor="ctr" anchorCtr="0">
              <a:noAutofit/>
            </a:bodyPr>
            <a:lstStyle/>
            <a:p>
              <a:pPr marL="0" lvl="0" indent="0" algn="ctr" defTabSz="889000">
                <a:lnSpc>
                  <a:spcPct val="90000"/>
                </a:lnSpc>
                <a:spcBef>
                  <a:spcPct val="0"/>
                </a:spcBef>
                <a:spcAft>
                  <a:spcPct val="35000"/>
                </a:spcAft>
                <a:buNone/>
              </a:pPr>
              <a:r>
                <a:rPr lang="de-DE" sz="2000" b="1" kern="1200" dirty="0" err="1">
                  <a:latin typeface="Segoe UI" panose="020B0502040204020203" pitchFamily="34" charset="0"/>
                  <a:cs typeface="Segoe UI" panose="020B0502040204020203" pitchFamily="34" charset="0"/>
                </a:rPr>
                <a:t>Anomaly</a:t>
              </a:r>
              <a:r>
                <a:rPr lang="de-DE" sz="2300" b="1" kern="1200" dirty="0">
                  <a:latin typeface="Segoe UI" panose="020B0502040204020203" pitchFamily="34" charset="0"/>
                  <a:cs typeface="Segoe UI" panose="020B0502040204020203" pitchFamily="34" charset="0"/>
                </a:rPr>
                <a:t> </a:t>
              </a:r>
              <a:r>
                <a:rPr lang="de-DE" sz="2200" b="1" kern="1200" dirty="0" err="1">
                  <a:latin typeface="Segoe UI" panose="020B0502040204020203" pitchFamily="34" charset="0"/>
                  <a:cs typeface="Segoe UI" panose="020B0502040204020203" pitchFamily="34" charset="0"/>
                </a:rPr>
                <a:t>Detection</a:t>
              </a:r>
              <a:endParaRPr lang="en-GB" sz="2200" b="1" kern="1200" dirty="0">
                <a:latin typeface="Segoe UI" panose="020B0502040204020203" pitchFamily="34" charset="0"/>
                <a:cs typeface="Segoe UI" panose="020B0502040204020203" pitchFamily="34" charset="0"/>
              </a:endParaRPr>
            </a:p>
          </p:txBody>
        </p:sp>
        <p:sp>
          <p:nvSpPr>
            <p:cNvPr id="52" name="Free-form: Shape 51">
              <a:extLst>
                <a:ext uri="{FF2B5EF4-FFF2-40B4-BE49-F238E27FC236}">
                  <a16:creationId xmlns:a16="http://schemas.microsoft.com/office/drawing/2014/main" id="{69BD776A-206E-BAE1-AA16-C42028C5C9A0}"/>
                </a:ext>
              </a:extLst>
            </p:cNvPr>
            <p:cNvSpPr/>
            <p:nvPr/>
          </p:nvSpPr>
          <p:spPr>
            <a:xfrm rot="16200000">
              <a:off x="8300301" y="4348043"/>
              <a:ext cx="555005" cy="29998"/>
            </a:xfrm>
            <a:custGeom>
              <a:avLst/>
              <a:gdLst>
                <a:gd name="connsiteX0" fmla="*/ 0 w 555005"/>
                <a:gd name="connsiteY0" fmla="*/ 14999 h 29998"/>
                <a:gd name="connsiteX1" fmla="*/ 555005 w 555005"/>
                <a:gd name="connsiteY1" fmla="*/ 14999 h 29998"/>
              </a:gdLst>
              <a:ahLst/>
              <a:cxnLst>
                <a:cxn ang="0">
                  <a:pos x="connsiteX0" y="connsiteY0"/>
                </a:cxn>
                <a:cxn ang="0">
                  <a:pos x="connsiteX1" y="connsiteY1"/>
                </a:cxn>
              </a:cxnLst>
              <a:rect l="l" t="t" r="r" b="b"/>
              <a:pathLst>
                <a:path w="555005" h="29998">
                  <a:moveTo>
                    <a:pt x="0" y="14999"/>
                  </a:moveTo>
                  <a:lnTo>
                    <a:pt x="555005" y="14999"/>
                  </a:lnTo>
                </a:path>
              </a:pathLst>
            </a:custGeom>
            <a:noFill/>
          </p:spPr>
          <p:style>
            <a:lnRef idx="3">
              <a:schemeClr val="dk1"/>
            </a:lnRef>
            <a:fillRef idx="0">
              <a:schemeClr val="dk1"/>
            </a:fillRef>
            <a:effectRef idx="2">
              <a:schemeClr val="dk1"/>
            </a:effectRef>
            <a:fontRef idx="minor">
              <a:schemeClr val="tx1">
                <a:hueOff val="0"/>
                <a:satOff val="0"/>
                <a:lumOff val="0"/>
                <a:alphaOff val="0"/>
              </a:schemeClr>
            </a:fontRef>
          </p:style>
          <p:txBody>
            <a:bodyPr spcFirstLastPara="0" vert="horz" wrap="square" lIns="276326" tIns="1125" rIns="276328" bIns="1123" numCol="1" spcCol="1270" anchor="ctr" anchorCtr="0">
              <a:noAutofit/>
            </a:bodyPr>
            <a:lstStyle/>
            <a:p>
              <a:pPr marL="0" lvl="0" indent="0" algn="ctr" defTabSz="222250">
                <a:lnSpc>
                  <a:spcPct val="90000"/>
                </a:lnSpc>
                <a:spcBef>
                  <a:spcPct val="0"/>
                </a:spcBef>
                <a:spcAft>
                  <a:spcPct val="35000"/>
                </a:spcAft>
                <a:buNone/>
              </a:pPr>
              <a:endParaRPr lang="en-GB" sz="500" kern="1200">
                <a:latin typeface="Comic Sans MS" panose="030F0702030302020204" pitchFamily="66" charset="0"/>
              </a:endParaRPr>
            </a:p>
          </p:txBody>
        </p:sp>
        <p:sp>
          <p:nvSpPr>
            <p:cNvPr id="53" name="Free-form: Shape 52">
              <a:extLst>
                <a:ext uri="{FF2B5EF4-FFF2-40B4-BE49-F238E27FC236}">
                  <a16:creationId xmlns:a16="http://schemas.microsoft.com/office/drawing/2014/main" id="{12763B82-5D0A-BD53-F311-65855D42E633}"/>
                </a:ext>
              </a:extLst>
            </p:cNvPr>
            <p:cNvSpPr/>
            <p:nvPr/>
          </p:nvSpPr>
          <p:spPr>
            <a:xfrm>
              <a:off x="7044803" y="2001810"/>
              <a:ext cx="3096000" cy="2052000"/>
            </a:xfrm>
            <a:custGeom>
              <a:avLst/>
              <a:gdLst>
                <a:gd name="connsiteX0" fmla="*/ 0 w 2591861"/>
                <a:gd name="connsiteY0" fmla="*/ 1010472 h 2020944"/>
                <a:gd name="connsiteX1" fmla="*/ 1295931 w 2591861"/>
                <a:gd name="connsiteY1" fmla="*/ 0 h 2020944"/>
                <a:gd name="connsiteX2" fmla="*/ 2591862 w 2591861"/>
                <a:gd name="connsiteY2" fmla="*/ 1010472 h 2020944"/>
                <a:gd name="connsiteX3" fmla="*/ 1295931 w 2591861"/>
                <a:gd name="connsiteY3" fmla="*/ 2020944 h 2020944"/>
                <a:gd name="connsiteX4" fmla="*/ 0 w 2591861"/>
                <a:gd name="connsiteY4" fmla="*/ 1010472 h 202094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591861" h="2020944">
                  <a:moveTo>
                    <a:pt x="0" y="1010472"/>
                  </a:moveTo>
                  <a:cubicBezTo>
                    <a:pt x="0" y="452404"/>
                    <a:pt x="580208" y="0"/>
                    <a:pt x="1295931" y="0"/>
                  </a:cubicBezTo>
                  <a:cubicBezTo>
                    <a:pt x="2011654" y="0"/>
                    <a:pt x="2591862" y="452404"/>
                    <a:pt x="2591862" y="1010472"/>
                  </a:cubicBezTo>
                  <a:cubicBezTo>
                    <a:pt x="2591862" y="1568540"/>
                    <a:pt x="2011654" y="2020944"/>
                    <a:pt x="1295931" y="2020944"/>
                  </a:cubicBezTo>
                  <a:cubicBezTo>
                    <a:pt x="580208" y="2020944"/>
                    <a:pt x="0" y="1568540"/>
                    <a:pt x="0" y="1010472"/>
                  </a:cubicBezTo>
                  <a:close/>
                </a:path>
              </a:pathLst>
            </a:custGeom>
            <a:ln>
              <a:noFill/>
            </a:ln>
            <a:effectLst>
              <a:outerShdw blurRad="190500" dist="228600" dir="2700000" algn="ctr">
                <a:srgbClr val="000000">
                  <a:alpha val="30000"/>
                </a:srgbClr>
              </a:outerShdw>
            </a:effectLst>
            <a:scene3d>
              <a:camera prst="orthographicFront">
                <a:rot lat="0" lon="0" rev="0"/>
              </a:camera>
              <a:lightRig rig="glow" dir="t">
                <a:rot lat="0" lon="0" rev="4800000"/>
              </a:lightRig>
            </a:scene3d>
            <a:sp3d prstMaterial="matte">
              <a:bevelT w="127000" h="63500"/>
            </a:sp3d>
          </p:spPr>
          <p:style>
            <a:lnRef idx="2">
              <a:scrgbClr r="0" g="0" b="0"/>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392400" tIns="914400" rIns="392269" bIns="914400" numCol="1" spcCol="1270" anchor="ctr" anchorCtr="0">
              <a:noAutofit/>
            </a:bodyPr>
            <a:lstStyle/>
            <a:p>
              <a:pPr marL="0" lvl="0" indent="0" algn="ctr" defTabSz="889000">
                <a:lnSpc>
                  <a:spcPct val="90000"/>
                </a:lnSpc>
                <a:spcBef>
                  <a:spcPct val="0"/>
                </a:spcBef>
                <a:spcAft>
                  <a:spcPct val="35000"/>
                </a:spcAft>
                <a:buNone/>
              </a:pPr>
              <a:endParaRPr lang="de-DE" sz="2200" b="1" dirty="0">
                <a:latin typeface="Segoe UI" panose="020B0502040204020203" pitchFamily="34" charset="0"/>
                <a:cs typeface="Segoe UI" panose="020B0502040204020203" pitchFamily="34" charset="0"/>
              </a:endParaRPr>
            </a:p>
            <a:p>
              <a:pPr marL="0" lvl="0" indent="0" algn="ctr" defTabSz="889000">
                <a:spcBef>
                  <a:spcPct val="0"/>
                </a:spcBef>
                <a:spcAft>
                  <a:spcPct val="35000"/>
                </a:spcAft>
                <a:buNone/>
              </a:pPr>
              <a:r>
                <a:rPr lang="de-DE" sz="2200" b="1" dirty="0">
                  <a:latin typeface="Segoe UI" panose="020B0502040204020203" pitchFamily="34" charset="0"/>
                  <a:cs typeface="Segoe UI" panose="020B0502040204020203" pitchFamily="34" charset="0"/>
                </a:rPr>
                <a:t>Manufacturing &amp;</a:t>
              </a:r>
              <a:endParaRPr lang="de-DE" sz="2200" b="1" kern="1200" spc="0" dirty="0">
                <a:latin typeface="Segoe UI" panose="020B0502040204020203" pitchFamily="34" charset="0"/>
                <a:cs typeface="Segoe UI" panose="020B0502040204020203" pitchFamily="34" charset="0"/>
              </a:endParaRPr>
            </a:p>
            <a:p>
              <a:pPr marL="0" lvl="0" indent="0" algn="ctr" defTabSz="889000">
                <a:spcBef>
                  <a:spcPct val="0"/>
                </a:spcBef>
                <a:spcAft>
                  <a:spcPct val="35000"/>
                </a:spcAft>
                <a:buNone/>
              </a:pPr>
              <a:r>
                <a:rPr lang="de-DE" sz="2200" b="1" dirty="0">
                  <a:latin typeface="Segoe UI" panose="020B0502040204020203" pitchFamily="34" charset="0"/>
                  <a:cs typeface="Segoe UI" panose="020B0502040204020203" pitchFamily="34" charset="0"/>
                </a:rPr>
                <a:t>Industrial </a:t>
              </a:r>
              <a:endParaRPr lang="en-GB" sz="2200" b="1" kern="1200" dirty="0">
                <a:latin typeface="Segoe UI" panose="020B0502040204020203" pitchFamily="34" charset="0"/>
                <a:cs typeface="Segoe UI" panose="020B0502040204020203" pitchFamily="34" charset="0"/>
              </a:endParaRPr>
            </a:p>
          </p:txBody>
        </p:sp>
        <p:sp>
          <p:nvSpPr>
            <p:cNvPr id="54" name="Free-form: Shape 53">
              <a:extLst>
                <a:ext uri="{FF2B5EF4-FFF2-40B4-BE49-F238E27FC236}">
                  <a16:creationId xmlns:a16="http://schemas.microsoft.com/office/drawing/2014/main" id="{633CB363-4F5E-6556-2964-53A87B8F96CB}"/>
                </a:ext>
              </a:extLst>
            </p:cNvPr>
            <p:cNvSpPr/>
            <p:nvPr/>
          </p:nvSpPr>
          <p:spPr>
            <a:xfrm rot="21555504">
              <a:off x="9873536" y="5616076"/>
              <a:ext cx="489874" cy="29998"/>
            </a:xfrm>
            <a:custGeom>
              <a:avLst/>
              <a:gdLst>
                <a:gd name="connsiteX0" fmla="*/ 0 w 489874"/>
                <a:gd name="connsiteY0" fmla="*/ 14999 h 29998"/>
                <a:gd name="connsiteX1" fmla="*/ 489874 w 489874"/>
                <a:gd name="connsiteY1" fmla="*/ 14999 h 29998"/>
              </a:gdLst>
              <a:ahLst/>
              <a:cxnLst>
                <a:cxn ang="0">
                  <a:pos x="connsiteX0" y="connsiteY0"/>
                </a:cxn>
                <a:cxn ang="0">
                  <a:pos x="connsiteX1" y="connsiteY1"/>
                </a:cxn>
              </a:cxnLst>
              <a:rect l="l" t="t" r="r" b="b"/>
              <a:pathLst>
                <a:path w="489874" h="29998">
                  <a:moveTo>
                    <a:pt x="0" y="14999"/>
                  </a:moveTo>
                  <a:lnTo>
                    <a:pt x="489874" y="14999"/>
                  </a:lnTo>
                </a:path>
              </a:pathLst>
            </a:custGeom>
            <a:noFill/>
          </p:spPr>
          <p:style>
            <a:lnRef idx="3">
              <a:schemeClr val="dk1"/>
            </a:lnRef>
            <a:fillRef idx="0">
              <a:schemeClr val="dk1"/>
            </a:fillRef>
            <a:effectRef idx="2">
              <a:schemeClr val="dk1"/>
            </a:effectRef>
            <a:fontRef idx="minor">
              <a:schemeClr val="tx1">
                <a:hueOff val="0"/>
                <a:satOff val="0"/>
                <a:lumOff val="0"/>
                <a:alphaOff val="0"/>
              </a:schemeClr>
            </a:fontRef>
          </p:style>
          <p:txBody>
            <a:bodyPr spcFirstLastPara="0" vert="horz" wrap="square" lIns="245390" tIns="2751" rIns="245390" bIns="2753" numCol="1" spcCol="1270" anchor="ctr" anchorCtr="0">
              <a:noAutofit/>
            </a:bodyPr>
            <a:lstStyle/>
            <a:p>
              <a:pPr marL="0" lvl="0" indent="0" algn="ctr" defTabSz="222250">
                <a:lnSpc>
                  <a:spcPct val="90000"/>
                </a:lnSpc>
                <a:spcBef>
                  <a:spcPct val="0"/>
                </a:spcBef>
                <a:spcAft>
                  <a:spcPct val="35000"/>
                </a:spcAft>
                <a:buNone/>
              </a:pPr>
              <a:endParaRPr lang="en-GB" sz="500" kern="1200">
                <a:latin typeface="Comic Sans MS" panose="030F0702030302020204" pitchFamily="66" charset="0"/>
              </a:endParaRPr>
            </a:p>
          </p:txBody>
        </p:sp>
        <p:sp>
          <p:nvSpPr>
            <p:cNvPr id="55" name="Free-form: Shape 54">
              <a:extLst>
                <a:ext uri="{FF2B5EF4-FFF2-40B4-BE49-F238E27FC236}">
                  <a16:creationId xmlns:a16="http://schemas.microsoft.com/office/drawing/2014/main" id="{C84B5021-E5CD-8DF4-1D79-8B88D5B68AC8}"/>
                </a:ext>
              </a:extLst>
            </p:cNvPr>
            <p:cNvSpPr/>
            <p:nvPr/>
          </p:nvSpPr>
          <p:spPr>
            <a:xfrm>
              <a:off x="10425753" y="4530874"/>
              <a:ext cx="3096000" cy="2052000"/>
            </a:xfrm>
            <a:custGeom>
              <a:avLst/>
              <a:gdLst>
                <a:gd name="connsiteX0" fmla="*/ 0 w 2591861"/>
                <a:gd name="connsiteY0" fmla="*/ 1010472 h 2020944"/>
                <a:gd name="connsiteX1" fmla="*/ 1295931 w 2591861"/>
                <a:gd name="connsiteY1" fmla="*/ 0 h 2020944"/>
                <a:gd name="connsiteX2" fmla="*/ 2591862 w 2591861"/>
                <a:gd name="connsiteY2" fmla="*/ 1010472 h 2020944"/>
                <a:gd name="connsiteX3" fmla="*/ 1295931 w 2591861"/>
                <a:gd name="connsiteY3" fmla="*/ 2020944 h 2020944"/>
                <a:gd name="connsiteX4" fmla="*/ 0 w 2591861"/>
                <a:gd name="connsiteY4" fmla="*/ 1010472 h 202094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591861" h="2020944">
                  <a:moveTo>
                    <a:pt x="0" y="1010472"/>
                  </a:moveTo>
                  <a:cubicBezTo>
                    <a:pt x="0" y="452404"/>
                    <a:pt x="580208" y="0"/>
                    <a:pt x="1295931" y="0"/>
                  </a:cubicBezTo>
                  <a:cubicBezTo>
                    <a:pt x="2011654" y="0"/>
                    <a:pt x="2591862" y="452404"/>
                    <a:pt x="2591862" y="1010472"/>
                  </a:cubicBezTo>
                  <a:cubicBezTo>
                    <a:pt x="2591862" y="1568540"/>
                    <a:pt x="2011654" y="2020944"/>
                    <a:pt x="1295931" y="2020944"/>
                  </a:cubicBezTo>
                  <a:cubicBezTo>
                    <a:pt x="580208" y="2020944"/>
                    <a:pt x="0" y="1568540"/>
                    <a:pt x="0" y="1010472"/>
                  </a:cubicBezTo>
                  <a:close/>
                </a:path>
              </a:pathLst>
            </a:custGeom>
            <a:solidFill>
              <a:srgbClr val="4F81BD">
                <a:hueOff val="0"/>
                <a:satOff val="0"/>
                <a:lumOff val="0"/>
                <a:alphaOff val="0"/>
              </a:srgbClr>
            </a:solidFill>
            <a:ln w="25400" cap="flat" cmpd="sng" algn="ctr">
              <a:noFill/>
              <a:prstDash val="solid"/>
            </a:ln>
            <a:effectLst>
              <a:outerShdw blurRad="190500" dist="228600" dir="2700000" algn="ctr">
                <a:srgbClr val="000000">
                  <a:alpha val="30000"/>
                </a:srgbClr>
              </a:outerShdw>
            </a:effectLst>
            <a:scene3d>
              <a:camera prst="orthographicFront">
                <a:rot lat="0" lon="0" rev="0"/>
              </a:camera>
              <a:lightRig rig="glow" dir="t">
                <a:rot lat="0" lon="0" rev="4800000"/>
              </a:lightRig>
            </a:scene3d>
            <a:sp3d prstMaterial="matte">
              <a:bevelT w="127000" h="63500"/>
            </a:sp3d>
          </p:spPr>
          <p:style>
            <a:lnRef idx="2">
              <a:scrgbClr r="0" g="0" b="0"/>
            </a:lnRef>
            <a:fillRef idx="1">
              <a:scrgbClr r="0" g="0" b="0"/>
            </a:fillRef>
            <a:effectRef idx="0">
              <a:scrgbClr r="0" g="0" b="0"/>
            </a:effectRef>
            <a:fontRef idx="minor">
              <a:schemeClr val="lt1"/>
            </a:fontRef>
          </p:style>
          <p:txBody>
            <a:bodyPr spcFirstLastPara="0" vert="horz" wrap="square" lIns="393539" tIns="309930" rIns="393539" bIns="309930" numCol="1" spcCol="1270" anchor="ctr" anchorCtr="0">
              <a:noAutofit/>
            </a:bodyPr>
            <a:lstStyle/>
            <a:p>
              <a:pPr marL="0" lvl="0" indent="0" algn="ctr" defTabSz="977900">
                <a:lnSpc>
                  <a:spcPct val="90000"/>
                </a:lnSpc>
                <a:spcBef>
                  <a:spcPct val="0"/>
                </a:spcBef>
                <a:spcAft>
                  <a:spcPct val="35000"/>
                </a:spcAft>
                <a:buNone/>
              </a:pPr>
              <a:endParaRPr lang="de-DE" sz="2200" b="1" kern="1200" dirty="0">
                <a:solidFill>
                  <a:prstClr val="white"/>
                </a:solidFill>
                <a:latin typeface="Segoe UI" panose="020B0502040204020203" pitchFamily="34" charset="0"/>
                <a:ea typeface="+mn-ea"/>
                <a:cs typeface="Segoe UI" panose="020B0502040204020203" pitchFamily="34" charset="0"/>
              </a:endParaRPr>
            </a:p>
            <a:p>
              <a:pPr lvl="0" algn="ctr" defTabSz="977900">
                <a:spcBef>
                  <a:spcPct val="0"/>
                </a:spcBef>
                <a:spcAft>
                  <a:spcPct val="35000"/>
                </a:spcAft>
              </a:pPr>
              <a:r>
                <a:rPr lang="en-GB" sz="2200" b="1" dirty="0">
                  <a:latin typeface="Segoe UI" panose="020B0502040204020203" pitchFamily="34" charset="0"/>
                  <a:cs typeface="Segoe UI" panose="020B0502040204020203" pitchFamily="34" charset="0"/>
                </a:rPr>
                <a:t>Security &amp; Surveillance</a:t>
              </a:r>
              <a:endParaRPr lang="en-GB" sz="2200" b="1" kern="1200" dirty="0">
                <a:solidFill>
                  <a:prstClr val="white"/>
                </a:solidFill>
                <a:latin typeface="Segoe UI" panose="020B0502040204020203" pitchFamily="34" charset="0"/>
                <a:cs typeface="Segoe UI" panose="020B0502040204020203" pitchFamily="34" charset="0"/>
              </a:endParaRPr>
            </a:p>
          </p:txBody>
        </p:sp>
        <p:sp>
          <p:nvSpPr>
            <p:cNvPr id="56" name="Free-form: Shape 55">
              <a:extLst>
                <a:ext uri="{FF2B5EF4-FFF2-40B4-BE49-F238E27FC236}">
                  <a16:creationId xmlns:a16="http://schemas.microsoft.com/office/drawing/2014/main" id="{BF3A540C-D85C-76BD-8183-6FF61CC95E80}"/>
                </a:ext>
              </a:extLst>
            </p:cNvPr>
            <p:cNvSpPr/>
            <p:nvPr/>
          </p:nvSpPr>
          <p:spPr>
            <a:xfrm rot="5400000">
              <a:off x="8295895" y="6928400"/>
              <a:ext cx="563818" cy="29998"/>
            </a:xfrm>
            <a:custGeom>
              <a:avLst/>
              <a:gdLst>
                <a:gd name="connsiteX0" fmla="*/ 0 w 563818"/>
                <a:gd name="connsiteY0" fmla="*/ 14999 h 29998"/>
                <a:gd name="connsiteX1" fmla="*/ 563818 w 563818"/>
                <a:gd name="connsiteY1" fmla="*/ 14999 h 29998"/>
              </a:gdLst>
              <a:ahLst/>
              <a:cxnLst>
                <a:cxn ang="0">
                  <a:pos x="connsiteX0" y="connsiteY0"/>
                </a:cxn>
                <a:cxn ang="0">
                  <a:pos x="connsiteX1" y="connsiteY1"/>
                </a:cxn>
              </a:cxnLst>
              <a:rect l="l" t="t" r="r" b="b"/>
              <a:pathLst>
                <a:path w="563818" h="29998">
                  <a:moveTo>
                    <a:pt x="0" y="14999"/>
                  </a:moveTo>
                  <a:lnTo>
                    <a:pt x="563818" y="14999"/>
                  </a:lnTo>
                </a:path>
              </a:pathLst>
            </a:custGeom>
            <a:noFill/>
          </p:spPr>
          <p:style>
            <a:lnRef idx="3">
              <a:schemeClr val="dk1"/>
            </a:lnRef>
            <a:fillRef idx="0">
              <a:schemeClr val="dk1"/>
            </a:fillRef>
            <a:effectRef idx="2">
              <a:schemeClr val="dk1"/>
            </a:effectRef>
            <a:fontRef idx="minor">
              <a:schemeClr val="tx1">
                <a:hueOff val="0"/>
                <a:satOff val="0"/>
                <a:lumOff val="0"/>
                <a:alphaOff val="0"/>
              </a:schemeClr>
            </a:fontRef>
          </p:style>
          <p:txBody>
            <a:bodyPr spcFirstLastPara="0" vert="horz" wrap="square" lIns="280514" tIns="904" rIns="280514" bIns="904" numCol="1" spcCol="1270" anchor="ctr" anchorCtr="0">
              <a:noAutofit/>
            </a:bodyPr>
            <a:lstStyle/>
            <a:p>
              <a:pPr marL="0" lvl="0" indent="0" algn="ctr" defTabSz="222250">
                <a:lnSpc>
                  <a:spcPct val="90000"/>
                </a:lnSpc>
                <a:spcBef>
                  <a:spcPct val="0"/>
                </a:spcBef>
                <a:spcAft>
                  <a:spcPct val="35000"/>
                </a:spcAft>
                <a:buNone/>
              </a:pPr>
              <a:endParaRPr lang="en-GB" sz="500" kern="1200">
                <a:latin typeface="Comic Sans MS" panose="030F0702030302020204" pitchFamily="66" charset="0"/>
              </a:endParaRPr>
            </a:p>
          </p:txBody>
        </p:sp>
        <p:sp>
          <p:nvSpPr>
            <p:cNvPr id="57" name="Free-form: Shape 56">
              <a:extLst>
                <a:ext uri="{FF2B5EF4-FFF2-40B4-BE49-F238E27FC236}">
                  <a16:creationId xmlns:a16="http://schemas.microsoft.com/office/drawing/2014/main" id="{50E39678-A04B-6243-7217-6B3CC27C2416}"/>
                </a:ext>
              </a:extLst>
            </p:cNvPr>
            <p:cNvSpPr/>
            <p:nvPr/>
          </p:nvSpPr>
          <p:spPr>
            <a:xfrm>
              <a:off x="6884969" y="7261940"/>
              <a:ext cx="3096000" cy="2052000"/>
            </a:xfrm>
            <a:custGeom>
              <a:avLst/>
              <a:gdLst>
                <a:gd name="connsiteX0" fmla="*/ 0 w 2591861"/>
                <a:gd name="connsiteY0" fmla="*/ 1010472 h 2020944"/>
                <a:gd name="connsiteX1" fmla="*/ 1295931 w 2591861"/>
                <a:gd name="connsiteY1" fmla="*/ 0 h 2020944"/>
                <a:gd name="connsiteX2" fmla="*/ 2591862 w 2591861"/>
                <a:gd name="connsiteY2" fmla="*/ 1010472 h 2020944"/>
                <a:gd name="connsiteX3" fmla="*/ 1295931 w 2591861"/>
                <a:gd name="connsiteY3" fmla="*/ 2020944 h 2020944"/>
                <a:gd name="connsiteX4" fmla="*/ 0 w 2591861"/>
                <a:gd name="connsiteY4" fmla="*/ 1010472 h 202094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591861" h="2020944">
                  <a:moveTo>
                    <a:pt x="0" y="1010472"/>
                  </a:moveTo>
                  <a:cubicBezTo>
                    <a:pt x="0" y="452404"/>
                    <a:pt x="580208" y="0"/>
                    <a:pt x="1295931" y="0"/>
                  </a:cubicBezTo>
                  <a:cubicBezTo>
                    <a:pt x="2011654" y="0"/>
                    <a:pt x="2591862" y="452404"/>
                    <a:pt x="2591862" y="1010472"/>
                  </a:cubicBezTo>
                  <a:cubicBezTo>
                    <a:pt x="2591862" y="1568540"/>
                    <a:pt x="2011654" y="2020944"/>
                    <a:pt x="1295931" y="2020944"/>
                  </a:cubicBezTo>
                  <a:cubicBezTo>
                    <a:pt x="580208" y="2020944"/>
                    <a:pt x="0" y="1568540"/>
                    <a:pt x="0" y="1010472"/>
                  </a:cubicBezTo>
                  <a:close/>
                </a:path>
              </a:pathLst>
            </a:custGeom>
            <a:ln>
              <a:noFill/>
            </a:ln>
            <a:effectLst>
              <a:outerShdw blurRad="190500" dist="228600" dir="2700000" algn="ctr">
                <a:srgbClr val="000000">
                  <a:alpha val="30000"/>
                </a:srgbClr>
              </a:outerShdw>
            </a:effectLst>
            <a:scene3d>
              <a:camera prst="orthographicFront">
                <a:rot lat="0" lon="0" rev="0"/>
              </a:camera>
              <a:lightRig rig="glow" dir="t">
                <a:rot lat="0" lon="0" rev="4800000"/>
              </a:lightRig>
            </a:scene3d>
            <a:sp3d prstMaterial="matte">
              <a:bevelT w="127000" h="63500"/>
            </a:sp3d>
          </p:spPr>
          <p:style>
            <a:lnRef idx="2">
              <a:scrgbClr r="0" g="0" b="0"/>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393539" tIns="309930" rIns="393539" bIns="309930" numCol="1" spcCol="1270" anchor="ctr" anchorCtr="0">
              <a:noAutofit/>
            </a:bodyPr>
            <a:lstStyle/>
            <a:p>
              <a:pPr marL="0" lvl="0" indent="0" algn="ctr" defTabSz="977900">
                <a:lnSpc>
                  <a:spcPct val="90000"/>
                </a:lnSpc>
                <a:spcBef>
                  <a:spcPct val="0"/>
                </a:spcBef>
                <a:spcAft>
                  <a:spcPct val="35000"/>
                </a:spcAft>
                <a:buNone/>
              </a:pPr>
              <a:endParaRPr lang="de-DE" sz="2200" b="1" kern="1200" dirty="0">
                <a:latin typeface="Segoe UI" panose="020B0502040204020203" pitchFamily="34" charset="0"/>
                <a:cs typeface="Segoe UI" panose="020B0502040204020203" pitchFamily="34" charset="0"/>
              </a:endParaRPr>
            </a:p>
            <a:p>
              <a:pPr marL="0" lvl="0" indent="0" algn="ctr" defTabSz="977900">
                <a:lnSpc>
                  <a:spcPct val="90000"/>
                </a:lnSpc>
                <a:spcBef>
                  <a:spcPct val="0"/>
                </a:spcBef>
                <a:spcAft>
                  <a:spcPct val="35000"/>
                </a:spcAft>
                <a:buNone/>
              </a:pPr>
              <a:r>
                <a:rPr lang="de-DE" sz="2200" b="1" kern="1200" dirty="0">
                  <a:latin typeface="Segoe UI" panose="020B0502040204020203" pitchFamily="34" charset="0"/>
                  <a:cs typeface="Segoe UI" panose="020B0502040204020203" pitchFamily="34" charset="0"/>
                </a:rPr>
                <a:t>Retail &amp; Consumer </a:t>
              </a:r>
              <a:r>
                <a:rPr lang="de-DE" sz="2200" b="1" kern="1200" dirty="0" err="1">
                  <a:latin typeface="Segoe UI" panose="020B0502040204020203" pitchFamily="34" charset="0"/>
                  <a:cs typeface="Segoe UI" panose="020B0502040204020203" pitchFamily="34" charset="0"/>
                </a:rPr>
                <a:t>Goods</a:t>
              </a:r>
              <a:r>
                <a:rPr lang="de-DE" sz="2200" b="1" kern="1200" dirty="0">
                  <a:latin typeface="Segoe UI" panose="020B0502040204020203" pitchFamily="34" charset="0"/>
                  <a:cs typeface="Segoe UI" panose="020B0502040204020203" pitchFamily="34" charset="0"/>
                </a:rPr>
                <a:t> </a:t>
              </a:r>
            </a:p>
          </p:txBody>
        </p:sp>
        <p:sp>
          <p:nvSpPr>
            <p:cNvPr id="58" name="Free-form: Shape 57">
              <a:extLst>
                <a:ext uri="{FF2B5EF4-FFF2-40B4-BE49-F238E27FC236}">
                  <a16:creationId xmlns:a16="http://schemas.microsoft.com/office/drawing/2014/main" id="{4A370B52-6370-A4A9-68EC-86C25F8F3E72}"/>
                </a:ext>
              </a:extLst>
            </p:cNvPr>
            <p:cNvSpPr/>
            <p:nvPr/>
          </p:nvSpPr>
          <p:spPr>
            <a:xfrm rot="21585609">
              <a:off x="6733609" y="5642590"/>
              <a:ext cx="548284" cy="29999"/>
            </a:xfrm>
            <a:custGeom>
              <a:avLst/>
              <a:gdLst>
                <a:gd name="connsiteX0" fmla="*/ 0 w 548284"/>
                <a:gd name="connsiteY0" fmla="*/ 14999 h 29998"/>
                <a:gd name="connsiteX1" fmla="*/ 548284 w 548284"/>
                <a:gd name="connsiteY1" fmla="*/ 14999 h 29998"/>
              </a:gdLst>
              <a:ahLst/>
              <a:cxnLst>
                <a:cxn ang="0">
                  <a:pos x="connsiteX0" y="connsiteY0"/>
                </a:cxn>
                <a:cxn ang="0">
                  <a:pos x="connsiteX1" y="connsiteY1"/>
                </a:cxn>
              </a:cxnLst>
              <a:rect l="l" t="t" r="r" b="b"/>
              <a:pathLst>
                <a:path w="548284" h="29998">
                  <a:moveTo>
                    <a:pt x="548284" y="14999"/>
                  </a:moveTo>
                  <a:lnTo>
                    <a:pt x="0" y="14999"/>
                  </a:lnTo>
                </a:path>
              </a:pathLst>
            </a:custGeom>
            <a:noFill/>
          </p:spPr>
          <p:style>
            <a:lnRef idx="3">
              <a:schemeClr val="dk1"/>
            </a:lnRef>
            <a:fillRef idx="0">
              <a:schemeClr val="dk1"/>
            </a:fillRef>
            <a:effectRef idx="2">
              <a:schemeClr val="dk1"/>
            </a:effectRef>
            <a:fontRef idx="minor">
              <a:schemeClr val="tx1">
                <a:hueOff val="0"/>
                <a:satOff val="0"/>
                <a:lumOff val="0"/>
                <a:alphaOff val="0"/>
              </a:schemeClr>
            </a:fontRef>
          </p:style>
          <p:txBody>
            <a:bodyPr spcFirstLastPara="0" vert="horz" wrap="square" lIns="273135" tIns="1293" rIns="273134" bIns="1291" numCol="1" spcCol="1270" anchor="ctr" anchorCtr="0">
              <a:noAutofit/>
            </a:bodyPr>
            <a:lstStyle/>
            <a:p>
              <a:pPr marL="0" lvl="0" indent="0" algn="ctr" defTabSz="222250">
                <a:lnSpc>
                  <a:spcPct val="90000"/>
                </a:lnSpc>
                <a:spcBef>
                  <a:spcPct val="0"/>
                </a:spcBef>
                <a:spcAft>
                  <a:spcPct val="35000"/>
                </a:spcAft>
                <a:buNone/>
              </a:pPr>
              <a:endParaRPr lang="en-GB" sz="500" kern="1200">
                <a:latin typeface="Comic Sans MS" panose="030F0702030302020204" pitchFamily="66" charset="0"/>
              </a:endParaRPr>
            </a:p>
          </p:txBody>
        </p:sp>
        <p:sp>
          <p:nvSpPr>
            <p:cNvPr id="59" name="Free-form: Shape 58">
              <a:extLst>
                <a:ext uri="{FF2B5EF4-FFF2-40B4-BE49-F238E27FC236}">
                  <a16:creationId xmlns:a16="http://schemas.microsoft.com/office/drawing/2014/main" id="{6D63037D-BB58-3F11-9362-FBB99E06A2ED}"/>
                </a:ext>
              </a:extLst>
            </p:cNvPr>
            <p:cNvSpPr/>
            <p:nvPr/>
          </p:nvSpPr>
          <p:spPr>
            <a:xfrm>
              <a:off x="3633854" y="4647737"/>
              <a:ext cx="3096000" cy="2052000"/>
            </a:xfrm>
            <a:custGeom>
              <a:avLst/>
              <a:gdLst>
                <a:gd name="connsiteX0" fmla="*/ 0 w 2591861"/>
                <a:gd name="connsiteY0" fmla="*/ 1010472 h 2020944"/>
                <a:gd name="connsiteX1" fmla="*/ 1295931 w 2591861"/>
                <a:gd name="connsiteY1" fmla="*/ 0 h 2020944"/>
                <a:gd name="connsiteX2" fmla="*/ 2591862 w 2591861"/>
                <a:gd name="connsiteY2" fmla="*/ 1010472 h 2020944"/>
                <a:gd name="connsiteX3" fmla="*/ 1295931 w 2591861"/>
                <a:gd name="connsiteY3" fmla="*/ 2020944 h 2020944"/>
                <a:gd name="connsiteX4" fmla="*/ 0 w 2591861"/>
                <a:gd name="connsiteY4" fmla="*/ 1010472 h 202094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591861" h="2020944">
                  <a:moveTo>
                    <a:pt x="0" y="1010472"/>
                  </a:moveTo>
                  <a:cubicBezTo>
                    <a:pt x="0" y="452404"/>
                    <a:pt x="580208" y="0"/>
                    <a:pt x="1295931" y="0"/>
                  </a:cubicBezTo>
                  <a:cubicBezTo>
                    <a:pt x="2011654" y="0"/>
                    <a:pt x="2591862" y="452404"/>
                    <a:pt x="2591862" y="1010472"/>
                  </a:cubicBezTo>
                  <a:cubicBezTo>
                    <a:pt x="2591862" y="1568540"/>
                    <a:pt x="2011654" y="2020944"/>
                    <a:pt x="1295931" y="2020944"/>
                  </a:cubicBezTo>
                  <a:cubicBezTo>
                    <a:pt x="580208" y="2020944"/>
                    <a:pt x="0" y="1568540"/>
                    <a:pt x="0" y="1010472"/>
                  </a:cubicBezTo>
                  <a:close/>
                </a:path>
              </a:pathLst>
            </a:custGeom>
            <a:ln>
              <a:noFill/>
            </a:ln>
            <a:effectLst>
              <a:outerShdw blurRad="190500" dist="228600" dir="2700000" algn="ctr">
                <a:srgbClr val="000000">
                  <a:alpha val="30000"/>
                </a:srgbClr>
              </a:outerShdw>
            </a:effectLst>
            <a:scene3d>
              <a:camera prst="orthographicFront">
                <a:rot lat="0" lon="0" rev="0"/>
              </a:camera>
              <a:lightRig rig="glow" dir="t">
                <a:rot lat="0" lon="0" rev="4800000"/>
              </a:lightRig>
            </a:scene3d>
            <a:sp3d prstMaterial="matte">
              <a:bevelT w="127000" h="63500"/>
            </a:sp3d>
          </p:spPr>
          <p:style>
            <a:lnRef idx="2">
              <a:scrgbClr r="0" g="0" b="0"/>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393539" tIns="309930" rIns="393539" bIns="309930" numCol="1" spcCol="1270" anchor="ctr" anchorCtr="0">
              <a:noAutofit/>
            </a:bodyPr>
            <a:lstStyle/>
            <a:p>
              <a:pPr marL="0" lvl="0" indent="0" algn="ctr" defTabSz="977900">
                <a:lnSpc>
                  <a:spcPct val="90000"/>
                </a:lnSpc>
                <a:spcBef>
                  <a:spcPct val="0"/>
                </a:spcBef>
                <a:spcAft>
                  <a:spcPct val="35000"/>
                </a:spcAft>
                <a:buNone/>
              </a:pPr>
              <a:endParaRPr lang="de-DE" sz="2200" b="1" kern="1200" dirty="0">
                <a:latin typeface="Segoe UI" panose="020B0502040204020203" pitchFamily="34" charset="0"/>
                <a:cs typeface="Segoe UI" panose="020B0502040204020203" pitchFamily="34" charset="0"/>
              </a:endParaRPr>
            </a:p>
            <a:p>
              <a:pPr marL="0" lvl="0" indent="0" algn="ctr" defTabSz="977900">
                <a:lnSpc>
                  <a:spcPct val="90000"/>
                </a:lnSpc>
                <a:spcBef>
                  <a:spcPct val="0"/>
                </a:spcBef>
                <a:spcAft>
                  <a:spcPct val="35000"/>
                </a:spcAft>
                <a:buNone/>
              </a:pPr>
              <a:r>
                <a:rPr lang="de-DE" sz="2200" b="1" kern="1200" dirty="0">
                  <a:latin typeface="Segoe UI" panose="020B0502040204020203" pitchFamily="34" charset="0"/>
                  <a:cs typeface="Segoe UI" panose="020B0502040204020203" pitchFamily="34" charset="0"/>
                </a:rPr>
                <a:t>HealthCare Imaging</a:t>
              </a:r>
              <a:endParaRPr lang="en-GB" sz="2200" b="1" kern="1200" dirty="0">
                <a:latin typeface="Segoe UI" panose="020B0502040204020203" pitchFamily="34" charset="0"/>
                <a:cs typeface="Segoe UI" panose="020B0502040204020203" pitchFamily="34" charset="0"/>
              </a:endParaRPr>
            </a:p>
          </p:txBody>
        </p:sp>
      </p:grpSp>
      <p:sp>
        <p:nvSpPr>
          <p:cNvPr id="25" name="TextBox 24">
            <a:extLst>
              <a:ext uri="{FF2B5EF4-FFF2-40B4-BE49-F238E27FC236}">
                <a16:creationId xmlns:a16="http://schemas.microsoft.com/office/drawing/2014/main" id="{8FEA295D-0256-2434-E29B-6D738345AF00}"/>
              </a:ext>
            </a:extLst>
          </p:cNvPr>
          <p:cNvSpPr txBox="1"/>
          <p:nvPr/>
        </p:nvSpPr>
        <p:spPr>
          <a:xfrm>
            <a:off x="1981200" y="9547195"/>
            <a:ext cx="13868400" cy="523220"/>
          </a:xfrm>
          <a:prstGeom prst="rect">
            <a:avLst/>
          </a:prstGeom>
          <a:noFill/>
        </p:spPr>
        <p:txBody>
          <a:bodyPr wrap="square" rtlCol="0">
            <a:spAutoFit/>
          </a:bodyPr>
          <a:lstStyle/>
          <a:p>
            <a:r>
              <a:rPr lang="en-GB" sz="2800" i="1" dirty="0">
                <a:solidFill>
                  <a:schemeClr val="bg1"/>
                </a:solidFill>
                <a:latin typeface="Segoe UI" panose="020B0502040204020203" pitchFamily="34" charset="0"/>
                <a:cs typeface="Segoe UI" panose="020B0502040204020203" pitchFamily="34" charset="0"/>
              </a:rPr>
              <a:t>From detecting defects to defending data — anomaly detection safeguards every domain</a:t>
            </a:r>
          </a:p>
        </p:txBody>
      </p:sp>
      <p:pic>
        <p:nvPicPr>
          <p:cNvPr id="29" name="Graphic 28" descr="Lock with solid fill">
            <a:extLst>
              <a:ext uri="{FF2B5EF4-FFF2-40B4-BE49-F238E27FC236}">
                <a16:creationId xmlns:a16="http://schemas.microsoft.com/office/drawing/2014/main" id="{D78F6993-1E8A-1F22-844A-FE5D2B45D6A9}"/>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11586784" y="4633211"/>
            <a:ext cx="720000" cy="720000"/>
          </a:xfrm>
          <a:prstGeom prst="rect">
            <a:avLst/>
          </a:prstGeom>
        </p:spPr>
      </p:pic>
      <p:pic>
        <p:nvPicPr>
          <p:cNvPr id="31" name="Graphic 30" descr="Factory with solid fill">
            <a:extLst>
              <a:ext uri="{FF2B5EF4-FFF2-40B4-BE49-F238E27FC236}">
                <a16:creationId xmlns:a16="http://schemas.microsoft.com/office/drawing/2014/main" id="{66BE8791-A9B6-0D04-DC19-497429610C70}"/>
              </a:ext>
            </a:extLst>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8174400" y="2040631"/>
            <a:ext cx="720000" cy="720000"/>
          </a:xfrm>
          <a:prstGeom prst="rect">
            <a:avLst/>
          </a:prstGeom>
        </p:spPr>
      </p:pic>
      <p:pic>
        <p:nvPicPr>
          <p:cNvPr id="49" name="Graphic 48" descr="Stethoscope with solid fill">
            <a:extLst>
              <a:ext uri="{FF2B5EF4-FFF2-40B4-BE49-F238E27FC236}">
                <a16:creationId xmlns:a16="http://schemas.microsoft.com/office/drawing/2014/main" id="{D0CD574B-4A02-C1C3-24B2-2F2144094DDC}"/>
              </a:ext>
            </a:extLst>
          </p:cNvPr>
          <p:cNvPicPr>
            <a:picLocks noChangeAspect="1"/>
          </p:cNvPicPr>
          <p:nvPr/>
        </p:nvPicPr>
        <p:blipFill>
          <a:blip r:embed="rId9">
            <a:extLst>
              <a:ext uri="{96DAC541-7B7A-43D3-8B79-37D633B846F1}">
                <asvg:svgBlip xmlns:asvg="http://schemas.microsoft.com/office/drawing/2016/SVG/main" r:embed="rId10"/>
              </a:ext>
            </a:extLst>
          </a:blip>
          <a:stretch>
            <a:fillRect/>
          </a:stretch>
        </p:blipFill>
        <p:spPr>
          <a:xfrm>
            <a:off x="4794885" y="4821655"/>
            <a:ext cx="720000" cy="720000"/>
          </a:xfrm>
          <a:prstGeom prst="rect">
            <a:avLst/>
          </a:prstGeom>
        </p:spPr>
      </p:pic>
      <p:pic>
        <p:nvPicPr>
          <p:cNvPr id="62" name="Graphic 61" descr="Shopping cart with solid fill">
            <a:extLst>
              <a:ext uri="{FF2B5EF4-FFF2-40B4-BE49-F238E27FC236}">
                <a16:creationId xmlns:a16="http://schemas.microsoft.com/office/drawing/2014/main" id="{DED1A084-6BBD-A93F-8ADF-37B41226E5E4}"/>
              </a:ext>
            </a:extLst>
          </p:cNvPr>
          <p:cNvPicPr>
            <a:picLocks noChangeAspect="1"/>
          </p:cNvPicPr>
          <p:nvPr/>
        </p:nvPicPr>
        <p:blipFill>
          <a:blip r:embed="rId11">
            <a:extLst>
              <a:ext uri="{96DAC541-7B7A-43D3-8B79-37D633B846F1}">
                <asvg:svgBlip xmlns:asvg="http://schemas.microsoft.com/office/drawing/2016/SVG/main" r:embed="rId12"/>
              </a:ext>
            </a:extLst>
          </a:blip>
          <a:stretch>
            <a:fillRect/>
          </a:stretch>
        </p:blipFill>
        <p:spPr>
          <a:xfrm>
            <a:off x="8164986" y="7364018"/>
            <a:ext cx="720000" cy="720000"/>
          </a:xfrm>
          <a:prstGeom prst="rect">
            <a:avLst/>
          </a:prstGeom>
        </p:spPr>
      </p:pic>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tags/tag1.xml><?xml version="1.0" encoding="utf-8"?>
<p:tagLst xmlns:a="http://schemas.openxmlformats.org/drawingml/2006/main" xmlns:r="http://schemas.openxmlformats.org/officeDocument/2006/relationships" xmlns:p="http://schemas.openxmlformats.org/presentationml/2006/main">
  <p:tag name="TIMING" val="|1.1|2.3|0.8|1.7|0.5|0.8|0.8|0.9"/>
</p:tagLst>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4729</TotalTime>
  <Words>2639</Words>
  <Application>Microsoft Office PowerPoint</Application>
  <PresentationFormat>Custom</PresentationFormat>
  <Paragraphs>221</Paragraphs>
  <Slides>16</Slides>
  <Notes>16</Notes>
  <HiddenSlides>6</HiddenSlides>
  <MMClips>0</MMClips>
  <ScaleCrop>false</ScaleCrop>
  <HeadingPairs>
    <vt:vector size="6" baseType="variant">
      <vt:variant>
        <vt:lpstr>Fonts Used</vt:lpstr>
      </vt:variant>
      <vt:variant>
        <vt:i4>10</vt:i4>
      </vt:variant>
      <vt:variant>
        <vt:lpstr>Theme</vt:lpstr>
      </vt:variant>
      <vt:variant>
        <vt:i4>1</vt:i4>
      </vt:variant>
      <vt:variant>
        <vt:lpstr>Slide Titles</vt:lpstr>
      </vt:variant>
      <vt:variant>
        <vt:i4>16</vt:i4>
      </vt:variant>
    </vt:vector>
  </HeadingPairs>
  <TitlesOfParts>
    <vt:vector size="27" baseType="lpstr">
      <vt:lpstr>Segoe UI Semibold</vt:lpstr>
      <vt:lpstr>Segoe UI</vt:lpstr>
      <vt:lpstr>Calibri</vt:lpstr>
      <vt:lpstr>Inter</vt:lpstr>
      <vt:lpstr>Cambria Math</vt:lpstr>
      <vt:lpstr>Arial</vt:lpstr>
      <vt:lpstr>Aptos</vt:lpstr>
      <vt:lpstr>Lato</vt:lpstr>
      <vt:lpstr>Wingdings</vt:lpstr>
      <vt:lpstr>Comic Sans MS</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GlobalBlaze: Analyzing Global Trends in Wildfire Burned Areas and Emissions (2002-2023)</dc:title>
  <dc:creator>Puneetha Ramsudha</dc:creator>
  <cp:lastModifiedBy>Dharmapura Shrirama, Puneetha</cp:lastModifiedBy>
  <cp:revision>29</cp:revision>
  <dcterms:created xsi:type="dcterms:W3CDTF">2006-08-16T00:00:00Z</dcterms:created>
  <dcterms:modified xsi:type="dcterms:W3CDTF">2026-01-14T16:39:47Z</dcterms:modified>
  <dc:identifier>DAGKNAE9F2o</dc:identifier>
</cp:coreProperties>
</file>